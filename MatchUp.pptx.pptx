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Fraunces Bold" charset="1" panose="00000000000000000000"/>
      <p:regular r:id="rId20"/>
    </p:embeddedFont>
    <p:embeddedFont>
      <p:font typeface="Arimo" charset="1" panose="020B0604020202020204"/>
      <p:regular r:id="rId21"/>
    </p:embeddedFont>
    <p:embeddedFont>
      <p:font typeface="Arimo Bold" charset="1" panose="020B0704020202020204"/>
      <p:regular r:id="rId22"/>
    </p:embeddedFont>
    <p:embeddedFont>
      <p:font typeface="Fraunces Light" charset="1" panose="00000000000000000000"/>
      <p:regular r:id="rId25"/>
    </p:embeddedFont>
    <p:embeddedFont>
      <p:font typeface="Consolas Bold" charset="1" panose="020B070902020403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fonts/font25.fntdata" Type="http://schemas.openxmlformats.org/officeDocument/2006/relationships/font"/><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png" Type="http://schemas.openxmlformats.org/officeDocument/2006/relationships/image"/><Relationship Id="rId2" Target="../notesSlides/notesSlide5.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5.png" Type="http://schemas.openxmlformats.org/officeDocument/2006/relationships/image"/><Relationship Id="rId4" Target="../media/image16.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a:ln w="12700">
              <a:solidFill>
                <a:srgbClr val="000000"/>
              </a:solidFill>
            </a:ln>
          </p:spPr>
        </p:sp>
      </p:grpSp>
      <p:sp>
        <p:nvSpPr>
          <p:cNvPr name="Freeform 6" id="6"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3"/>
            <a:stretch>
              <a:fillRect l="0" t="0" r="0" b="0"/>
            </a:stretch>
          </a:blipFill>
        </p:spPr>
      </p:sp>
      <p:sp>
        <p:nvSpPr>
          <p:cNvPr name="TextBox 7" id="7"/>
          <p:cNvSpPr txBox="true"/>
          <p:nvPr/>
        </p:nvSpPr>
        <p:spPr>
          <a:xfrm rot="0">
            <a:off x="7850238" y="1512094"/>
            <a:ext cx="9445523" cy="2344341"/>
          </a:xfrm>
          <a:prstGeom prst="rect">
            <a:avLst/>
          </a:prstGeom>
        </p:spPr>
        <p:txBody>
          <a:bodyPr anchor="t" rtlCol="false" tIns="0" lIns="0" bIns="0" rIns="0">
            <a:spAutoFit/>
          </a:bodyPr>
          <a:lstStyle/>
          <a:p>
            <a:pPr algn="l">
              <a:lnSpc>
                <a:spcPts val="6062"/>
              </a:lnSpc>
            </a:pPr>
            <a:r>
              <a:rPr lang="en-US" sz="4875" b="true">
                <a:solidFill>
                  <a:srgbClr val="3B4540"/>
                </a:solidFill>
                <a:latin typeface="Fraunces Bold"/>
                <a:ea typeface="Fraunces Bold"/>
                <a:cs typeface="Fraunces Bold"/>
                <a:sym typeface="Fraunces Bold"/>
              </a:rPr>
              <a:t>MatchUp: Optimisation de la Gestion des Matchs de Football</a:t>
            </a:r>
          </a:p>
        </p:txBody>
      </p:sp>
      <p:sp>
        <p:nvSpPr>
          <p:cNvPr name="TextBox 8" id="8"/>
          <p:cNvSpPr txBox="true"/>
          <p:nvPr/>
        </p:nvSpPr>
        <p:spPr>
          <a:xfrm rot="0">
            <a:off x="7850238" y="9708356"/>
            <a:ext cx="3825355" cy="384175"/>
          </a:xfrm>
          <a:prstGeom prst="rect">
            <a:avLst/>
          </a:prstGeom>
        </p:spPr>
        <p:txBody>
          <a:bodyPr anchor="t" rtlCol="false" tIns="0" lIns="0" bIns="0" rIns="0">
            <a:spAutoFit/>
          </a:bodyPr>
          <a:lstStyle/>
          <a:p>
            <a:pPr algn="l">
              <a:lnSpc>
                <a:spcPts val="3125"/>
              </a:lnSpc>
            </a:pPr>
            <a:r>
              <a:rPr lang="en-US" sz="1937">
                <a:solidFill>
                  <a:srgbClr val="405449"/>
                </a:solidFill>
                <a:latin typeface="Arimo"/>
                <a:ea typeface="Arimo"/>
                <a:cs typeface="Arimo"/>
                <a:sym typeface="Arimo"/>
              </a:rPr>
              <a:t>Présenté par : AZAROUAL Asaad</a:t>
            </a:r>
          </a:p>
        </p:txBody>
      </p:sp>
      <p:sp>
        <p:nvSpPr>
          <p:cNvPr name="TextBox 9" id="9"/>
          <p:cNvSpPr txBox="true"/>
          <p:nvPr/>
        </p:nvSpPr>
        <p:spPr>
          <a:xfrm rot="0">
            <a:off x="7850238" y="4809230"/>
            <a:ext cx="9445523" cy="1555750"/>
          </a:xfrm>
          <a:prstGeom prst="rect">
            <a:avLst/>
          </a:prstGeom>
        </p:spPr>
        <p:txBody>
          <a:bodyPr anchor="t" rtlCol="false" tIns="0" lIns="0" bIns="0" rIns="0">
            <a:spAutoFit/>
          </a:bodyPr>
          <a:lstStyle/>
          <a:p>
            <a:pPr algn="just">
              <a:lnSpc>
                <a:spcPts val="3125"/>
              </a:lnSpc>
            </a:pPr>
            <a:r>
              <a:rPr lang="en-US" sz="1937">
                <a:solidFill>
                  <a:srgbClr val="405449"/>
                </a:solidFill>
                <a:latin typeface="Arimo"/>
                <a:ea typeface="Arimo"/>
                <a:cs typeface="Arimo"/>
                <a:sym typeface="Arimo"/>
              </a:rPr>
              <a:t>Cette présentation explorera </a:t>
            </a:r>
            <a:r>
              <a:rPr lang="en-US" sz="1937" b="true">
                <a:solidFill>
                  <a:srgbClr val="405449"/>
                </a:solidFill>
                <a:latin typeface="Arimo Bold"/>
                <a:ea typeface="Arimo Bold"/>
                <a:cs typeface="Arimo Bold"/>
                <a:sym typeface="Arimo Bold"/>
              </a:rPr>
              <a:t>MatchUp</a:t>
            </a:r>
            <a:r>
              <a:rPr lang="en-US" sz="1937">
                <a:solidFill>
                  <a:srgbClr val="405449"/>
                </a:solidFill>
                <a:latin typeface="Arimo"/>
                <a:ea typeface="Arimo"/>
                <a:cs typeface="Arimo"/>
                <a:sym typeface="Arimo"/>
              </a:rPr>
              <a:t>, une application mobile et web innovante conçue pour simplifier l'organisation et la participation aux matchs de football. Nous détaillerons l'architecture technique, les fonctionnalités clés et les modèles de données qui sous-tendent cette plateforme.</a:t>
            </a:r>
          </a:p>
        </p:txBody>
      </p:sp>
      <p:sp>
        <p:nvSpPr>
          <p:cNvPr name="TextBox 10" id="10"/>
          <p:cNvSpPr txBox="true"/>
          <p:nvPr/>
        </p:nvSpPr>
        <p:spPr>
          <a:xfrm rot="0">
            <a:off x="7850238" y="6675987"/>
            <a:ext cx="9445523" cy="1946275"/>
          </a:xfrm>
          <a:prstGeom prst="rect">
            <a:avLst/>
          </a:prstGeom>
        </p:spPr>
        <p:txBody>
          <a:bodyPr anchor="t" rtlCol="false" tIns="0" lIns="0" bIns="0" rIns="0">
            <a:spAutoFit/>
          </a:bodyPr>
          <a:lstStyle/>
          <a:p>
            <a:pPr algn="just">
              <a:lnSpc>
                <a:spcPts val="3125"/>
              </a:lnSpc>
            </a:pPr>
            <a:r>
              <a:rPr lang="en-US" sz="1937">
                <a:solidFill>
                  <a:srgbClr val="405449"/>
                </a:solidFill>
                <a:latin typeface="Arimo"/>
                <a:ea typeface="Arimo"/>
                <a:cs typeface="Arimo"/>
                <a:sym typeface="Arimo"/>
              </a:rPr>
              <a:t>La technologie au cœur de MatchUp repose sur une pile robuste et moderne: </a:t>
            </a:r>
            <a:r>
              <a:rPr lang="en-US" sz="1937" b="true">
                <a:solidFill>
                  <a:srgbClr val="405449"/>
                </a:solidFill>
                <a:latin typeface="Arimo Bold"/>
                <a:ea typeface="Arimo Bold"/>
                <a:cs typeface="Arimo Bold"/>
                <a:sym typeface="Arimo Bold"/>
              </a:rPr>
              <a:t>Flutter</a:t>
            </a:r>
            <a:r>
              <a:rPr lang="en-US" sz="1937">
                <a:solidFill>
                  <a:srgbClr val="405449"/>
                </a:solidFill>
                <a:latin typeface="Arimo"/>
                <a:ea typeface="Arimo"/>
                <a:cs typeface="Arimo"/>
                <a:sym typeface="Arimo"/>
              </a:rPr>
              <a:t> pour une interface utilisateur réactive et multiplateforme, </a:t>
            </a:r>
            <a:r>
              <a:rPr lang="en-US" sz="1937" b="true">
                <a:solidFill>
                  <a:srgbClr val="405449"/>
                </a:solidFill>
                <a:latin typeface="Arimo Bold"/>
                <a:ea typeface="Arimo Bold"/>
                <a:cs typeface="Arimo Bold"/>
                <a:sym typeface="Arimo Bold"/>
              </a:rPr>
              <a:t>Riverpod</a:t>
            </a:r>
            <a:r>
              <a:rPr lang="en-US" sz="1937">
                <a:solidFill>
                  <a:srgbClr val="405449"/>
                </a:solidFill>
                <a:latin typeface="Arimo"/>
                <a:ea typeface="Arimo"/>
                <a:cs typeface="Arimo"/>
                <a:sym typeface="Arimo"/>
              </a:rPr>
              <a:t> pour une gestion d'état efficace et prévisible, et </a:t>
            </a:r>
            <a:r>
              <a:rPr lang="en-US" sz="1937" b="true">
                <a:solidFill>
                  <a:srgbClr val="405449"/>
                </a:solidFill>
                <a:latin typeface="Arimo Bold"/>
                <a:ea typeface="Arimo Bold"/>
                <a:cs typeface="Arimo Bold"/>
                <a:sym typeface="Arimo Bold"/>
              </a:rPr>
              <a:t>Firebase</a:t>
            </a:r>
            <a:r>
              <a:rPr lang="en-US" sz="1937">
                <a:solidFill>
                  <a:srgbClr val="405449"/>
                </a:solidFill>
                <a:latin typeface="Arimo"/>
                <a:ea typeface="Arimo"/>
                <a:cs typeface="Arimo"/>
                <a:sym typeface="Arimo"/>
              </a:rPr>
              <a:t> (Authentication, Firestore) pour une infrastructure backend scalable et sécurisée, complétée par </a:t>
            </a:r>
            <a:r>
              <a:rPr lang="en-US" sz="1937" b="true">
                <a:solidFill>
                  <a:srgbClr val="405449"/>
                </a:solidFill>
                <a:latin typeface="Arimo Bold"/>
                <a:ea typeface="Arimo Bold"/>
                <a:cs typeface="Arimo Bold"/>
                <a:sym typeface="Arimo Bold"/>
              </a:rPr>
              <a:t>Cloudinary</a:t>
            </a:r>
            <a:r>
              <a:rPr lang="en-US" sz="1937">
                <a:solidFill>
                  <a:srgbClr val="405449"/>
                </a:solidFill>
                <a:latin typeface="Arimo"/>
                <a:ea typeface="Arimo"/>
                <a:cs typeface="Arimo"/>
                <a:sym typeface="Arimo"/>
              </a:rPr>
              <a:t> pour la gestion des médias.</a:t>
            </a:r>
          </a:p>
        </p:txBody>
      </p:sp>
      <p:sp>
        <p:nvSpPr>
          <p:cNvPr name="TextBox 11" id="11"/>
          <p:cNvSpPr txBox="true"/>
          <p:nvPr/>
        </p:nvSpPr>
        <p:spPr>
          <a:xfrm rot="0">
            <a:off x="13854570" y="9708356"/>
            <a:ext cx="4067236" cy="384175"/>
          </a:xfrm>
          <a:prstGeom prst="rect">
            <a:avLst/>
          </a:prstGeom>
        </p:spPr>
        <p:txBody>
          <a:bodyPr anchor="t" rtlCol="false" tIns="0" lIns="0" bIns="0" rIns="0">
            <a:spAutoFit/>
          </a:bodyPr>
          <a:lstStyle/>
          <a:p>
            <a:pPr algn="l">
              <a:lnSpc>
                <a:spcPts val="3125"/>
              </a:lnSpc>
            </a:pPr>
            <a:r>
              <a:rPr lang="en-US" sz="1937">
                <a:solidFill>
                  <a:srgbClr val="405449"/>
                </a:solidFill>
                <a:latin typeface="Arimo"/>
                <a:ea typeface="Arimo"/>
                <a:cs typeface="Arimo"/>
                <a:sym typeface="Arimo"/>
              </a:rPr>
              <a:t>Encadré par : Anass DEROUSSI</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a:ln w="12700">
              <a:solidFill>
                <a:srgbClr val="000000"/>
              </a:solidFill>
            </a:ln>
          </p:spPr>
        </p:sp>
      </p:grpSp>
      <p:sp>
        <p:nvSpPr>
          <p:cNvPr name="TextBox 6" id="6"/>
          <p:cNvSpPr txBox="true"/>
          <p:nvPr/>
        </p:nvSpPr>
        <p:spPr>
          <a:xfrm rot="0">
            <a:off x="992238" y="1220095"/>
            <a:ext cx="16303523" cy="1569244"/>
          </a:xfrm>
          <a:prstGeom prst="rect">
            <a:avLst/>
          </a:prstGeom>
        </p:spPr>
        <p:txBody>
          <a:bodyPr anchor="t" rtlCol="false" tIns="0" lIns="0" bIns="0" rIns="0">
            <a:spAutoFit/>
          </a:bodyPr>
          <a:lstStyle/>
          <a:p>
            <a:pPr algn="l">
              <a:lnSpc>
                <a:spcPts val="6062"/>
              </a:lnSpc>
            </a:pPr>
            <a:r>
              <a:rPr lang="en-US" sz="4875" b="true">
                <a:solidFill>
                  <a:srgbClr val="3B4540"/>
                </a:solidFill>
                <a:latin typeface="Fraunces Bold"/>
                <a:ea typeface="Fraunces Bold"/>
                <a:cs typeface="Fraunces Bold"/>
                <a:sym typeface="Fraunces Bold"/>
              </a:rPr>
              <a:t>La Problématique: Les Défis de l'Organisation de Matchs</a:t>
            </a:r>
          </a:p>
        </p:txBody>
      </p:sp>
      <p:sp>
        <p:nvSpPr>
          <p:cNvPr name="TextBox 7" id="7"/>
          <p:cNvSpPr txBox="true"/>
          <p:nvPr/>
        </p:nvSpPr>
        <p:spPr>
          <a:xfrm rot="0">
            <a:off x="992238" y="3190132"/>
            <a:ext cx="16303523" cy="774700"/>
          </a:xfrm>
          <a:prstGeom prst="rect">
            <a:avLst/>
          </a:prstGeom>
        </p:spPr>
        <p:txBody>
          <a:bodyPr anchor="t" rtlCol="false" tIns="0" lIns="0" bIns="0" rIns="0">
            <a:spAutoFit/>
          </a:bodyPr>
          <a:lstStyle/>
          <a:p>
            <a:pPr algn="just">
              <a:lnSpc>
                <a:spcPts val="3125"/>
              </a:lnSpc>
            </a:pPr>
            <a:r>
              <a:rPr lang="en-US" sz="1937">
                <a:solidFill>
                  <a:srgbClr val="405449"/>
                </a:solidFill>
                <a:latin typeface="Arimo"/>
                <a:ea typeface="Arimo"/>
                <a:cs typeface="Arimo"/>
                <a:sym typeface="Arimo"/>
              </a:rPr>
              <a:t>L'organisation de matchs de football entre amis ou collègues est souvent semée d'embûches, transformant ce qui devrait être un moment de plaisir en une corvée logistique. MatchUp répond à ces frustrations en offrant une solution centralisée et automatisée.</a:t>
            </a:r>
          </a:p>
        </p:txBody>
      </p:sp>
      <p:grpSp>
        <p:nvGrpSpPr>
          <p:cNvPr name="Group 8" id="8"/>
          <p:cNvGrpSpPr/>
          <p:nvPr/>
        </p:nvGrpSpPr>
        <p:grpSpPr>
          <a:xfrm rot="0">
            <a:off x="977951" y="4343991"/>
            <a:ext cx="5297691" cy="3645246"/>
            <a:chOff x="0" y="0"/>
            <a:chExt cx="7063588" cy="4860328"/>
          </a:xfrm>
        </p:grpSpPr>
        <p:sp>
          <p:nvSpPr>
            <p:cNvPr name="Freeform 9" id="9"/>
            <p:cNvSpPr/>
            <p:nvPr/>
          </p:nvSpPr>
          <p:spPr>
            <a:xfrm flipH="false" flipV="false" rot="0">
              <a:off x="19050" y="19050"/>
              <a:ext cx="7025386" cy="4822190"/>
            </a:xfrm>
            <a:custGeom>
              <a:avLst/>
              <a:gdLst/>
              <a:ahLst/>
              <a:cxnLst/>
              <a:rect r="r" b="b" t="t" l="l"/>
              <a:pathLst>
                <a:path h="4822190" w="7025386">
                  <a:moveTo>
                    <a:pt x="0" y="182880"/>
                  </a:moveTo>
                  <a:cubicBezTo>
                    <a:pt x="0" y="81915"/>
                    <a:pt x="82042" y="0"/>
                    <a:pt x="183261" y="0"/>
                  </a:cubicBezTo>
                  <a:lnTo>
                    <a:pt x="6842125" y="0"/>
                  </a:lnTo>
                  <a:cubicBezTo>
                    <a:pt x="6943344" y="0"/>
                    <a:pt x="7025386" y="81915"/>
                    <a:pt x="7025386" y="182880"/>
                  </a:cubicBezTo>
                  <a:lnTo>
                    <a:pt x="7025386" y="4639310"/>
                  </a:lnTo>
                  <a:cubicBezTo>
                    <a:pt x="7025386" y="4740275"/>
                    <a:pt x="6943344" y="4822190"/>
                    <a:pt x="6842125" y="4822190"/>
                  </a:cubicBezTo>
                  <a:lnTo>
                    <a:pt x="183261" y="4822190"/>
                  </a:lnTo>
                  <a:cubicBezTo>
                    <a:pt x="82042" y="4822190"/>
                    <a:pt x="0" y="4740275"/>
                    <a:pt x="0" y="4639310"/>
                  </a:cubicBezTo>
                  <a:close/>
                </a:path>
              </a:pathLst>
            </a:custGeom>
            <a:solidFill>
              <a:srgbClr val="FAFFFA"/>
            </a:solidFill>
            <a:ln w="12700">
              <a:solidFill>
                <a:srgbClr val="000000"/>
              </a:solidFill>
            </a:ln>
          </p:spPr>
        </p:sp>
        <p:sp>
          <p:nvSpPr>
            <p:cNvPr name="Freeform 10" id="10"/>
            <p:cNvSpPr/>
            <p:nvPr/>
          </p:nvSpPr>
          <p:spPr>
            <a:xfrm flipH="false" flipV="false" rot="0">
              <a:off x="0" y="0"/>
              <a:ext cx="7063486" cy="4860290"/>
            </a:xfrm>
            <a:custGeom>
              <a:avLst/>
              <a:gdLst/>
              <a:ahLst/>
              <a:cxnLst/>
              <a:rect r="r" b="b" t="t" l="l"/>
              <a:pathLst>
                <a:path h="4860290" w="7063486">
                  <a:moveTo>
                    <a:pt x="0" y="201930"/>
                  </a:moveTo>
                  <a:cubicBezTo>
                    <a:pt x="0" y="90297"/>
                    <a:pt x="90678" y="0"/>
                    <a:pt x="202311" y="0"/>
                  </a:cubicBezTo>
                  <a:lnTo>
                    <a:pt x="6861175" y="0"/>
                  </a:lnTo>
                  <a:lnTo>
                    <a:pt x="6861175" y="19050"/>
                  </a:lnTo>
                  <a:lnTo>
                    <a:pt x="6861175" y="0"/>
                  </a:lnTo>
                  <a:cubicBezTo>
                    <a:pt x="6972935" y="0"/>
                    <a:pt x="7063486" y="90297"/>
                    <a:pt x="7063486" y="201930"/>
                  </a:cubicBezTo>
                  <a:lnTo>
                    <a:pt x="7044436" y="201930"/>
                  </a:lnTo>
                  <a:lnTo>
                    <a:pt x="7063486" y="201930"/>
                  </a:lnTo>
                  <a:lnTo>
                    <a:pt x="7063486" y="4658360"/>
                  </a:lnTo>
                  <a:lnTo>
                    <a:pt x="7044436" y="4658360"/>
                  </a:lnTo>
                  <a:lnTo>
                    <a:pt x="7063486" y="4658360"/>
                  </a:lnTo>
                  <a:cubicBezTo>
                    <a:pt x="7063486" y="4769866"/>
                    <a:pt x="6972808" y="4860290"/>
                    <a:pt x="6861175" y="4860290"/>
                  </a:cubicBezTo>
                  <a:lnTo>
                    <a:pt x="6861175" y="4841240"/>
                  </a:lnTo>
                  <a:lnTo>
                    <a:pt x="6861175" y="4860290"/>
                  </a:lnTo>
                  <a:lnTo>
                    <a:pt x="202311" y="4860290"/>
                  </a:lnTo>
                  <a:lnTo>
                    <a:pt x="202311" y="4841240"/>
                  </a:lnTo>
                  <a:lnTo>
                    <a:pt x="202311" y="4860290"/>
                  </a:lnTo>
                  <a:cubicBezTo>
                    <a:pt x="90678" y="4860290"/>
                    <a:pt x="0" y="4769993"/>
                    <a:pt x="0" y="4658360"/>
                  </a:cubicBezTo>
                  <a:lnTo>
                    <a:pt x="0" y="201930"/>
                  </a:lnTo>
                  <a:lnTo>
                    <a:pt x="19050" y="201930"/>
                  </a:lnTo>
                  <a:lnTo>
                    <a:pt x="0" y="201930"/>
                  </a:lnTo>
                  <a:moveTo>
                    <a:pt x="38100" y="201930"/>
                  </a:moveTo>
                  <a:lnTo>
                    <a:pt x="38100" y="4658360"/>
                  </a:lnTo>
                  <a:lnTo>
                    <a:pt x="19050" y="4658360"/>
                  </a:lnTo>
                  <a:lnTo>
                    <a:pt x="38100" y="4658360"/>
                  </a:lnTo>
                  <a:cubicBezTo>
                    <a:pt x="38100" y="4748784"/>
                    <a:pt x="111633" y="4822190"/>
                    <a:pt x="202311" y="4822190"/>
                  </a:cubicBezTo>
                  <a:lnTo>
                    <a:pt x="6861175" y="4822190"/>
                  </a:lnTo>
                  <a:cubicBezTo>
                    <a:pt x="6951980" y="4822190"/>
                    <a:pt x="7025386" y="4748784"/>
                    <a:pt x="7025386" y="4658360"/>
                  </a:cubicBezTo>
                  <a:lnTo>
                    <a:pt x="7025386" y="201930"/>
                  </a:lnTo>
                  <a:cubicBezTo>
                    <a:pt x="7025386" y="111506"/>
                    <a:pt x="6951853" y="38100"/>
                    <a:pt x="6861175" y="38100"/>
                  </a:cubicBezTo>
                  <a:lnTo>
                    <a:pt x="202311" y="38100"/>
                  </a:lnTo>
                  <a:lnTo>
                    <a:pt x="202311" y="19050"/>
                  </a:lnTo>
                  <a:lnTo>
                    <a:pt x="202311" y="38100"/>
                  </a:lnTo>
                  <a:cubicBezTo>
                    <a:pt x="111633" y="38100"/>
                    <a:pt x="38100" y="111506"/>
                    <a:pt x="38100" y="201930"/>
                  </a:cubicBezTo>
                  <a:close/>
                </a:path>
              </a:pathLst>
            </a:custGeom>
            <a:solidFill>
              <a:srgbClr val="CED9CE"/>
            </a:solidFill>
            <a:ln w="12700">
              <a:solidFill>
                <a:srgbClr val="000000"/>
              </a:solidFill>
            </a:ln>
          </p:spPr>
        </p:sp>
      </p:grpSp>
      <p:grpSp>
        <p:nvGrpSpPr>
          <p:cNvPr name="Group 11" id="11"/>
          <p:cNvGrpSpPr/>
          <p:nvPr/>
        </p:nvGrpSpPr>
        <p:grpSpPr>
          <a:xfrm rot="0">
            <a:off x="963663" y="4358278"/>
            <a:ext cx="114300" cy="3616671"/>
            <a:chOff x="0" y="0"/>
            <a:chExt cx="152400" cy="4822228"/>
          </a:xfrm>
        </p:grpSpPr>
        <p:sp>
          <p:nvSpPr>
            <p:cNvPr name="Freeform 12" id="12"/>
            <p:cNvSpPr/>
            <p:nvPr/>
          </p:nvSpPr>
          <p:spPr>
            <a:xfrm flipH="false" flipV="false" rot="0">
              <a:off x="0" y="0"/>
              <a:ext cx="152400" cy="4822190"/>
            </a:xfrm>
            <a:custGeom>
              <a:avLst/>
              <a:gdLst/>
              <a:ahLst/>
              <a:cxnLst/>
              <a:rect r="r" b="b" t="t" l="l"/>
              <a:pathLst>
                <a:path h="4822190" w="152400">
                  <a:moveTo>
                    <a:pt x="0" y="76200"/>
                  </a:moveTo>
                  <a:cubicBezTo>
                    <a:pt x="0" y="34163"/>
                    <a:pt x="34163" y="0"/>
                    <a:pt x="76200" y="0"/>
                  </a:cubicBezTo>
                  <a:cubicBezTo>
                    <a:pt x="118237" y="0"/>
                    <a:pt x="152400" y="34163"/>
                    <a:pt x="152400" y="76200"/>
                  </a:cubicBezTo>
                  <a:lnTo>
                    <a:pt x="152400" y="4745990"/>
                  </a:lnTo>
                  <a:cubicBezTo>
                    <a:pt x="152400" y="4788027"/>
                    <a:pt x="118237" y="4822190"/>
                    <a:pt x="76200" y="4822190"/>
                  </a:cubicBezTo>
                  <a:cubicBezTo>
                    <a:pt x="34163" y="4822190"/>
                    <a:pt x="0" y="4788027"/>
                    <a:pt x="0" y="4745990"/>
                  </a:cubicBezTo>
                  <a:close/>
                </a:path>
              </a:pathLst>
            </a:custGeom>
            <a:solidFill>
              <a:srgbClr val="438951"/>
            </a:solidFill>
            <a:ln w="12700">
              <a:solidFill>
                <a:srgbClr val="000000"/>
              </a:solidFill>
            </a:ln>
          </p:spPr>
        </p:sp>
      </p:grpSp>
      <p:sp>
        <p:nvSpPr>
          <p:cNvPr name="TextBox 13" id="13"/>
          <p:cNvSpPr txBox="true"/>
          <p:nvPr/>
        </p:nvSpPr>
        <p:spPr>
          <a:xfrm rot="0">
            <a:off x="1354484" y="4625283"/>
            <a:ext cx="4630341" cy="939698"/>
          </a:xfrm>
          <a:prstGeom prst="rect">
            <a:avLst/>
          </a:prstGeom>
        </p:spPr>
        <p:txBody>
          <a:bodyPr anchor="t" rtlCol="false" tIns="0" lIns="0" bIns="0" rIns="0">
            <a:spAutoFit/>
          </a:bodyPr>
          <a:lstStyle/>
          <a:p>
            <a:pPr algn="l">
              <a:lnSpc>
                <a:spcPts val="3625"/>
              </a:lnSpc>
            </a:pPr>
            <a:r>
              <a:rPr lang="en-US" sz="2874" b="true">
                <a:solidFill>
                  <a:srgbClr val="405449"/>
                </a:solidFill>
                <a:latin typeface="Fraunces Bold"/>
                <a:ea typeface="Fraunces Bold"/>
                <a:cs typeface="Fraunces Bold"/>
                <a:sym typeface="Fraunces Bold"/>
              </a:rPr>
              <a:t>Difficulté à réunir les joueurs</a:t>
            </a:r>
          </a:p>
        </p:txBody>
      </p:sp>
      <p:sp>
        <p:nvSpPr>
          <p:cNvPr name="TextBox 14" id="14"/>
          <p:cNvSpPr txBox="true"/>
          <p:nvPr/>
        </p:nvSpPr>
        <p:spPr>
          <a:xfrm rot="0">
            <a:off x="1354484" y="5618559"/>
            <a:ext cx="4630341" cy="1555750"/>
          </a:xfrm>
          <a:prstGeom prst="rect">
            <a:avLst/>
          </a:prstGeom>
        </p:spPr>
        <p:txBody>
          <a:bodyPr anchor="t" rtlCol="false" tIns="0" lIns="0" bIns="0" rIns="0">
            <a:spAutoFit/>
          </a:bodyPr>
          <a:lstStyle/>
          <a:p>
            <a:pPr algn="just">
              <a:lnSpc>
                <a:spcPts val="3125"/>
              </a:lnSpc>
            </a:pPr>
            <a:r>
              <a:rPr lang="en-US" sz="1937">
                <a:solidFill>
                  <a:srgbClr val="405449"/>
                </a:solidFill>
                <a:latin typeface="Arimo"/>
                <a:ea typeface="Arimo"/>
                <a:cs typeface="Arimo"/>
                <a:sym typeface="Arimo"/>
              </a:rPr>
              <a:t>Trouver suffisamment de participants et s'assurer de leur disponibilité est un processus laborieux, souvent via de multiples canaux de communication.</a:t>
            </a:r>
          </a:p>
        </p:txBody>
      </p:sp>
      <p:grpSp>
        <p:nvGrpSpPr>
          <p:cNvPr name="Group 15" id="15"/>
          <p:cNvGrpSpPr/>
          <p:nvPr/>
        </p:nvGrpSpPr>
        <p:grpSpPr>
          <a:xfrm rot="0">
            <a:off x="6495012" y="4343991"/>
            <a:ext cx="5297834" cy="3645246"/>
            <a:chOff x="0" y="0"/>
            <a:chExt cx="7063778" cy="4860328"/>
          </a:xfrm>
        </p:grpSpPr>
        <p:sp>
          <p:nvSpPr>
            <p:cNvPr name="Freeform 16" id="16"/>
            <p:cNvSpPr/>
            <p:nvPr/>
          </p:nvSpPr>
          <p:spPr>
            <a:xfrm flipH="false" flipV="false" rot="0">
              <a:off x="19050" y="19050"/>
              <a:ext cx="7025640" cy="4822190"/>
            </a:xfrm>
            <a:custGeom>
              <a:avLst/>
              <a:gdLst/>
              <a:ahLst/>
              <a:cxnLst/>
              <a:rect r="r" b="b" t="t" l="l"/>
              <a:pathLst>
                <a:path h="4822190" w="7025640">
                  <a:moveTo>
                    <a:pt x="0" y="182880"/>
                  </a:moveTo>
                  <a:cubicBezTo>
                    <a:pt x="0" y="81915"/>
                    <a:pt x="82042" y="0"/>
                    <a:pt x="183261" y="0"/>
                  </a:cubicBezTo>
                  <a:lnTo>
                    <a:pt x="6842379" y="0"/>
                  </a:lnTo>
                  <a:cubicBezTo>
                    <a:pt x="6943598" y="0"/>
                    <a:pt x="7025640" y="81915"/>
                    <a:pt x="7025640" y="182880"/>
                  </a:cubicBezTo>
                  <a:lnTo>
                    <a:pt x="7025640" y="4639310"/>
                  </a:lnTo>
                  <a:cubicBezTo>
                    <a:pt x="7025640" y="4740275"/>
                    <a:pt x="6943598" y="4822190"/>
                    <a:pt x="6842379" y="4822190"/>
                  </a:cubicBezTo>
                  <a:lnTo>
                    <a:pt x="183261" y="4822190"/>
                  </a:lnTo>
                  <a:cubicBezTo>
                    <a:pt x="82042" y="4822190"/>
                    <a:pt x="0" y="4740275"/>
                    <a:pt x="0" y="4639310"/>
                  </a:cubicBezTo>
                  <a:close/>
                </a:path>
              </a:pathLst>
            </a:custGeom>
            <a:solidFill>
              <a:srgbClr val="FAFFFA"/>
            </a:solidFill>
            <a:ln w="12700">
              <a:solidFill>
                <a:srgbClr val="000000"/>
              </a:solidFill>
            </a:ln>
          </p:spPr>
        </p:sp>
        <p:sp>
          <p:nvSpPr>
            <p:cNvPr name="Freeform 17" id="17"/>
            <p:cNvSpPr/>
            <p:nvPr/>
          </p:nvSpPr>
          <p:spPr>
            <a:xfrm flipH="false" flipV="false" rot="0">
              <a:off x="0" y="0"/>
              <a:ext cx="7063740" cy="4860290"/>
            </a:xfrm>
            <a:custGeom>
              <a:avLst/>
              <a:gdLst/>
              <a:ahLst/>
              <a:cxnLst/>
              <a:rect r="r" b="b" t="t" l="l"/>
              <a:pathLst>
                <a:path h="4860290" w="7063740">
                  <a:moveTo>
                    <a:pt x="0" y="201930"/>
                  </a:moveTo>
                  <a:cubicBezTo>
                    <a:pt x="0" y="90297"/>
                    <a:pt x="90678" y="0"/>
                    <a:pt x="202311" y="0"/>
                  </a:cubicBezTo>
                  <a:lnTo>
                    <a:pt x="6861429" y="0"/>
                  </a:lnTo>
                  <a:lnTo>
                    <a:pt x="6861429" y="19050"/>
                  </a:lnTo>
                  <a:lnTo>
                    <a:pt x="6861429" y="0"/>
                  </a:lnTo>
                  <a:cubicBezTo>
                    <a:pt x="6973189" y="0"/>
                    <a:pt x="7063740" y="90297"/>
                    <a:pt x="7063740" y="201930"/>
                  </a:cubicBezTo>
                  <a:lnTo>
                    <a:pt x="7044690" y="201930"/>
                  </a:lnTo>
                  <a:lnTo>
                    <a:pt x="7063740" y="201930"/>
                  </a:lnTo>
                  <a:lnTo>
                    <a:pt x="7063740" y="4658360"/>
                  </a:lnTo>
                  <a:lnTo>
                    <a:pt x="7044690" y="4658360"/>
                  </a:lnTo>
                  <a:lnTo>
                    <a:pt x="7063740" y="4658360"/>
                  </a:lnTo>
                  <a:cubicBezTo>
                    <a:pt x="7063740" y="4769866"/>
                    <a:pt x="6973062" y="4860290"/>
                    <a:pt x="6861429" y="4860290"/>
                  </a:cubicBezTo>
                  <a:lnTo>
                    <a:pt x="6861429" y="4841240"/>
                  </a:lnTo>
                  <a:lnTo>
                    <a:pt x="6861429" y="4860290"/>
                  </a:lnTo>
                  <a:lnTo>
                    <a:pt x="202311" y="4860290"/>
                  </a:lnTo>
                  <a:lnTo>
                    <a:pt x="202311" y="4841240"/>
                  </a:lnTo>
                  <a:lnTo>
                    <a:pt x="202311" y="4860290"/>
                  </a:lnTo>
                  <a:cubicBezTo>
                    <a:pt x="90678" y="4860290"/>
                    <a:pt x="0" y="4769993"/>
                    <a:pt x="0" y="4658360"/>
                  </a:cubicBezTo>
                  <a:lnTo>
                    <a:pt x="0" y="201930"/>
                  </a:lnTo>
                  <a:lnTo>
                    <a:pt x="19050" y="201930"/>
                  </a:lnTo>
                  <a:lnTo>
                    <a:pt x="0" y="201930"/>
                  </a:lnTo>
                  <a:moveTo>
                    <a:pt x="38100" y="201930"/>
                  </a:moveTo>
                  <a:lnTo>
                    <a:pt x="38100" y="4658360"/>
                  </a:lnTo>
                  <a:lnTo>
                    <a:pt x="19050" y="4658360"/>
                  </a:lnTo>
                  <a:lnTo>
                    <a:pt x="38100" y="4658360"/>
                  </a:lnTo>
                  <a:cubicBezTo>
                    <a:pt x="38100" y="4748784"/>
                    <a:pt x="111633" y="4822190"/>
                    <a:pt x="202311" y="4822190"/>
                  </a:cubicBezTo>
                  <a:lnTo>
                    <a:pt x="6861429" y="4822190"/>
                  </a:lnTo>
                  <a:cubicBezTo>
                    <a:pt x="6952235" y="4822190"/>
                    <a:pt x="7025640" y="4748784"/>
                    <a:pt x="7025640" y="4658360"/>
                  </a:cubicBezTo>
                  <a:lnTo>
                    <a:pt x="7025640" y="201930"/>
                  </a:lnTo>
                  <a:cubicBezTo>
                    <a:pt x="7025640" y="111506"/>
                    <a:pt x="6952107" y="38100"/>
                    <a:pt x="6861429" y="38100"/>
                  </a:cubicBezTo>
                  <a:lnTo>
                    <a:pt x="202311" y="38100"/>
                  </a:lnTo>
                  <a:lnTo>
                    <a:pt x="202311" y="19050"/>
                  </a:lnTo>
                  <a:lnTo>
                    <a:pt x="202311" y="38100"/>
                  </a:lnTo>
                  <a:cubicBezTo>
                    <a:pt x="111633" y="38100"/>
                    <a:pt x="38100" y="111506"/>
                    <a:pt x="38100" y="201930"/>
                  </a:cubicBezTo>
                  <a:close/>
                </a:path>
              </a:pathLst>
            </a:custGeom>
            <a:solidFill>
              <a:srgbClr val="CED9CE"/>
            </a:solidFill>
            <a:ln w="12700">
              <a:solidFill>
                <a:srgbClr val="000000"/>
              </a:solidFill>
            </a:ln>
          </p:spPr>
        </p:sp>
      </p:grpSp>
      <p:grpSp>
        <p:nvGrpSpPr>
          <p:cNvPr name="Group 18" id="18"/>
          <p:cNvGrpSpPr/>
          <p:nvPr/>
        </p:nvGrpSpPr>
        <p:grpSpPr>
          <a:xfrm rot="0">
            <a:off x="6480724" y="4358278"/>
            <a:ext cx="114300" cy="3616671"/>
            <a:chOff x="0" y="0"/>
            <a:chExt cx="152400" cy="4822228"/>
          </a:xfrm>
        </p:grpSpPr>
        <p:sp>
          <p:nvSpPr>
            <p:cNvPr name="Freeform 19" id="19"/>
            <p:cNvSpPr/>
            <p:nvPr/>
          </p:nvSpPr>
          <p:spPr>
            <a:xfrm flipH="false" flipV="false" rot="0">
              <a:off x="0" y="0"/>
              <a:ext cx="152400" cy="4822190"/>
            </a:xfrm>
            <a:custGeom>
              <a:avLst/>
              <a:gdLst/>
              <a:ahLst/>
              <a:cxnLst/>
              <a:rect r="r" b="b" t="t" l="l"/>
              <a:pathLst>
                <a:path h="4822190" w="152400">
                  <a:moveTo>
                    <a:pt x="0" y="76200"/>
                  </a:moveTo>
                  <a:cubicBezTo>
                    <a:pt x="0" y="34163"/>
                    <a:pt x="34163" y="0"/>
                    <a:pt x="76200" y="0"/>
                  </a:cubicBezTo>
                  <a:cubicBezTo>
                    <a:pt x="118237" y="0"/>
                    <a:pt x="152400" y="34163"/>
                    <a:pt x="152400" y="76200"/>
                  </a:cubicBezTo>
                  <a:lnTo>
                    <a:pt x="152400" y="4745990"/>
                  </a:lnTo>
                  <a:cubicBezTo>
                    <a:pt x="152400" y="4788027"/>
                    <a:pt x="118237" y="4822190"/>
                    <a:pt x="76200" y="4822190"/>
                  </a:cubicBezTo>
                  <a:cubicBezTo>
                    <a:pt x="34163" y="4822190"/>
                    <a:pt x="0" y="4788027"/>
                    <a:pt x="0" y="4745990"/>
                  </a:cubicBezTo>
                  <a:close/>
                </a:path>
              </a:pathLst>
            </a:custGeom>
            <a:solidFill>
              <a:srgbClr val="438951"/>
            </a:solidFill>
            <a:ln w="12700">
              <a:solidFill>
                <a:srgbClr val="000000"/>
              </a:solidFill>
            </a:ln>
          </p:spPr>
        </p:sp>
      </p:grpSp>
      <p:sp>
        <p:nvSpPr>
          <p:cNvPr name="TextBox 20" id="20"/>
          <p:cNvSpPr txBox="true"/>
          <p:nvPr/>
        </p:nvSpPr>
        <p:spPr>
          <a:xfrm rot="0">
            <a:off x="6871545" y="4625283"/>
            <a:ext cx="4630493" cy="939698"/>
          </a:xfrm>
          <a:prstGeom prst="rect">
            <a:avLst/>
          </a:prstGeom>
        </p:spPr>
        <p:txBody>
          <a:bodyPr anchor="t" rtlCol="false" tIns="0" lIns="0" bIns="0" rIns="0">
            <a:spAutoFit/>
          </a:bodyPr>
          <a:lstStyle/>
          <a:p>
            <a:pPr algn="l">
              <a:lnSpc>
                <a:spcPts val="3625"/>
              </a:lnSpc>
            </a:pPr>
            <a:r>
              <a:rPr lang="en-US" sz="2874" b="true">
                <a:solidFill>
                  <a:srgbClr val="405449"/>
                </a:solidFill>
                <a:latin typeface="Fraunces Bold"/>
                <a:ea typeface="Fraunces Bold"/>
                <a:cs typeface="Fraunces Bold"/>
                <a:sym typeface="Fraunces Bold"/>
              </a:rPr>
              <a:t>Coordination manuelle fastidieuse</a:t>
            </a:r>
          </a:p>
        </p:txBody>
      </p:sp>
      <p:sp>
        <p:nvSpPr>
          <p:cNvPr name="TextBox 21" id="21"/>
          <p:cNvSpPr txBox="true"/>
          <p:nvPr/>
        </p:nvSpPr>
        <p:spPr>
          <a:xfrm rot="0">
            <a:off x="6871545" y="5618559"/>
            <a:ext cx="4630493" cy="1946275"/>
          </a:xfrm>
          <a:prstGeom prst="rect">
            <a:avLst/>
          </a:prstGeom>
        </p:spPr>
        <p:txBody>
          <a:bodyPr anchor="t" rtlCol="false" tIns="0" lIns="0" bIns="0" rIns="0">
            <a:spAutoFit/>
          </a:bodyPr>
          <a:lstStyle/>
          <a:p>
            <a:pPr algn="just">
              <a:lnSpc>
                <a:spcPts val="3125"/>
              </a:lnSpc>
            </a:pPr>
            <a:r>
              <a:rPr lang="en-US" sz="1937">
                <a:solidFill>
                  <a:srgbClr val="405449"/>
                </a:solidFill>
                <a:latin typeface="Arimo"/>
                <a:ea typeface="Arimo"/>
                <a:cs typeface="Arimo"/>
                <a:sym typeface="Arimo"/>
              </a:rPr>
              <a:t>La gestion des confirmations, des désistements et des remplacements demande un temps considérable et une attention constante de la part de l'organisateur.</a:t>
            </a:r>
          </a:p>
        </p:txBody>
      </p:sp>
      <p:grpSp>
        <p:nvGrpSpPr>
          <p:cNvPr name="Group 22" id="22"/>
          <p:cNvGrpSpPr/>
          <p:nvPr/>
        </p:nvGrpSpPr>
        <p:grpSpPr>
          <a:xfrm rot="0">
            <a:off x="12012216" y="4343991"/>
            <a:ext cx="5297691" cy="3645246"/>
            <a:chOff x="0" y="0"/>
            <a:chExt cx="7063588" cy="4860328"/>
          </a:xfrm>
        </p:grpSpPr>
        <p:sp>
          <p:nvSpPr>
            <p:cNvPr name="Freeform 23" id="23"/>
            <p:cNvSpPr/>
            <p:nvPr/>
          </p:nvSpPr>
          <p:spPr>
            <a:xfrm flipH="false" flipV="false" rot="0">
              <a:off x="19050" y="19050"/>
              <a:ext cx="7025386" cy="4822190"/>
            </a:xfrm>
            <a:custGeom>
              <a:avLst/>
              <a:gdLst/>
              <a:ahLst/>
              <a:cxnLst/>
              <a:rect r="r" b="b" t="t" l="l"/>
              <a:pathLst>
                <a:path h="4822190" w="7025386">
                  <a:moveTo>
                    <a:pt x="0" y="182880"/>
                  </a:moveTo>
                  <a:cubicBezTo>
                    <a:pt x="0" y="81915"/>
                    <a:pt x="82042" y="0"/>
                    <a:pt x="183261" y="0"/>
                  </a:cubicBezTo>
                  <a:lnTo>
                    <a:pt x="6842125" y="0"/>
                  </a:lnTo>
                  <a:cubicBezTo>
                    <a:pt x="6943344" y="0"/>
                    <a:pt x="7025386" y="81915"/>
                    <a:pt x="7025386" y="182880"/>
                  </a:cubicBezTo>
                  <a:lnTo>
                    <a:pt x="7025386" y="4639310"/>
                  </a:lnTo>
                  <a:cubicBezTo>
                    <a:pt x="7025386" y="4740275"/>
                    <a:pt x="6943344" y="4822190"/>
                    <a:pt x="6842125" y="4822190"/>
                  </a:cubicBezTo>
                  <a:lnTo>
                    <a:pt x="183261" y="4822190"/>
                  </a:lnTo>
                  <a:cubicBezTo>
                    <a:pt x="82042" y="4822190"/>
                    <a:pt x="0" y="4740275"/>
                    <a:pt x="0" y="4639310"/>
                  </a:cubicBezTo>
                  <a:close/>
                </a:path>
              </a:pathLst>
            </a:custGeom>
            <a:solidFill>
              <a:srgbClr val="FAFFFA"/>
            </a:solidFill>
            <a:ln w="12700">
              <a:solidFill>
                <a:srgbClr val="000000"/>
              </a:solidFill>
            </a:ln>
          </p:spPr>
        </p:sp>
        <p:sp>
          <p:nvSpPr>
            <p:cNvPr name="Freeform 24" id="24"/>
            <p:cNvSpPr/>
            <p:nvPr/>
          </p:nvSpPr>
          <p:spPr>
            <a:xfrm flipH="false" flipV="false" rot="0">
              <a:off x="0" y="0"/>
              <a:ext cx="7063486" cy="4860290"/>
            </a:xfrm>
            <a:custGeom>
              <a:avLst/>
              <a:gdLst/>
              <a:ahLst/>
              <a:cxnLst/>
              <a:rect r="r" b="b" t="t" l="l"/>
              <a:pathLst>
                <a:path h="4860290" w="7063486">
                  <a:moveTo>
                    <a:pt x="0" y="201930"/>
                  </a:moveTo>
                  <a:cubicBezTo>
                    <a:pt x="0" y="90297"/>
                    <a:pt x="90678" y="0"/>
                    <a:pt x="202311" y="0"/>
                  </a:cubicBezTo>
                  <a:lnTo>
                    <a:pt x="6861175" y="0"/>
                  </a:lnTo>
                  <a:lnTo>
                    <a:pt x="6861175" y="19050"/>
                  </a:lnTo>
                  <a:lnTo>
                    <a:pt x="6861175" y="0"/>
                  </a:lnTo>
                  <a:cubicBezTo>
                    <a:pt x="6972935" y="0"/>
                    <a:pt x="7063486" y="90297"/>
                    <a:pt x="7063486" y="201930"/>
                  </a:cubicBezTo>
                  <a:lnTo>
                    <a:pt x="7044436" y="201930"/>
                  </a:lnTo>
                  <a:lnTo>
                    <a:pt x="7063486" y="201930"/>
                  </a:lnTo>
                  <a:lnTo>
                    <a:pt x="7063486" y="4658360"/>
                  </a:lnTo>
                  <a:lnTo>
                    <a:pt x="7044436" y="4658360"/>
                  </a:lnTo>
                  <a:lnTo>
                    <a:pt x="7063486" y="4658360"/>
                  </a:lnTo>
                  <a:cubicBezTo>
                    <a:pt x="7063486" y="4769866"/>
                    <a:pt x="6972808" y="4860290"/>
                    <a:pt x="6861175" y="4860290"/>
                  </a:cubicBezTo>
                  <a:lnTo>
                    <a:pt x="6861175" y="4841240"/>
                  </a:lnTo>
                  <a:lnTo>
                    <a:pt x="6861175" y="4860290"/>
                  </a:lnTo>
                  <a:lnTo>
                    <a:pt x="202311" y="4860290"/>
                  </a:lnTo>
                  <a:lnTo>
                    <a:pt x="202311" y="4841240"/>
                  </a:lnTo>
                  <a:lnTo>
                    <a:pt x="202311" y="4860290"/>
                  </a:lnTo>
                  <a:cubicBezTo>
                    <a:pt x="90678" y="4860290"/>
                    <a:pt x="0" y="4769993"/>
                    <a:pt x="0" y="4658360"/>
                  </a:cubicBezTo>
                  <a:lnTo>
                    <a:pt x="0" y="201930"/>
                  </a:lnTo>
                  <a:lnTo>
                    <a:pt x="19050" y="201930"/>
                  </a:lnTo>
                  <a:lnTo>
                    <a:pt x="0" y="201930"/>
                  </a:lnTo>
                  <a:moveTo>
                    <a:pt x="38100" y="201930"/>
                  </a:moveTo>
                  <a:lnTo>
                    <a:pt x="38100" y="4658360"/>
                  </a:lnTo>
                  <a:lnTo>
                    <a:pt x="19050" y="4658360"/>
                  </a:lnTo>
                  <a:lnTo>
                    <a:pt x="38100" y="4658360"/>
                  </a:lnTo>
                  <a:cubicBezTo>
                    <a:pt x="38100" y="4748784"/>
                    <a:pt x="111633" y="4822190"/>
                    <a:pt x="202311" y="4822190"/>
                  </a:cubicBezTo>
                  <a:lnTo>
                    <a:pt x="6861175" y="4822190"/>
                  </a:lnTo>
                  <a:cubicBezTo>
                    <a:pt x="6951980" y="4822190"/>
                    <a:pt x="7025386" y="4748784"/>
                    <a:pt x="7025386" y="4658360"/>
                  </a:cubicBezTo>
                  <a:lnTo>
                    <a:pt x="7025386" y="201930"/>
                  </a:lnTo>
                  <a:cubicBezTo>
                    <a:pt x="7025386" y="111506"/>
                    <a:pt x="6951853" y="38100"/>
                    <a:pt x="6861175" y="38100"/>
                  </a:cubicBezTo>
                  <a:lnTo>
                    <a:pt x="202311" y="38100"/>
                  </a:lnTo>
                  <a:lnTo>
                    <a:pt x="202311" y="19050"/>
                  </a:lnTo>
                  <a:lnTo>
                    <a:pt x="202311" y="38100"/>
                  </a:lnTo>
                  <a:cubicBezTo>
                    <a:pt x="111633" y="38100"/>
                    <a:pt x="38100" y="111506"/>
                    <a:pt x="38100" y="201930"/>
                  </a:cubicBezTo>
                  <a:close/>
                </a:path>
              </a:pathLst>
            </a:custGeom>
            <a:solidFill>
              <a:srgbClr val="CED9CE"/>
            </a:solidFill>
            <a:ln w="12700">
              <a:solidFill>
                <a:srgbClr val="000000"/>
              </a:solidFill>
            </a:ln>
          </p:spPr>
        </p:sp>
      </p:grpSp>
      <p:grpSp>
        <p:nvGrpSpPr>
          <p:cNvPr name="Group 25" id="25"/>
          <p:cNvGrpSpPr/>
          <p:nvPr/>
        </p:nvGrpSpPr>
        <p:grpSpPr>
          <a:xfrm rot="0">
            <a:off x="11997928" y="4358278"/>
            <a:ext cx="114300" cy="3616671"/>
            <a:chOff x="0" y="0"/>
            <a:chExt cx="152400" cy="4822228"/>
          </a:xfrm>
        </p:grpSpPr>
        <p:sp>
          <p:nvSpPr>
            <p:cNvPr name="Freeform 26" id="26"/>
            <p:cNvSpPr/>
            <p:nvPr/>
          </p:nvSpPr>
          <p:spPr>
            <a:xfrm flipH="false" flipV="false" rot="0">
              <a:off x="0" y="0"/>
              <a:ext cx="152400" cy="4822190"/>
            </a:xfrm>
            <a:custGeom>
              <a:avLst/>
              <a:gdLst/>
              <a:ahLst/>
              <a:cxnLst/>
              <a:rect r="r" b="b" t="t" l="l"/>
              <a:pathLst>
                <a:path h="4822190" w="152400">
                  <a:moveTo>
                    <a:pt x="0" y="76200"/>
                  </a:moveTo>
                  <a:cubicBezTo>
                    <a:pt x="0" y="34163"/>
                    <a:pt x="34163" y="0"/>
                    <a:pt x="76200" y="0"/>
                  </a:cubicBezTo>
                  <a:cubicBezTo>
                    <a:pt x="118237" y="0"/>
                    <a:pt x="152400" y="34163"/>
                    <a:pt x="152400" y="76200"/>
                  </a:cubicBezTo>
                  <a:lnTo>
                    <a:pt x="152400" y="4745990"/>
                  </a:lnTo>
                  <a:cubicBezTo>
                    <a:pt x="152400" y="4788027"/>
                    <a:pt x="118237" y="4822190"/>
                    <a:pt x="76200" y="4822190"/>
                  </a:cubicBezTo>
                  <a:cubicBezTo>
                    <a:pt x="34163" y="4822190"/>
                    <a:pt x="0" y="4788027"/>
                    <a:pt x="0" y="4745990"/>
                  </a:cubicBezTo>
                  <a:close/>
                </a:path>
              </a:pathLst>
            </a:custGeom>
            <a:solidFill>
              <a:srgbClr val="438951"/>
            </a:solidFill>
            <a:ln w="12700">
              <a:solidFill>
                <a:srgbClr val="000000"/>
              </a:solidFill>
            </a:ln>
          </p:spPr>
        </p:sp>
      </p:grpSp>
      <p:sp>
        <p:nvSpPr>
          <p:cNvPr name="TextBox 27" id="27"/>
          <p:cNvSpPr txBox="true"/>
          <p:nvPr/>
        </p:nvSpPr>
        <p:spPr>
          <a:xfrm rot="0">
            <a:off x="12388748" y="4625283"/>
            <a:ext cx="4630341" cy="939698"/>
          </a:xfrm>
          <a:prstGeom prst="rect">
            <a:avLst/>
          </a:prstGeom>
        </p:spPr>
        <p:txBody>
          <a:bodyPr anchor="t" rtlCol="false" tIns="0" lIns="0" bIns="0" rIns="0">
            <a:spAutoFit/>
          </a:bodyPr>
          <a:lstStyle/>
          <a:p>
            <a:pPr algn="l">
              <a:lnSpc>
                <a:spcPts val="3625"/>
              </a:lnSpc>
            </a:pPr>
            <a:r>
              <a:rPr lang="en-US" sz="2874" b="true">
                <a:solidFill>
                  <a:srgbClr val="405449"/>
                </a:solidFill>
                <a:latin typeface="Fraunces Bold"/>
                <a:ea typeface="Fraunces Bold"/>
                <a:cs typeface="Fraunces Bold"/>
                <a:sym typeface="Fraunces Bold"/>
              </a:rPr>
              <a:t>Manque de contrôle et de visibilité</a:t>
            </a:r>
          </a:p>
        </p:txBody>
      </p:sp>
      <p:sp>
        <p:nvSpPr>
          <p:cNvPr name="TextBox 28" id="28"/>
          <p:cNvSpPr txBox="true"/>
          <p:nvPr/>
        </p:nvSpPr>
        <p:spPr>
          <a:xfrm rot="0">
            <a:off x="12388748" y="5618559"/>
            <a:ext cx="4630341" cy="1555750"/>
          </a:xfrm>
          <a:prstGeom prst="rect">
            <a:avLst/>
          </a:prstGeom>
        </p:spPr>
        <p:txBody>
          <a:bodyPr anchor="t" rtlCol="false" tIns="0" lIns="0" bIns="0" rIns="0">
            <a:spAutoFit/>
          </a:bodyPr>
          <a:lstStyle/>
          <a:p>
            <a:pPr algn="just">
              <a:lnSpc>
                <a:spcPts val="3125"/>
              </a:lnSpc>
            </a:pPr>
            <a:r>
              <a:rPr lang="en-US" sz="1937">
                <a:solidFill>
                  <a:srgbClr val="405449"/>
                </a:solidFill>
                <a:latin typeface="Arimo"/>
                <a:ea typeface="Arimo"/>
                <a:cs typeface="Arimo"/>
                <a:sym typeface="Arimo"/>
              </a:rPr>
              <a:t>Les organisateurs ont souvent du mal à suivre qui a confirmé, qui est en attente, et à communiquer efficacement les mises à jour à l'ensemble du groupe.</a:t>
            </a:r>
          </a:p>
        </p:txBody>
      </p:sp>
      <p:sp>
        <p:nvSpPr>
          <p:cNvPr name="TextBox 29" id="29"/>
          <p:cNvSpPr txBox="true"/>
          <p:nvPr/>
        </p:nvSpPr>
        <p:spPr>
          <a:xfrm rot="0">
            <a:off x="992238" y="8158753"/>
            <a:ext cx="16303523" cy="774700"/>
          </a:xfrm>
          <a:prstGeom prst="rect">
            <a:avLst/>
          </a:prstGeom>
        </p:spPr>
        <p:txBody>
          <a:bodyPr anchor="t" rtlCol="false" tIns="0" lIns="0" bIns="0" rIns="0">
            <a:spAutoFit/>
          </a:bodyPr>
          <a:lstStyle/>
          <a:p>
            <a:pPr algn="just">
              <a:lnSpc>
                <a:spcPts val="3125"/>
              </a:lnSpc>
            </a:pPr>
            <a:r>
              <a:rPr lang="en-US" sz="1937">
                <a:solidFill>
                  <a:srgbClr val="405449"/>
                </a:solidFill>
                <a:latin typeface="Arimo"/>
                <a:ea typeface="Arimo"/>
                <a:cs typeface="Arimo"/>
                <a:sym typeface="Arimo"/>
              </a:rPr>
              <a:t>Ces défis entraînent une démotivation et peuvent nuire à la régularité des matchs. MatchUp vise à éliminer ces frictions en digitalisant et en simplifiant chaque étape du processus d'organisation.</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a:ln w="12700">
              <a:solidFill>
                <a:srgbClr val="000000"/>
              </a:solidFill>
            </a:ln>
          </p:spPr>
        </p:sp>
      </p:grpSp>
      <p:sp>
        <p:nvSpPr>
          <p:cNvPr name="TextBox 6" id="6"/>
          <p:cNvSpPr txBox="true"/>
          <p:nvPr/>
        </p:nvSpPr>
        <p:spPr>
          <a:xfrm rot="0">
            <a:off x="992238" y="948776"/>
            <a:ext cx="12301385" cy="794147"/>
          </a:xfrm>
          <a:prstGeom prst="rect">
            <a:avLst/>
          </a:prstGeom>
        </p:spPr>
        <p:txBody>
          <a:bodyPr anchor="t" rtlCol="false" tIns="0" lIns="0" bIns="0" rIns="0">
            <a:spAutoFit/>
          </a:bodyPr>
          <a:lstStyle/>
          <a:p>
            <a:pPr algn="l">
              <a:lnSpc>
                <a:spcPts val="6062"/>
              </a:lnSpc>
            </a:pPr>
            <a:r>
              <a:rPr lang="en-US" sz="4875" b="true">
                <a:solidFill>
                  <a:srgbClr val="3B4540"/>
                </a:solidFill>
                <a:latin typeface="Fraunces Bold"/>
                <a:ea typeface="Fraunces Bold"/>
                <a:cs typeface="Fraunces Bold"/>
                <a:sym typeface="Fraunces Bold"/>
              </a:rPr>
              <a:t>Objectifs Clés de l'Application MatchUp</a:t>
            </a:r>
          </a:p>
        </p:txBody>
      </p:sp>
      <p:sp>
        <p:nvSpPr>
          <p:cNvPr name="TextBox 7" id="7"/>
          <p:cNvSpPr txBox="true"/>
          <p:nvPr/>
        </p:nvSpPr>
        <p:spPr>
          <a:xfrm rot="0">
            <a:off x="992238" y="2143716"/>
            <a:ext cx="16303523" cy="774700"/>
          </a:xfrm>
          <a:prstGeom prst="rect">
            <a:avLst/>
          </a:prstGeom>
        </p:spPr>
        <p:txBody>
          <a:bodyPr anchor="t" rtlCol="false" tIns="0" lIns="0" bIns="0" rIns="0">
            <a:spAutoFit/>
          </a:bodyPr>
          <a:lstStyle/>
          <a:p>
            <a:pPr algn="just">
              <a:lnSpc>
                <a:spcPts val="3125"/>
              </a:lnSpc>
            </a:pPr>
            <a:r>
              <a:rPr lang="en-US" sz="1937">
                <a:solidFill>
                  <a:srgbClr val="405449"/>
                </a:solidFill>
                <a:latin typeface="Arimo"/>
                <a:ea typeface="Arimo"/>
                <a:cs typeface="Arimo"/>
                <a:sym typeface="Arimo"/>
              </a:rPr>
              <a:t>MatchUp a été conçu avec des objectifs clairs pour résoudre les problématiques identifiées et offrir une expérience utilisateur fluide et efficace pour tous les participants, qu'ils soient joueurs ou organisateurs.</a:t>
            </a:r>
          </a:p>
        </p:txBody>
      </p:sp>
      <p:sp>
        <p:nvSpPr>
          <p:cNvPr name="TextBox 8" id="8"/>
          <p:cNvSpPr txBox="true"/>
          <p:nvPr/>
        </p:nvSpPr>
        <p:spPr>
          <a:xfrm rot="0">
            <a:off x="992238" y="3226146"/>
            <a:ext cx="247945" cy="395735"/>
          </a:xfrm>
          <a:prstGeom prst="rect">
            <a:avLst/>
          </a:prstGeom>
        </p:spPr>
        <p:txBody>
          <a:bodyPr anchor="t" rtlCol="false" tIns="0" lIns="0" bIns="0" rIns="0">
            <a:spAutoFit/>
          </a:bodyPr>
          <a:lstStyle/>
          <a:p>
            <a:pPr algn="l">
              <a:lnSpc>
                <a:spcPts val="3125"/>
              </a:lnSpc>
            </a:pPr>
            <a:r>
              <a:rPr lang="en-US" sz="1937">
                <a:solidFill>
                  <a:srgbClr val="405449"/>
                </a:solidFill>
                <a:latin typeface="Fraunces Light"/>
                <a:ea typeface="Fraunces Light"/>
                <a:cs typeface="Fraunces Light"/>
                <a:sym typeface="Fraunces Light"/>
              </a:rPr>
              <a:t>01</a:t>
            </a:r>
          </a:p>
        </p:txBody>
      </p:sp>
      <p:grpSp>
        <p:nvGrpSpPr>
          <p:cNvPr name="Group 9" id="9"/>
          <p:cNvGrpSpPr/>
          <p:nvPr/>
        </p:nvGrpSpPr>
        <p:grpSpPr>
          <a:xfrm rot="0">
            <a:off x="992238" y="3704777"/>
            <a:ext cx="5269116" cy="28575"/>
            <a:chOff x="0" y="0"/>
            <a:chExt cx="7025488" cy="38100"/>
          </a:xfrm>
        </p:grpSpPr>
        <p:sp>
          <p:nvSpPr>
            <p:cNvPr name="Freeform 10" id="10"/>
            <p:cNvSpPr/>
            <p:nvPr/>
          </p:nvSpPr>
          <p:spPr>
            <a:xfrm flipH="false" flipV="false" rot="0">
              <a:off x="0" y="0"/>
              <a:ext cx="7025513" cy="38100"/>
            </a:xfrm>
            <a:custGeom>
              <a:avLst/>
              <a:gdLst/>
              <a:ahLst/>
              <a:cxnLst/>
              <a:rect r="r" b="b" t="t" l="l"/>
              <a:pathLst>
                <a:path h="38100" w="7025513">
                  <a:moveTo>
                    <a:pt x="0" y="0"/>
                  </a:moveTo>
                  <a:lnTo>
                    <a:pt x="7025513" y="0"/>
                  </a:lnTo>
                  <a:lnTo>
                    <a:pt x="7025513" y="38100"/>
                  </a:lnTo>
                  <a:lnTo>
                    <a:pt x="0" y="38100"/>
                  </a:lnTo>
                  <a:close/>
                </a:path>
              </a:pathLst>
            </a:custGeom>
            <a:solidFill>
              <a:srgbClr val="438951"/>
            </a:solidFill>
            <a:ln w="12700">
              <a:solidFill>
                <a:srgbClr val="000000"/>
              </a:solidFill>
            </a:ln>
          </p:spPr>
        </p:sp>
      </p:grpSp>
      <p:sp>
        <p:nvSpPr>
          <p:cNvPr name="TextBox 11" id="11"/>
          <p:cNvSpPr txBox="true"/>
          <p:nvPr/>
        </p:nvSpPr>
        <p:spPr>
          <a:xfrm rot="0">
            <a:off x="992238" y="3885905"/>
            <a:ext cx="4542530" cy="387696"/>
          </a:xfrm>
          <a:prstGeom prst="rect">
            <a:avLst/>
          </a:prstGeom>
        </p:spPr>
        <p:txBody>
          <a:bodyPr anchor="t" rtlCol="false" tIns="0" lIns="0" bIns="0" rIns="0">
            <a:spAutoFit/>
          </a:bodyPr>
          <a:lstStyle/>
          <a:p>
            <a:pPr algn="l">
              <a:lnSpc>
                <a:spcPts val="2999"/>
              </a:lnSpc>
            </a:pPr>
            <a:r>
              <a:rPr lang="en-US" sz="2437" b="true">
                <a:solidFill>
                  <a:srgbClr val="405449"/>
                </a:solidFill>
                <a:latin typeface="Fraunces Bold"/>
                <a:ea typeface="Fraunces Bold"/>
                <a:cs typeface="Fraunces Bold"/>
                <a:sym typeface="Fraunces Bold"/>
              </a:rPr>
              <a:t>Création de Match Simplifiée</a:t>
            </a:r>
          </a:p>
        </p:txBody>
      </p:sp>
      <p:sp>
        <p:nvSpPr>
          <p:cNvPr name="TextBox 12" id="12"/>
          <p:cNvSpPr txBox="true"/>
          <p:nvPr/>
        </p:nvSpPr>
        <p:spPr>
          <a:xfrm rot="0">
            <a:off x="992238" y="4327179"/>
            <a:ext cx="5269116" cy="1555750"/>
          </a:xfrm>
          <a:prstGeom prst="rect">
            <a:avLst/>
          </a:prstGeom>
        </p:spPr>
        <p:txBody>
          <a:bodyPr anchor="t" rtlCol="false" tIns="0" lIns="0" bIns="0" rIns="0">
            <a:spAutoFit/>
          </a:bodyPr>
          <a:lstStyle/>
          <a:p>
            <a:pPr algn="just">
              <a:lnSpc>
                <a:spcPts val="3125"/>
              </a:lnSpc>
            </a:pPr>
            <a:r>
              <a:rPr lang="en-US" sz="1937">
                <a:solidFill>
                  <a:srgbClr val="405449"/>
                </a:solidFill>
                <a:latin typeface="Arimo"/>
                <a:ea typeface="Arimo"/>
                <a:cs typeface="Arimo"/>
                <a:sym typeface="Arimo"/>
              </a:rPr>
              <a:t>Permettre aux utilisateurs de créer facilement de nouveaux matchs, en spécifiant les détails comme la date, l'heure, le lieu et la capacité maximale.</a:t>
            </a:r>
          </a:p>
        </p:txBody>
      </p:sp>
      <p:sp>
        <p:nvSpPr>
          <p:cNvPr name="TextBox 13" id="13"/>
          <p:cNvSpPr txBox="true"/>
          <p:nvPr/>
        </p:nvSpPr>
        <p:spPr>
          <a:xfrm rot="0">
            <a:off x="6509299" y="3226146"/>
            <a:ext cx="247945" cy="395735"/>
          </a:xfrm>
          <a:prstGeom prst="rect">
            <a:avLst/>
          </a:prstGeom>
        </p:spPr>
        <p:txBody>
          <a:bodyPr anchor="t" rtlCol="false" tIns="0" lIns="0" bIns="0" rIns="0">
            <a:spAutoFit/>
          </a:bodyPr>
          <a:lstStyle/>
          <a:p>
            <a:pPr algn="l">
              <a:lnSpc>
                <a:spcPts val="3125"/>
              </a:lnSpc>
            </a:pPr>
            <a:r>
              <a:rPr lang="en-US" sz="1937">
                <a:solidFill>
                  <a:srgbClr val="405449"/>
                </a:solidFill>
                <a:latin typeface="Fraunces Light"/>
                <a:ea typeface="Fraunces Light"/>
                <a:cs typeface="Fraunces Light"/>
                <a:sym typeface="Fraunces Light"/>
              </a:rPr>
              <a:t>02</a:t>
            </a:r>
          </a:p>
        </p:txBody>
      </p:sp>
      <p:grpSp>
        <p:nvGrpSpPr>
          <p:cNvPr name="Group 14" id="14"/>
          <p:cNvGrpSpPr/>
          <p:nvPr/>
        </p:nvGrpSpPr>
        <p:grpSpPr>
          <a:xfrm rot="0">
            <a:off x="6509299" y="3704777"/>
            <a:ext cx="5269259" cy="28575"/>
            <a:chOff x="0" y="0"/>
            <a:chExt cx="7025678" cy="38100"/>
          </a:xfrm>
        </p:grpSpPr>
        <p:sp>
          <p:nvSpPr>
            <p:cNvPr name="Freeform 15" id="15"/>
            <p:cNvSpPr/>
            <p:nvPr/>
          </p:nvSpPr>
          <p:spPr>
            <a:xfrm flipH="false" flipV="false" rot="0">
              <a:off x="0" y="0"/>
              <a:ext cx="7025640" cy="38100"/>
            </a:xfrm>
            <a:custGeom>
              <a:avLst/>
              <a:gdLst/>
              <a:ahLst/>
              <a:cxnLst/>
              <a:rect r="r" b="b" t="t" l="l"/>
              <a:pathLst>
                <a:path h="38100" w="7025640">
                  <a:moveTo>
                    <a:pt x="0" y="0"/>
                  </a:moveTo>
                  <a:lnTo>
                    <a:pt x="7025640" y="0"/>
                  </a:lnTo>
                  <a:lnTo>
                    <a:pt x="7025640" y="38100"/>
                  </a:lnTo>
                  <a:lnTo>
                    <a:pt x="0" y="38100"/>
                  </a:lnTo>
                  <a:close/>
                </a:path>
              </a:pathLst>
            </a:custGeom>
            <a:solidFill>
              <a:srgbClr val="438951"/>
            </a:solidFill>
            <a:ln w="12700">
              <a:solidFill>
                <a:srgbClr val="000000"/>
              </a:solidFill>
            </a:ln>
          </p:spPr>
        </p:sp>
      </p:grpSp>
      <p:sp>
        <p:nvSpPr>
          <p:cNvPr name="TextBox 16" id="16"/>
          <p:cNvSpPr txBox="true"/>
          <p:nvPr/>
        </p:nvSpPr>
        <p:spPr>
          <a:xfrm rot="0">
            <a:off x="6509299" y="3885905"/>
            <a:ext cx="5269259" cy="775392"/>
          </a:xfrm>
          <a:prstGeom prst="rect">
            <a:avLst/>
          </a:prstGeom>
        </p:spPr>
        <p:txBody>
          <a:bodyPr anchor="t" rtlCol="false" tIns="0" lIns="0" bIns="0" rIns="0">
            <a:spAutoFit/>
          </a:bodyPr>
          <a:lstStyle/>
          <a:p>
            <a:pPr algn="l">
              <a:lnSpc>
                <a:spcPts val="2999"/>
              </a:lnSpc>
            </a:pPr>
            <a:r>
              <a:rPr lang="en-US" sz="2437" b="true">
                <a:solidFill>
                  <a:srgbClr val="405449"/>
                </a:solidFill>
                <a:latin typeface="Fraunces Bold"/>
                <a:ea typeface="Fraunces Bold"/>
                <a:cs typeface="Fraunces Bold"/>
                <a:sym typeface="Fraunces Bold"/>
              </a:rPr>
              <a:t>Gestion des Demandes de Participation</a:t>
            </a:r>
          </a:p>
        </p:txBody>
      </p:sp>
      <p:sp>
        <p:nvSpPr>
          <p:cNvPr name="TextBox 17" id="17"/>
          <p:cNvSpPr txBox="true"/>
          <p:nvPr/>
        </p:nvSpPr>
        <p:spPr>
          <a:xfrm rot="0">
            <a:off x="6509299" y="4714875"/>
            <a:ext cx="5269259" cy="1165225"/>
          </a:xfrm>
          <a:prstGeom prst="rect">
            <a:avLst/>
          </a:prstGeom>
        </p:spPr>
        <p:txBody>
          <a:bodyPr anchor="t" rtlCol="false" tIns="0" lIns="0" bIns="0" rIns="0">
            <a:spAutoFit/>
          </a:bodyPr>
          <a:lstStyle/>
          <a:p>
            <a:pPr algn="just">
              <a:lnSpc>
                <a:spcPts val="3125"/>
              </a:lnSpc>
            </a:pPr>
            <a:r>
              <a:rPr lang="en-US" sz="1937">
                <a:solidFill>
                  <a:srgbClr val="405449"/>
                </a:solidFill>
                <a:latin typeface="Arimo"/>
                <a:ea typeface="Arimo"/>
                <a:cs typeface="Arimo"/>
                <a:sym typeface="Arimo"/>
              </a:rPr>
              <a:t>Offrir aux joueurs la possibilité de s'inscrire à des matchs et aux organisateurs de visualiser et gérer ces demandes.</a:t>
            </a:r>
          </a:p>
        </p:txBody>
      </p:sp>
      <p:sp>
        <p:nvSpPr>
          <p:cNvPr name="TextBox 18" id="18"/>
          <p:cNvSpPr txBox="true"/>
          <p:nvPr/>
        </p:nvSpPr>
        <p:spPr>
          <a:xfrm rot="0">
            <a:off x="12026503" y="3226146"/>
            <a:ext cx="247945" cy="395735"/>
          </a:xfrm>
          <a:prstGeom prst="rect">
            <a:avLst/>
          </a:prstGeom>
        </p:spPr>
        <p:txBody>
          <a:bodyPr anchor="t" rtlCol="false" tIns="0" lIns="0" bIns="0" rIns="0">
            <a:spAutoFit/>
          </a:bodyPr>
          <a:lstStyle/>
          <a:p>
            <a:pPr algn="l">
              <a:lnSpc>
                <a:spcPts val="3125"/>
              </a:lnSpc>
            </a:pPr>
            <a:r>
              <a:rPr lang="en-US" sz="1937">
                <a:solidFill>
                  <a:srgbClr val="405449"/>
                </a:solidFill>
                <a:latin typeface="Fraunces Light"/>
                <a:ea typeface="Fraunces Light"/>
                <a:cs typeface="Fraunces Light"/>
                <a:sym typeface="Fraunces Light"/>
              </a:rPr>
              <a:t>03</a:t>
            </a:r>
          </a:p>
        </p:txBody>
      </p:sp>
      <p:grpSp>
        <p:nvGrpSpPr>
          <p:cNvPr name="Group 19" id="19"/>
          <p:cNvGrpSpPr/>
          <p:nvPr/>
        </p:nvGrpSpPr>
        <p:grpSpPr>
          <a:xfrm rot="0">
            <a:off x="12026503" y="3704777"/>
            <a:ext cx="5269116" cy="28575"/>
            <a:chOff x="0" y="0"/>
            <a:chExt cx="7025488" cy="38100"/>
          </a:xfrm>
        </p:grpSpPr>
        <p:sp>
          <p:nvSpPr>
            <p:cNvPr name="Freeform 20" id="20"/>
            <p:cNvSpPr/>
            <p:nvPr/>
          </p:nvSpPr>
          <p:spPr>
            <a:xfrm flipH="false" flipV="false" rot="0">
              <a:off x="0" y="0"/>
              <a:ext cx="7025513" cy="38100"/>
            </a:xfrm>
            <a:custGeom>
              <a:avLst/>
              <a:gdLst/>
              <a:ahLst/>
              <a:cxnLst/>
              <a:rect r="r" b="b" t="t" l="l"/>
              <a:pathLst>
                <a:path h="38100" w="7025513">
                  <a:moveTo>
                    <a:pt x="0" y="0"/>
                  </a:moveTo>
                  <a:lnTo>
                    <a:pt x="7025513" y="0"/>
                  </a:lnTo>
                  <a:lnTo>
                    <a:pt x="7025513" y="38100"/>
                  </a:lnTo>
                  <a:lnTo>
                    <a:pt x="0" y="38100"/>
                  </a:lnTo>
                  <a:close/>
                </a:path>
              </a:pathLst>
            </a:custGeom>
            <a:solidFill>
              <a:srgbClr val="438951"/>
            </a:solidFill>
            <a:ln w="12700">
              <a:solidFill>
                <a:srgbClr val="000000"/>
              </a:solidFill>
            </a:ln>
          </p:spPr>
        </p:sp>
      </p:grpSp>
      <p:sp>
        <p:nvSpPr>
          <p:cNvPr name="TextBox 21" id="21"/>
          <p:cNvSpPr txBox="true"/>
          <p:nvPr/>
        </p:nvSpPr>
        <p:spPr>
          <a:xfrm rot="0">
            <a:off x="12026503" y="3885905"/>
            <a:ext cx="5269116" cy="775392"/>
          </a:xfrm>
          <a:prstGeom prst="rect">
            <a:avLst/>
          </a:prstGeom>
        </p:spPr>
        <p:txBody>
          <a:bodyPr anchor="t" rtlCol="false" tIns="0" lIns="0" bIns="0" rIns="0">
            <a:spAutoFit/>
          </a:bodyPr>
          <a:lstStyle/>
          <a:p>
            <a:pPr algn="l">
              <a:lnSpc>
                <a:spcPts val="2999"/>
              </a:lnSpc>
            </a:pPr>
            <a:r>
              <a:rPr lang="en-US" sz="2437" b="true">
                <a:solidFill>
                  <a:srgbClr val="405449"/>
                </a:solidFill>
                <a:latin typeface="Fraunces Bold"/>
                <a:ea typeface="Fraunces Bold"/>
                <a:cs typeface="Fraunces Bold"/>
                <a:sym typeface="Fraunces Bold"/>
              </a:rPr>
              <a:t>Validation des Participants par l'Organisateur</a:t>
            </a:r>
          </a:p>
        </p:txBody>
      </p:sp>
      <p:sp>
        <p:nvSpPr>
          <p:cNvPr name="TextBox 22" id="22"/>
          <p:cNvSpPr txBox="true"/>
          <p:nvPr/>
        </p:nvSpPr>
        <p:spPr>
          <a:xfrm rot="0">
            <a:off x="12026503" y="4714875"/>
            <a:ext cx="5269116" cy="1165225"/>
          </a:xfrm>
          <a:prstGeom prst="rect">
            <a:avLst/>
          </a:prstGeom>
        </p:spPr>
        <p:txBody>
          <a:bodyPr anchor="t" rtlCol="false" tIns="0" lIns="0" bIns="0" rIns="0">
            <a:spAutoFit/>
          </a:bodyPr>
          <a:lstStyle/>
          <a:p>
            <a:pPr algn="just">
              <a:lnSpc>
                <a:spcPts val="3125"/>
              </a:lnSpc>
            </a:pPr>
            <a:r>
              <a:rPr lang="en-US" sz="1937">
                <a:solidFill>
                  <a:srgbClr val="405449"/>
                </a:solidFill>
                <a:latin typeface="Arimo"/>
                <a:ea typeface="Arimo"/>
                <a:cs typeface="Arimo"/>
                <a:sym typeface="Arimo"/>
              </a:rPr>
              <a:t>Donner à l'organisateur le contrôle total sur la liste des joueurs, avec des options pour accepter, refuser ou exclure des participants.</a:t>
            </a:r>
          </a:p>
        </p:txBody>
      </p:sp>
      <p:sp>
        <p:nvSpPr>
          <p:cNvPr name="TextBox 23" id="23"/>
          <p:cNvSpPr txBox="true"/>
          <p:nvPr/>
        </p:nvSpPr>
        <p:spPr>
          <a:xfrm rot="0">
            <a:off x="992238" y="6746081"/>
            <a:ext cx="247945" cy="395735"/>
          </a:xfrm>
          <a:prstGeom prst="rect">
            <a:avLst/>
          </a:prstGeom>
        </p:spPr>
        <p:txBody>
          <a:bodyPr anchor="t" rtlCol="false" tIns="0" lIns="0" bIns="0" rIns="0">
            <a:spAutoFit/>
          </a:bodyPr>
          <a:lstStyle/>
          <a:p>
            <a:pPr algn="l">
              <a:lnSpc>
                <a:spcPts val="3125"/>
              </a:lnSpc>
            </a:pPr>
            <a:r>
              <a:rPr lang="en-US" sz="1937">
                <a:solidFill>
                  <a:srgbClr val="405449"/>
                </a:solidFill>
                <a:latin typeface="Fraunces Light"/>
                <a:ea typeface="Fraunces Light"/>
                <a:cs typeface="Fraunces Light"/>
                <a:sym typeface="Fraunces Light"/>
              </a:rPr>
              <a:t>04</a:t>
            </a:r>
          </a:p>
        </p:txBody>
      </p:sp>
      <p:grpSp>
        <p:nvGrpSpPr>
          <p:cNvPr name="Group 24" id="24"/>
          <p:cNvGrpSpPr/>
          <p:nvPr/>
        </p:nvGrpSpPr>
        <p:grpSpPr>
          <a:xfrm rot="0">
            <a:off x="992238" y="7224712"/>
            <a:ext cx="8027641" cy="28575"/>
            <a:chOff x="0" y="0"/>
            <a:chExt cx="10703522" cy="38100"/>
          </a:xfrm>
        </p:grpSpPr>
        <p:sp>
          <p:nvSpPr>
            <p:cNvPr name="Freeform 25" id="25"/>
            <p:cNvSpPr/>
            <p:nvPr/>
          </p:nvSpPr>
          <p:spPr>
            <a:xfrm flipH="false" flipV="false" rot="0">
              <a:off x="0" y="0"/>
              <a:ext cx="10703560" cy="38100"/>
            </a:xfrm>
            <a:custGeom>
              <a:avLst/>
              <a:gdLst/>
              <a:ahLst/>
              <a:cxnLst/>
              <a:rect r="r" b="b" t="t" l="l"/>
              <a:pathLst>
                <a:path h="38100" w="10703560">
                  <a:moveTo>
                    <a:pt x="0" y="0"/>
                  </a:moveTo>
                  <a:lnTo>
                    <a:pt x="10703560" y="0"/>
                  </a:lnTo>
                  <a:lnTo>
                    <a:pt x="10703560" y="38100"/>
                  </a:lnTo>
                  <a:lnTo>
                    <a:pt x="0" y="38100"/>
                  </a:lnTo>
                  <a:close/>
                </a:path>
              </a:pathLst>
            </a:custGeom>
            <a:solidFill>
              <a:srgbClr val="438951"/>
            </a:solidFill>
            <a:ln w="12700">
              <a:solidFill>
                <a:srgbClr val="000000"/>
              </a:solidFill>
            </a:ln>
          </p:spPr>
        </p:sp>
      </p:grpSp>
      <p:sp>
        <p:nvSpPr>
          <p:cNvPr name="TextBox 26" id="26"/>
          <p:cNvSpPr txBox="true"/>
          <p:nvPr/>
        </p:nvSpPr>
        <p:spPr>
          <a:xfrm rot="0">
            <a:off x="992238" y="7405840"/>
            <a:ext cx="5840311" cy="387696"/>
          </a:xfrm>
          <a:prstGeom prst="rect">
            <a:avLst/>
          </a:prstGeom>
        </p:spPr>
        <p:txBody>
          <a:bodyPr anchor="t" rtlCol="false" tIns="0" lIns="0" bIns="0" rIns="0">
            <a:spAutoFit/>
          </a:bodyPr>
          <a:lstStyle/>
          <a:p>
            <a:pPr algn="l">
              <a:lnSpc>
                <a:spcPts val="2999"/>
              </a:lnSpc>
            </a:pPr>
            <a:r>
              <a:rPr lang="en-US" sz="2437" b="true">
                <a:solidFill>
                  <a:srgbClr val="405449"/>
                </a:solidFill>
                <a:latin typeface="Fraunces Bold"/>
                <a:ea typeface="Fraunces Bold"/>
                <a:cs typeface="Fraunces Bold"/>
                <a:sym typeface="Fraunces Bold"/>
              </a:rPr>
              <a:t>Communication Instantanée via Chat</a:t>
            </a:r>
          </a:p>
        </p:txBody>
      </p:sp>
      <p:sp>
        <p:nvSpPr>
          <p:cNvPr name="TextBox 27" id="27"/>
          <p:cNvSpPr txBox="true"/>
          <p:nvPr/>
        </p:nvSpPr>
        <p:spPr>
          <a:xfrm rot="0">
            <a:off x="992238" y="7847114"/>
            <a:ext cx="8027641" cy="774700"/>
          </a:xfrm>
          <a:prstGeom prst="rect">
            <a:avLst/>
          </a:prstGeom>
        </p:spPr>
        <p:txBody>
          <a:bodyPr anchor="t" rtlCol="false" tIns="0" lIns="0" bIns="0" rIns="0">
            <a:spAutoFit/>
          </a:bodyPr>
          <a:lstStyle/>
          <a:p>
            <a:pPr algn="just">
              <a:lnSpc>
                <a:spcPts val="3125"/>
              </a:lnSpc>
            </a:pPr>
            <a:r>
              <a:rPr lang="en-US" sz="1937">
                <a:solidFill>
                  <a:srgbClr val="405449"/>
                </a:solidFill>
                <a:latin typeface="Arimo"/>
                <a:ea typeface="Arimo"/>
                <a:cs typeface="Arimo"/>
                <a:sym typeface="Arimo"/>
              </a:rPr>
              <a:t>Intégrer un système de chat dédié à chaque match pour faciliter la communication entre les participants et l'organisateur.</a:t>
            </a:r>
          </a:p>
        </p:txBody>
      </p:sp>
      <p:sp>
        <p:nvSpPr>
          <p:cNvPr name="TextBox 28" id="28"/>
          <p:cNvSpPr txBox="true"/>
          <p:nvPr/>
        </p:nvSpPr>
        <p:spPr>
          <a:xfrm rot="0">
            <a:off x="9267825" y="6746081"/>
            <a:ext cx="247945" cy="395735"/>
          </a:xfrm>
          <a:prstGeom prst="rect">
            <a:avLst/>
          </a:prstGeom>
        </p:spPr>
        <p:txBody>
          <a:bodyPr anchor="t" rtlCol="false" tIns="0" lIns="0" bIns="0" rIns="0">
            <a:spAutoFit/>
          </a:bodyPr>
          <a:lstStyle/>
          <a:p>
            <a:pPr algn="l">
              <a:lnSpc>
                <a:spcPts val="3125"/>
              </a:lnSpc>
            </a:pPr>
            <a:r>
              <a:rPr lang="en-US" sz="1937">
                <a:solidFill>
                  <a:srgbClr val="405449"/>
                </a:solidFill>
                <a:latin typeface="Fraunces Light"/>
                <a:ea typeface="Fraunces Light"/>
                <a:cs typeface="Fraunces Light"/>
                <a:sym typeface="Fraunces Light"/>
              </a:rPr>
              <a:t>05</a:t>
            </a:r>
          </a:p>
        </p:txBody>
      </p:sp>
      <p:grpSp>
        <p:nvGrpSpPr>
          <p:cNvPr name="Group 29" id="29"/>
          <p:cNvGrpSpPr/>
          <p:nvPr/>
        </p:nvGrpSpPr>
        <p:grpSpPr>
          <a:xfrm rot="0">
            <a:off x="9267825" y="7224712"/>
            <a:ext cx="8027784" cy="28575"/>
            <a:chOff x="0" y="0"/>
            <a:chExt cx="10703712" cy="38100"/>
          </a:xfrm>
        </p:grpSpPr>
        <p:sp>
          <p:nvSpPr>
            <p:cNvPr name="Freeform 30" id="30"/>
            <p:cNvSpPr/>
            <p:nvPr/>
          </p:nvSpPr>
          <p:spPr>
            <a:xfrm flipH="false" flipV="false" rot="0">
              <a:off x="0" y="0"/>
              <a:ext cx="10703687" cy="38100"/>
            </a:xfrm>
            <a:custGeom>
              <a:avLst/>
              <a:gdLst/>
              <a:ahLst/>
              <a:cxnLst/>
              <a:rect r="r" b="b" t="t" l="l"/>
              <a:pathLst>
                <a:path h="38100" w="10703687">
                  <a:moveTo>
                    <a:pt x="0" y="0"/>
                  </a:moveTo>
                  <a:lnTo>
                    <a:pt x="10703687" y="0"/>
                  </a:lnTo>
                  <a:lnTo>
                    <a:pt x="10703687" y="38100"/>
                  </a:lnTo>
                  <a:lnTo>
                    <a:pt x="0" y="38100"/>
                  </a:lnTo>
                  <a:close/>
                </a:path>
              </a:pathLst>
            </a:custGeom>
            <a:solidFill>
              <a:srgbClr val="438951"/>
            </a:solidFill>
            <a:ln w="12700">
              <a:solidFill>
                <a:srgbClr val="000000"/>
              </a:solidFill>
            </a:ln>
          </p:spPr>
        </p:sp>
      </p:grpSp>
      <p:sp>
        <p:nvSpPr>
          <p:cNvPr name="TextBox 31" id="31"/>
          <p:cNvSpPr txBox="true"/>
          <p:nvPr/>
        </p:nvSpPr>
        <p:spPr>
          <a:xfrm rot="0">
            <a:off x="9267825" y="7405840"/>
            <a:ext cx="4092026" cy="387696"/>
          </a:xfrm>
          <a:prstGeom prst="rect">
            <a:avLst/>
          </a:prstGeom>
        </p:spPr>
        <p:txBody>
          <a:bodyPr anchor="t" rtlCol="false" tIns="0" lIns="0" bIns="0" rIns="0">
            <a:spAutoFit/>
          </a:bodyPr>
          <a:lstStyle/>
          <a:p>
            <a:pPr algn="l">
              <a:lnSpc>
                <a:spcPts val="2999"/>
              </a:lnSpc>
            </a:pPr>
            <a:r>
              <a:rPr lang="en-US" sz="2437" b="true">
                <a:solidFill>
                  <a:srgbClr val="405449"/>
                </a:solidFill>
                <a:latin typeface="Fraunces Bold"/>
                <a:ea typeface="Fraunces Bold"/>
                <a:cs typeface="Fraunces Bold"/>
                <a:sym typeface="Fraunces Bold"/>
              </a:rPr>
              <a:t>Profil Utilisateur Complet</a:t>
            </a:r>
          </a:p>
        </p:txBody>
      </p:sp>
      <p:sp>
        <p:nvSpPr>
          <p:cNvPr name="TextBox 32" id="32"/>
          <p:cNvSpPr txBox="true"/>
          <p:nvPr/>
        </p:nvSpPr>
        <p:spPr>
          <a:xfrm rot="0">
            <a:off x="9267825" y="7847114"/>
            <a:ext cx="8027784" cy="1165225"/>
          </a:xfrm>
          <a:prstGeom prst="rect">
            <a:avLst/>
          </a:prstGeom>
        </p:spPr>
        <p:txBody>
          <a:bodyPr anchor="t" rtlCol="false" tIns="0" lIns="0" bIns="0" rIns="0">
            <a:spAutoFit/>
          </a:bodyPr>
          <a:lstStyle/>
          <a:p>
            <a:pPr algn="just">
              <a:lnSpc>
                <a:spcPts val="3125"/>
              </a:lnSpc>
            </a:pPr>
            <a:r>
              <a:rPr lang="en-US" sz="1937">
                <a:solidFill>
                  <a:srgbClr val="405449"/>
                </a:solidFill>
                <a:latin typeface="Arimo"/>
                <a:ea typeface="Arimo"/>
                <a:cs typeface="Arimo"/>
                <a:sym typeface="Arimo"/>
              </a:rPr>
              <a:t>Proposer un profil utilisateur enrichi avec des informations pertinentes (date de naissance, âge, ville, numéro de téléphone) pour une meilleure connaissance des joueurs.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a:ln w="12700">
              <a:solidFill>
                <a:srgbClr val="000000"/>
              </a:solidFill>
            </a:ln>
          </p:spPr>
        </p:sp>
      </p:grpSp>
      <p:sp>
        <p:nvSpPr>
          <p:cNvPr name="TextBox 6" id="6"/>
          <p:cNvSpPr txBox="true"/>
          <p:nvPr/>
        </p:nvSpPr>
        <p:spPr>
          <a:xfrm rot="0">
            <a:off x="708269" y="561680"/>
            <a:ext cx="7829998" cy="581920"/>
          </a:xfrm>
          <a:prstGeom prst="rect">
            <a:avLst/>
          </a:prstGeom>
        </p:spPr>
        <p:txBody>
          <a:bodyPr anchor="t" rtlCol="false" tIns="0" lIns="0" bIns="0" rIns="0">
            <a:spAutoFit/>
          </a:bodyPr>
          <a:lstStyle/>
          <a:p>
            <a:pPr algn="l">
              <a:lnSpc>
                <a:spcPts val="4312"/>
              </a:lnSpc>
            </a:pPr>
            <a:r>
              <a:rPr lang="en-US" sz="3437" b="true">
                <a:solidFill>
                  <a:srgbClr val="3B4540"/>
                </a:solidFill>
                <a:latin typeface="Fraunces Bold"/>
                <a:ea typeface="Fraunces Bold"/>
                <a:cs typeface="Fraunces Bold"/>
                <a:sym typeface="Fraunces Bold"/>
              </a:rPr>
              <a:t>Fonctionnalités Détaillées par Rôle</a:t>
            </a:r>
          </a:p>
        </p:txBody>
      </p:sp>
      <p:sp>
        <p:nvSpPr>
          <p:cNvPr name="TextBox 7" id="7"/>
          <p:cNvSpPr txBox="true"/>
          <p:nvPr/>
        </p:nvSpPr>
        <p:spPr>
          <a:xfrm rot="0">
            <a:off x="708269" y="1402404"/>
            <a:ext cx="16871452" cy="830436"/>
          </a:xfrm>
          <a:prstGeom prst="rect">
            <a:avLst/>
          </a:prstGeom>
        </p:spPr>
        <p:txBody>
          <a:bodyPr anchor="t" rtlCol="false" tIns="0" lIns="0" bIns="0" rIns="0">
            <a:spAutoFit/>
          </a:bodyPr>
          <a:lstStyle/>
          <a:p>
            <a:pPr algn="just">
              <a:lnSpc>
                <a:spcPts val="3301"/>
              </a:lnSpc>
            </a:pPr>
            <a:r>
              <a:rPr lang="en-US" sz="2074">
                <a:solidFill>
                  <a:srgbClr val="405449"/>
                </a:solidFill>
                <a:latin typeface="Arimo"/>
                <a:ea typeface="Arimo"/>
                <a:cs typeface="Arimo"/>
                <a:sym typeface="Arimo"/>
              </a:rPr>
              <a:t>L'application MatchUp se distingue par des fonctionnalités distinctes adaptées aux besoins spécifiques de chaque type d'utilisateur: le joueur et l'organisateur. Cette différenciation assure une expérience pertinente et optimisée pour chacun.</a:t>
            </a:r>
          </a:p>
        </p:txBody>
      </p:sp>
      <p:sp>
        <p:nvSpPr>
          <p:cNvPr name="TextBox 8" id="8"/>
          <p:cNvSpPr txBox="true"/>
          <p:nvPr/>
        </p:nvSpPr>
        <p:spPr>
          <a:xfrm rot="0">
            <a:off x="708269" y="3487438"/>
            <a:ext cx="2920454" cy="475933"/>
          </a:xfrm>
          <a:prstGeom prst="rect">
            <a:avLst/>
          </a:prstGeom>
        </p:spPr>
        <p:txBody>
          <a:bodyPr anchor="t" rtlCol="false" tIns="0" lIns="0" bIns="0" rIns="0">
            <a:spAutoFit/>
          </a:bodyPr>
          <a:lstStyle/>
          <a:p>
            <a:pPr algn="l">
              <a:lnSpc>
                <a:spcPts val="3812"/>
              </a:lnSpc>
            </a:pPr>
            <a:r>
              <a:rPr lang="en-US" sz="3049" b="true">
                <a:solidFill>
                  <a:srgbClr val="3B4540"/>
                </a:solidFill>
                <a:latin typeface="Fraunces Bold"/>
                <a:ea typeface="Fraunces Bold"/>
                <a:cs typeface="Fraunces Bold"/>
                <a:sym typeface="Fraunces Bold"/>
              </a:rPr>
              <a:t>Rôle du Joueur</a:t>
            </a:r>
          </a:p>
        </p:txBody>
      </p:sp>
      <p:sp>
        <p:nvSpPr>
          <p:cNvPr name="TextBox 9" id="9"/>
          <p:cNvSpPr txBox="true"/>
          <p:nvPr/>
        </p:nvSpPr>
        <p:spPr>
          <a:xfrm rot="0">
            <a:off x="708269" y="4239596"/>
            <a:ext cx="8219780" cy="659794"/>
          </a:xfrm>
          <a:prstGeom prst="rect">
            <a:avLst/>
          </a:prstGeom>
        </p:spPr>
        <p:txBody>
          <a:bodyPr anchor="t" rtlCol="false" tIns="0" lIns="0" bIns="0" rIns="0">
            <a:spAutoFit/>
          </a:bodyPr>
          <a:lstStyle/>
          <a:p>
            <a:pPr algn="just" marL="252611" indent="-126305" lvl="1">
              <a:lnSpc>
                <a:spcPts val="2664"/>
              </a:lnSpc>
              <a:buFont typeface="Arial"/>
              <a:buChar char="•"/>
            </a:pPr>
            <a:r>
              <a:rPr lang="en-US" b="true" sz="1674">
                <a:solidFill>
                  <a:srgbClr val="405449"/>
                </a:solidFill>
                <a:latin typeface="Arimo Bold"/>
                <a:ea typeface="Arimo Bold"/>
                <a:cs typeface="Arimo Bold"/>
                <a:sym typeface="Arimo Bold"/>
              </a:rPr>
              <a:t>Recherche et Consultation de Matchs:</a:t>
            </a:r>
            <a:r>
              <a:rPr lang="en-US" sz="1674">
                <a:solidFill>
                  <a:srgbClr val="405449"/>
                </a:solidFill>
                <a:latin typeface="Arimo"/>
                <a:ea typeface="Arimo"/>
                <a:cs typeface="Arimo"/>
                <a:sym typeface="Arimo"/>
              </a:rPr>
              <a:t> Naviguer dans une liste de matchs disponibles, filtrer par date, lieu, etc.</a:t>
            </a:r>
          </a:p>
        </p:txBody>
      </p:sp>
      <p:sp>
        <p:nvSpPr>
          <p:cNvPr name="TextBox 10" id="10"/>
          <p:cNvSpPr txBox="true"/>
          <p:nvPr/>
        </p:nvSpPr>
        <p:spPr>
          <a:xfrm rot="0">
            <a:off x="708269" y="4868246"/>
            <a:ext cx="8219780" cy="659794"/>
          </a:xfrm>
          <a:prstGeom prst="rect">
            <a:avLst/>
          </a:prstGeom>
        </p:spPr>
        <p:txBody>
          <a:bodyPr anchor="t" rtlCol="false" tIns="0" lIns="0" bIns="0" rIns="0">
            <a:spAutoFit/>
          </a:bodyPr>
          <a:lstStyle/>
          <a:p>
            <a:pPr algn="just" marL="252611" indent="-126305" lvl="1">
              <a:lnSpc>
                <a:spcPts val="2664"/>
              </a:lnSpc>
              <a:buFont typeface="Arial"/>
              <a:buChar char="•"/>
            </a:pPr>
            <a:r>
              <a:rPr lang="en-US" b="true" sz="1674">
                <a:solidFill>
                  <a:srgbClr val="405449"/>
                </a:solidFill>
                <a:latin typeface="Arimo Bold"/>
                <a:ea typeface="Arimo Bold"/>
                <a:cs typeface="Arimo Bold"/>
                <a:sym typeface="Arimo Bold"/>
              </a:rPr>
              <a:t>Demande de Participation:</a:t>
            </a:r>
            <a:r>
              <a:rPr lang="en-US" sz="1674">
                <a:solidFill>
                  <a:srgbClr val="405449"/>
                </a:solidFill>
                <a:latin typeface="Arimo"/>
                <a:ea typeface="Arimo"/>
                <a:cs typeface="Arimo"/>
                <a:sym typeface="Arimo"/>
              </a:rPr>
              <a:t> Envoyer une demande pour rejoindre un match avec la possibilité de suivre le statut (en attente, accepté, refusé).</a:t>
            </a:r>
          </a:p>
        </p:txBody>
      </p:sp>
      <p:sp>
        <p:nvSpPr>
          <p:cNvPr name="TextBox 11" id="11"/>
          <p:cNvSpPr txBox="true"/>
          <p:nvPr/>
        </p:nvSpPr>
        <p:spPr>
          <a:xfrm rot="0">
            <a:off x="708269" y="5496896"/>
            <a:ext cx="8219780" cy="659794"/>
          </a:xfrm>
          <a:prstGeom prst="rect">
            <a:avLst/>
          </a:prstGeom>
        </p:spPr>
        <p:txBody>
          <a:bodyPr anchor="t" rtlCol="false" tIns="0" lIns="0" bIns="0" rIns="0">
            <a:spAutoFit/>
          </a:bodyPr>
          <a:lstStyle/>
          <a:p>
            <a:pPr algn="just" marL="252611" indent="-126305" lvl="1">
              <a:lnSpc>
                <a:spcPts val="2664"/>
              </a:lnSpc>
              <a:buFont typeface="Arial"/>
              <a:buChar char="•"/>
            </a:pPr>
            <a:r>
              <a:rPr lang="en-US" b="true" sz="1674">
                <a:solidFill>
                  <a:srgbClr val="405449"/>
                </a:solidFill>
                <a:latin typeface="Arimo Bold"/>
                <a:ea typeface="Arimo Bold"/>
                <a:cs typeface="Arimo Bold"/>
                <a:sym typeface="Arimo Bold"/>
              </a:rPr>
              <a:t>Accès au Chat du Match:</a:t>
            </a:r>
            <a:r>
              <a:rPr lang="en-US" sz="1674">
                <a:solidFill>
                  <a:srgbClr val="405449"/>
                </a:solidFill>
                <a:latin typeface="Arimo"/>
                <a:ea typeface="Arimo"/>
                <a:cs typeface="Arimo"/>
                <a:sym typeface="Arimo"/>
              </a:rPr>
              <a:t> Participer aux discussions une fois la participation acceptée.</a:t>
            </a:r>
          </a:p>
        </p:txBody>
      </p:sp>
      <p:sp>
        <p:nvSpPr>
          <p:cNvPr name="TextBox 12" id="12"/>
          <p:cNvSpPr txBox="true"/>
          <p:nvPr/>
        </p:nvSpPr>
        <p:spPr>
          <a:xfrm rot="0">
            <a:off x="708269" y="6759333"/>
            <a:ext cx="8219780" cy="659794"/>
          </a:xfrm>
          <a:prstGeom prst="rect">
            <a:avLst/>
          </a:prstGeom>
        </p:spPr>
        <p:txBody>
          <a:bodyPr anchor="t" rtlCol="false" tIns="0" lIns="0" bIns="0" rIns="0">
            <a:spAutoFit/>
          </a:bodyPr>
          <a:lstStyle/>
          <a:p>
            <a:pPr algn="just" marL="252611" indent="-126305" lvl="1">
              <a:lnSpc>
                <a:spcPts val="2664"/>
              </a:lnSpc>
              <a:buFont typeface="Arial"/>
              <a:buChar char="•"/>
            </a:pPr>
            <a:r>
              <a:rPr lang="en-US" b="true" sz="1674">
                <a:solidFill>
                  <a:srgbClr val="405449"/>
                </a:solidFill>
                <a:latin typeface="Arimo Bold"/>
                <a:ea typeface="Arimo Bold"/>
                <a:cs typeface="Arimo Bold"/>
                <a:sym typeface="Arimo Bold"/>
              </a:rPr>
              <a:t>Gestion du Profil:</a:t>
            </a:r>
            <a:r>
              <a:rPr lang="en-US" sz="1674">
                <a:solidFill>
                  <a:srgbClr val="405449"/>
                </a:solidFill>
                <a:latin typeface="Arimo"/>
                <a:ea typeface="Arimo"/>
                <a:cs typeface="Arimo"/>
                <a:sym typeface="Arimo"/>
              </a:rPr>
              <a:t> Mettre à jour les informations personnelles, y compris la photo de profil, la ville, et le numéro de téléphone.</a:t>
            </a:r>
          </a:p>
        </p:txBody>
      </p:sp>
      <p:sp>
        <p:nvSpPr>
          <p:cNvPr name="TextBox 13" id="13"/>
          <p:cNvSpPr txBox="true"/>
          <p:nvPr/>
        </p:nvSpPr>
        <p:spPr>
          <a:xfrm rot="0">
            <a:off x="708269" y="6128115"/>
            <a:ext cx="8219780" cy="659794"/>
          </a:xfrm>
          <a:prstGeom prst="rect">
            <a:avLst/>
          </a:prstGeom>
        </p:spPr>
        <p:txBody>
          <a:bodyPr anchor="t" rtlCol="false" tIns="0" lIns="0" bIns="0" rIns="0">
            <a:spAutoFit/>
          </a:bodyPr>
          <a:lstStyle/>
          <a:p>
            <a:pPr algn="just" marL="252611" indent="-126305" lvl="1">
              <a:lnSpc>
                <a:spcPts val="2664"/>
              </a:lnSpc>
              <a:buFont typeface="Arial"/>
              <a:buChar char="•"/>
            </a:pPr>
            <a:r>
              <a:rPr lang="en-US" b="true" sz="1674">
                <a:solidFill>
                  <a:srgbClr val="405449"/>
                </a:solidFill>
                <a:latin typeface="Arimo Bold"/>
                <a:ea typeface="Arimo Bold"/>
                <a:cs typeface="Arimo Bold"/>
                <a:sym typeface="Arimo Bold"/>
              </a:rPr>
              <a:t>Historique des Matchs:</a:t>
            </a:r>
            <a:r>
              <a:rPr lang="en-US" sz="1674">
                <a:solidFill>
                  <a:srgbClr val="405449"/>
                </a:solidFill>
                <a:latin typeface="Arimo"/>
                <a:ea typeface="Arimo"/>
                <a:cs typeface="Arimo"/>
                <a:sym typeface="Arimo"/>
              </a:rPr>
              <a:t> Visualiser les matchs passés et futurs auxquels le joueur a participé ou est inscrit.</a:t>
            </a:r>
          </a:p>
        </p:txBody>
      </p:sp>
      <p:sp>
        <p:nvSpPr>
          <p:cNvPr name="TextBox 14" id="14"/>
          <p:cNvSpPr txBox="true"/>
          <p:nvPr/>
        </p:nvSpPr>
        <p:spPr>
          <a:xfrm rot="0">
            <a:off x="9369476" y="3487438"/>
            <a:ext cx="4318695" cy="475933"/>
          </a:xfrm>
          <a:prstGeom prst="rect">
            <a:avLst/>
          </a:prstGeom>
        </p:spPr>
        <p:txBody>
          <a:bodyPr anchor="t" rtlCol="false" tIns="0" lIns="0" bIns="0" rIns="0">
            <a:spAutoFit/>
          </a:bodyPr>
          <a:lstStyle/>
          <a:p>
            <a:pPr algn="l">
              <a:lnSpc>
                <a:spcPts val="3812"/>
              </a:lnSpc>
            </a:pPr>
            <a:r>
              <a:rPr lang="en-US" sz="3049" b="true">
                <a:solidFill>
                  <a:srgbClr val="3B4540"/>
                </a:solidFill>
                <a:latin typeface="Fraunces Bold"/>
                <a:ea typeface="Fraunces Bold"/>
                <a:cs typeface="Fraunces Bold"/>
                <a:sym typeface="Fraunces Bold"/>
              </a:rPr>
              <a:t>Rôle de l'Organisateur</a:t>
            </a:r>
          </a:p>
        </p:txBody>
      </p:sp>
      <p:sp>
        <p:nvSpPr>
          <p:cNvPr name="TextBox 15" id="15"/>
          <p:cNvSpPr txBox="true"/>
          <p:nvPr/>
        </p:nvSpPr>
        <p:spPr>
          <a:xfrm rot="0">
            <a:off x="9359941" y="4239596"/>
            <a:ext cx="8219780" cy="659794"/>
          </a:xfrm>
          <a:prstGeom prst="rect">
            <a:avLst/>
          </a:prstGeom>
        </p:spPr>
        <p:txBody>
          <a:bodyPr anchor="t" rtlCol="false" tIns="0" lIns="0" bIns="0" rIns="0">
            <a:spAutoFit/>
          </a:bodyPr>
          <a:lstStyle/>
          <a:p>
            <a:pPr algn="just" marL="252611" indent="-126305" lvl="1">
              <a:lnSpc>
                <a:spcPts val="2664"/>
              </a:lnSpc>
              <a:buFont typeface="Arial"/>
              <a:buChar char="•"/>
            </a:pPr>
            <a:r>
              <a:rPr lang="en-US" b="true" sz="1674">
                <a:solidFill>
                  <a:srgbClr val="405449"/>
                </a:solidFill>
                <a:latin typeface="Arimo Bold"/>
                <a:ea typeface="Arimo Bold"/>
                <a:cs typeface="Arimo Bold"/>
                <a:sym typeface="Arimo Bold"/>
              </a:rPr>
              <a:t>Création de Matchs:</a:t>
            </a:r>
            <a:r>
              <a:rPr lang="en-US" sz="1674">
                <a:solidFill>
                  <a:srgbClr val="405449"/>
                </a:solidFill>
                <a:latin typeface="Arimo"/>
                <a:ea typeface="Arimo"/>
                <a:cs typeface="Arimo"/>
                <a:sym typeface="Arimo"/>
              </a:rPr>
              <a:t> Définir tous les paramètres d'un nouveau match (date, heure, lieu, nombre de joueurs, description).</a:t>
            </a:r>
          </a:p>
        </p:txBody>
      </p:sp>
      <p:sp>
        <p:nvSpPr>
          <p:cNvPr name="TextBox 16" id="16"/>
          <p:cNvSpPr txBox="true"/>
          <p:nvPr/>
        </p:nvSpPr>
        <p:spPr>
          <a:xfrm rot="0">
            <a:off x="9359941" y="4868246"/>
            <a:ext cx="8219780" cy="659794"/>
          </a:xfrm>
          <a:prstGeom prst="rect">
            <a:avLst/>
          </a:prstGeom>
        </p:spPr>
        <p:txBody>
          <a:bodyPr anchor="t" rtlCol="false" tIns="0" lIns="0" bIns="0" rIns="0">
            <a:spAutoFit/>
          </a:bodyPr>
          <a:lstStyle/>
          <a:p>
            <a:pPr algn="just" marL="252611" indent="-126305" lvl="1">
              <a:lnSpc>
                <a:spcPts val="2664"/>
              </a:lnSpc>
              <a:buFont typeface="Arial"/>
              <a:buChar char="•"/>
            </a:pPr>
            <a:r>
              <a:rPr lang="en-US" b="true" sz="1674">
                <a:solidFill>
                  <a:srgbClr val="405449"/>
                </a:solidFill>
                <a:latin typeface="Arimo Bold"/>
                <a:ea typeface="Arimo Bold"/>
                <a:cs typeface="Arimo Bold"/>
                <a:sym typeface="Arimo Bold"/>
              </a:rPr>
              <a:t>Gestion des Demandes:</a:t>
            </a:r>
            <a:r>
              <a:rPr lang="en-US" sz="1674">
                <a:solidFill>
                  <a:srgbClr val="405449"/>
                </a:solidFill>
                <a:latin typeface="Arimo"/>
                <a:ea typeface="Arimo"/>
                <a:cs typeface="Arimo"/>
                <a:sym typeface="Arimo"/>
              </a:rPr>
              <a:t> Recevoir et traiter les demandes de participation (accepter, refuser) et gérer la liste d'attente.</a:t>
            </a:r>
          </a:p>
        </p:txBody>
      </p:sp>
      <p:sp>
        <p:nvSpPr>
          <p:cNvPr name="TextBox 17" id="17"/>
          <p:cNvSpPr txBox="true"/>
          <p:nvPr/>
        </p:nvSpPr>
        <p:spPr>
          <a:xfrm rot="0">
            <a:off x="9359941" y="5496896"/>
            <a:ext cx="8219780" cy="659794"/>
          </a:xfrm>
          <a:prstGeom prst="rect">
            <a:avLst/>
          </a:prstGeom>
        </p:spPr>
        <p:txBody>
          <a:bodyPr anchor="t" rtlCol="false" tIns="0" lIns="0" bIns="0" rIns="0">
            <a:spAutoFit/>
          </a:bodyPr>
          <a:lstStyle/>
          <a:p>
            <a:pPr algn="just" marL="252611" indent="-126305" lvl="1">
              <a:lnSpc>
                <a:spcPts val="2664"/>
              </a:lnSpc>
              <a:buFont typeface="Arial"/>
              <a:buChar char="•"/>
            </a:pPr>
            <a:r>
              <a:rPr lang="en-US" b="true" sz="1674">
                <a:solidFill>
                  <a:srgbClr val="405449"/>
                </a:solidFill>
                <a:latin typeface="Arimo Bold"/>
                <a:ea typeface="Arimo Bold"/>
                <a:cs typeface="Arimo Bold"/>
                <a:sym typeface="Arimo Bold"/>
              </a:rPr>
              <a:t>Contrôle des Participants:</a:t>
            </a:r>
            <a:r>
              <a:rPr lang="en-US" sz="1674">
                <a:solidFill>
                  <a:srgbClr val="405449"/>
                </a:solidFill>
                <a:latin typeface="Arimo"/>
                <a:ea typeface="Arimo"/>
                <a:cs typeface="Arimo"/>
                <a:sym typeface="Arimo"/>
              </a:rPr>
              <a:t> Exclure un joueur d'un match (kick) si nécessaire, avec des implications sur son accès au chat et sa capacité à rejoindre.</a:t>
            </a:r>
          </a:p>
        </p:txBody>
      </p:sp>
      <p:sp>
        <p:nvSpPr>
          <p:cNvPr name="TextBox 18" id="18"/>
          <p:cNvSpPr txBox="true"/>
          <p:nvPr/>
        </p:nvSpPr>
        <p:spPr>
          <a:xfrm rot="0">
            <a:off x="9359941" y="6125546"/>
            <a:ext cx="8219780" cy="659794"/>
          </a:xfrm>
          <a:prstGeom prst="rect">
            <a:avLst/>
          </a:prstGeom>
        </p:spPr>
        <p:txBody>
          <a:bodyPr anchor="t" rtlCol="false" tIns="0" lIns="0" bIns="0" rIns="0">
            <a:spAutoFit/>
          </a:bodyPr>
          <a:lstStyle/>
          <a:p>
            <a:pPr algn="just" marL="252611" indent="-126305" lvl="1">
              <a:lnSpc>
                <a:spcPts val="2664"/>
              </a:lnSpc>
              <a:buFont typeface="Arial"/>
              <a:buChar char="•"/>
            </a:pPr>
            <a:r>
              <a:rPr lang="en-US" b="true" sz="1674">
                <a:solidFill>
                  <a:srgbClr val="405449"/>
                </a:solidFill>
                <a:latin typeface="Arimo Bold"/>
                <a:ea typeface="Arimo Bold"/>
                <a:cs typeface="Arimo Bold"/>
                <a:sym typeface="Arimo Bold"/>
              </a:rPr>
              <a:t>Communication Facilitée:</a:t>
            </a:r>
            <a:r>
              <a:rPr lang="en-US" sz="1674">
                <a:solidFill>
                  <a:srgbClr val="405449"/>
                </a:solidFill>
                <a:latin typeface="Arimo"/>
                <a:ea typeface="Arimo"/>
                <a:cs typeface="Arimo"/>
                <a:sym typeface="Arimo"/>
              </a:rPr>
              <a:t> Utiliser le chat pour transmettre des informations importantes à tous les participants du match.</a:t>
            </a:r>
          </a:p>
        </p:txBody>
      </p:sp>
      <p:sp>
        <p:nvSpPr>
          <p:cNvPr name="TextBox 19" id="19"/>
          <p:cNvSpPr txBox="true"/>
          <p:nvPr/>
        </p:nvSpPr>
        <p:spPr>
          <a:xfrm rot="0">
            <a:off x="9359941" y="6754196"/>
            <a:ext cx="8219780" cy="659794"/>
          </a:xfrm>
          <a:prstGeom prst="rect">
            <a:avLst/>
          </a:prstGeom>
        </p:spPr>
        <p:txBody>
          <a:bodyPr anchor="t" rtlCol="false" tIns="0" lIns="0" bIns="0" rIns="0">
            <a:spAutoFit/>
          </a:bodyPr>
          <a:lstStyle/>
          <a:p>
            <a:pPr algn="just" marL="252611" indent="-126305" lvl="1">
              <a:lnSpc>
                <a:spcPts val="2664"/>
              </a:lnSpc>
              <a:buFont typeface="Arial"/>
              <a:buChar char="•"/>
            </a:pPr>
            <a:r>
              <a:rPr lang="en-US" b="true" sz="1674">
                <a:solidFill>
                  <a:srgbClr val="405449"/>
                </a:solidFill>
                <a:latin typeface="Arimo Bold"/>
                <a:ea typeface="Arimo Bold"/>
                <a:cs typeface="Arimo Bold"/>
                <a:sym typeface="Arimo Bold"/>
              </a:rPr>
              <a:t>Suivi en Temps Réel:</a:t>
            </a:r>
            <a:r>
              <a:rPr lang="en-US" sz="1674">
                <a:solidFill>
                  <a:srgbClr val="405449"/>
                </a:solidFill>
                <a:latin typeface="Arimo"/>
                <a:ea typeface="Arimo"/>
                <a:cs typeface="Arimo"/>
                <a:sym typeface="Arimo"/>
              </a:rPr>
              <a:t> Avoir une vue d'ensemble des matchs qu'il organise, du nombre de places restantes et du statut des inscrits.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a:ln w="12700">
              <a:solidFill>
                <a:srgbClr val="000000"/>
              </a:solidFill>
            </a:ln>
          </p:spPr>
        </p:sp>
      </p:grpSp>
      <p:sp>
        <p:nvSpPr>
          <p:cNvPr name="TextBox 6" id="6"/>
          <p:cNvSpPr txBox="true"/>
          <p:nvPr/>
        </p:nvSpPr>
        <p:spPr>
          <a:xfrm rot="0">
            <a:off x="807396" y="840734"/>
            <a:ext cx="9230620" cy="649786"/>
          </a:xfrm>
          <a:prstGeom prst="rect">
            <a:avLst/>
          </a:prstGeom>
        </p:spPr>
        <p:txBody>
          <a:bodyPr anchor="t" rtlCol="false" tIns="0" lIns="0" bIns="0" rIns="0">
            <a:spAutoFit/>
          </a:bodyPr>
          <a:lstStyle/>
          <a:p>
            <a:pPr algn="l">
              <a:lnSpc>
                <a:spcPts val="4937"/>
              </a:lnSpc>
            </a:pPr>
            <a:r>
              <a:rPr lang="en-US" sz="3937" b="true">
                <a:solidFill>
                  <a:srgbClr val="3B4540"/>
                </a:solidFill>
                <a:latin typeface="Fraunces Bold"/>
                <a:ea typeface="Fraunces Bold"/>
                <a:cs typeface="Fraunces Bold"/>
                <a:sym typeface="Fraunces Bold"/>
              </a:rPr>
              <a:t>Architecture Technique de MatchUp</a:t>
            </a:r>
          </a:p>
        </p:txBody>
      </p:sp>
      <p:sp>
        <p:nvSpPr>
          <p:cNvPr name="TextBox 7" id="7"/>
          <p:cNvSpPr txBox="true"/>
          <p:nvPr/>
        </p:nvSpPr>
        <p:spPr>
          <a:xfrm rot="0">
            <a:off x="807396" y="1827457"/>
            <a:ext cx="16673217" cy="301625"/>
          </a:xfrm>
          <a:prstGeom prst="rect">
            <a:avLst/>
          </a:prstGeom>
        </p:spPr>
        <p:txBody>
          <a:bodyPr anchor="t" rtlCol="false" tIns="0" lIns="0" bIns="0" rIns="0">
            <a:spAutoFit/>
          </a:bodyPr>
          <a:lstStyle/>
          <a:p>
            <a:pPr algn="just">
              <a:lnSpc>
                <a:spcPts val="2499"/>
              </a:lnSpc>
            </a:pPr>
            <a:r>
              <a:rPr lang="en-US" sz="1562">
                <a:solidFill>
                  <a:srgbClr val="405449"/>
                </a:solidFill>
                <a:latin typeface="Arimo"/>
                <a:ea typeface="Arimo"/>
                <a:cs typeface="Arimo"/>
                <a:sym typeface="Arimo"/>
              </a:rPr>
              <a:t>L'architecture de MatchUp est conçue pour la robustesse, la scalabilité et une excellente expérience développeur, tirant parti de technologies modernes et éprouvées.</a:t>
            </a:r>
          </a:p>
        </p:txBody>
      </p:sp>
      <p:sp>
        <p:nvSpPr>
          <p:cNvPr name="TextBox 8" id="8"/>
          <p:cNvSpPr txBox="true"/>
          <p:nvPr/>
        </p:nvSpPr>
        <p:spPr>
          <a:xfrm rot="0">
            <a:off x="3501180" y="2424855"/>
            <a:ext cx="2523230" cy="334270"/>
          </a:xfrm>
          <a:prstGeom prst="rect">
            <a:avLst/>
          </a:prstGeom>
        </p:spPr>
        <p:txBody>
          <a:bodyPr anchor="t" rtlCol="false" tIns="0" lIns="0" bIns="0" rIns="0">
            <a:spAutoFit/>
          </a:bodyPr>
          <a:lstStyle/>
          <a:p>
            <a:pPr algn="r">
              <a:lnSpc>
                <a:spcPts val="2437"/>
              </a:lnSpc>
            </a:pPr>
            <a:r>
              <a:rPr lang="en-US" sz="1937" b="true">
                <a:solidFill>
                  <a:srgbClr val="405449"/>
                </a:solidFill>
                <a:latin typeface="Fraunces Bold"/>
                <a:ea typeface="Fraunces Bold"/>
                <a:cs typeface="Fraunces Bold"/>
                <a:sym typeface="Fraunces Bold"/>
              </a:rPr>
              <a:t>UI/UX Flutter</a:t>
            </a:r>
          </a:p>
        </p:txBody>
      </p:sp>
      <p:sp>
        <p:nvSpPr>
          <p:cNvPr name="TextBox 9" id="9"/>
          <p:cNvSpPr txBox="true"/>
          <p:nvPr/>
        </p:nvSpPr>
        <p:spPr>
          <a:xfrm rot="0">
            <a:off x="807396" y="2813447"/>
            <a:ext cx="5217023" cy="1244600"/>
          </a:xfrm>
          <a:prstGeom prst="rect">
            <a:avLst/>
          </a:prstGeom>
        </p:spPr>
        <p:txBody>
          <a:bodyPr anchor="t" rtlCol="false" tIns="0" lIns="0" bIns="0" rIns="0">
            <a:spAutoFit/>
          </a:bodyPr>
          <a:lstStyle/>
          <a:p>
            <a:pPr algn="just">
              <a:lnSpc>
                <a:spcPts val="2499"/>
              </a:lnSpc>
            </a:pPr>
            <a:r>
              <a:rPr lang="en-US" sz="1562">
                <a:solidFill>
                  <a:srgbClr val="405449"/>
                </a:solidFill>
                <a:latin typeface="Arimo"/>
                <a:ea typeface="Arimo"/>
                <a:cs typeface="Arimo"/>
                <a:sym typeface="Arimo"/>
              </a:rPr>
              <a:t>Framework UI cross-platforme permettant de construire des interfaces natives sur iOS, Android et Web à partir d'un seul code source. Utilisation de widgets déclaratifs pour des interfaces riches et performantes.</a:t>
            </a:r>
          </a:p>
        </p:txBody>
      </p:sp>
      <p:sp>
        <p:nvSpPr>
          <p:cNvPr name="Freeform 10" id="10" descr="preencoded.png"/>
          <p:cNvSpPr/>
          <p:nvPr/>
        </p:nvSpPr>
        <p:spPr>
          <a:xfrm flipH="false" flipV="false" rot="0">
            <a:off x="6226226" y="2742752"/>
            <a:ext cx="5835548" cy="5835548"/>
          </a:xfrm>
          <a:custGeom>
            <a:avLst/>
            <a:gdLst/>
            <a:ahLst/>
            <a:cxnLst/>
            <a:rect r="r" b="b" t="t" l="l"/>
            <a:pathLst>
              <a:path h="5835548" w="5835548">
                <a:moveTo>
                  <a:pt x="0" y="0"/>
                </a:moveTo>
                <a:lnTo>
                  <a:pt x="5835548" y="0"/>
                </a:lnTo>
                <a:lnTo>
                  <a:pt x="5835548" y="5835549"/>
                </a:lnTo>
                <a:lnTo>
                  <a:pt x="0" y="5835549"/>
                </a:lnTo>
                <a:lnTo>
                  <a:pt x="0" y="0"/>
                </a:lnTo>
                <a:close/>
              </a:path>
            </a:pathLst>
          </a:custGeom>
          <a:blipFill>
            <a:blip r:embed="rId3"/>
            <a:stretch>
              <a:fillRect l="0" t="0" r="0" b="0"/>
            </a:stretch>
          </a:blipFill>
        </p:spPr>
      </p:sp>
      <p:sp>
        <p:nvSpPr>
          <p:cNvPr name="Freeform 11" id="11" descr="preencoded.png"/>
          <p:cNvSpPr/>
          <p:nvPr/>
        </p:nvSpPr>
        <p:spPr>
          <a:xfrm flipH="false" flipV="false" rot="0">
            <a:off x="8290922" y="3591373"/>
            <a:ext cx="301971" cy="301971"/>
          </a:xfrm>
          <a:custGeom>
            <a:avLst/>
            <a:gdLst/>
            <a:ahLst/>
            <a:cxnLst/>
            <a:rect r="r" b="b" t="t" l="l"/>
            <a:pathLst>
              <a:path h="301971" w="301971">
                <a:moveTo>
                  <a:pt x="0" y="0"/>
                </a:moveTo>
                <a:lnTo>
                  <a:pt x="301971" y="0"/>
                </a:lnTo>
                <a:lnTo>
                  <a:pt x="301971" y="301971"/>
                </a:lnTo>
                <a:lnTo>
                  <a:pt x="0" y="301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2263590" y="2586190"/>
            <a:ext cx="3030588" cy="334270"/>
          </a:xfrm>
          <a:prstGeom prst="rect">
            <a:avLst/>
          </a:prstGeom>
        </p:spPr>
        <p:txBody>
          <a:bodyPr anchor="t" rtlCol="false" tIns="0" lIns="0" bIns="0" rIns="0">
            <a:spAutoFit/>
          </a:bodyPr>
          <a:lstStyle/>
          <a:p>
            <a:pPr algn="l">
              <a:lnSpc>
                <a:spcPts val="2437"/>
              </a:lnSpc>
            </a:pPr>
            <a:r>
              <a:rPr lang="en-US" sz="1937" b="true">
                <a:solidFill>
                  <a:srgbClr val="405449"/>
                </a:solidFill>
                <a:latin typeface="Fraunces Bold"/>
                <a:ea typeface="Fraunces Bold"/>
                <a:cs typeface="Fraunces Bold"/>
                <a:sym typeface="Fraunces Bold"/>
              </a:rPr>
              <a:t>Gestion d'État Riverpod</a:t>
            </a:r>
          </a:p>
        </p:txBody>
      </p:sp>
      <p:sp>
        <p:nvSpPr>
          <p:cNvPr name="TextBox 13" id="13"/>
          <p:cNvSpPr txBox="true"/>
          <p:nvPr/>
        </p:nvSpPr>
        <p:spPr>
          <a:xfrm rot="0">
            <a:off x="12263590" y="2974772"/>
            <a:ext cx="5217023" cy="1244600"/>
          </a:xfrm>
          <a:prstGeom prst="rect">
            <a:avLst/>
          </a:prstGeom>
        </p:spPr>
        <p:txBody>
          <a:bodyPr anchor="t" rtlCol="false" tIns="0" lIns="0" bIns="0" rIns="0">
            <a:spAutoFit/>
          </a:bodyPr>
          <a:lstStyle/>
          <a:p>
            <a:pPr algn="just">
              <a:lnSpc>
                <a:spcPts val="2499"/>
              </a:lnSpc>
            </a:pPr>
            <a:r>
              <a:rPr lang="en-US" sz="1562">
                <a:solidFill>
                  <a:srgbClr val="405449"/>
                </a:solidFill>
                <a:latin typeface="Arimo"/>
                <a:ea typeface="Arimo"/>
                <a:cs typeface="Arimo"/>
                <a:sym typeface="Arimo"/>
              </a:rPr>
              <a:t>Une solution de gestion d'état basée sur Provider, optimisée pour Flutter. Elle offre une approche sûre, testable et flexible pour gérer les données et la logique métier à travers l'application.</a:t>
            </a:r>
          </a:p>
        </p:txBody>
      </p:sp>
      <p:sp>
        <p:nvSpPr>
          <p:cNvPr name="Freeform 14" id="14" descr="preencoded.png"/>
          <p:cNvSpPr/>
          <p:nvPr/>
        </p:nvSpPr>
        <p:spPr>
          <a:xfrm flipH="false" flipV="false" rot="0">
            <a:off x="6226226" y="2742752"/>
            <a:ext cx="5835548" cy="5835548"/>
          </a:xfrm>
          <a:custGeom>
            <a:avLst/>
            <a:gdLst/>
            <a:ahLst/>
            <a:cxnLst/>
            <a:rect r="r" b="b" t="t" l="l"/>
            <a:pathLst>
              <a:path h="5835548" w="5835548">
                <a:moveTo>
                  <a:pt x="0" y="0"/>
                </a:moveTo>
                <a:lnTo>
                  <a:pt x="5835548" y="0"/>
                </a:lnTo>
                <a:lnTo>
                  <a:pt x="5835548" y="5835549"/>
                </a:lnTo>
                <a:lnTo>
                  <a:pt x="0" y="5835549"/>
                </a:lnTo>
                <a:lnTo>
                  <a:pt x="0" y="0"/>
                </a:lnTo>
                <a:close/>
              </a:path>
            </a:pathLst>
          </a:custGeom>
          <a:blipFill>
            <a:blip r:embed="rId6"/>
            <a:stretch>
              <a:fillRect l="0" t="0" r="0" b="0"/>
            </a:stretch>
          </a:blipFill>
        </p:spPr>
      </p:sp>
      <p:sp>
        <p:nvSpPr>
          <p:cNvPr name="Freeform 15" id="15" descr="preencoded.png"/>
          <p:cNvSpPr/>
          <p:nvPr/>
        </p:nvSpPr>
        <p:spPr>
          <a:xfrm flipH="false" flipV="false" rot="0">
            <a:off x="10302926" y="3942455"/>
            <a:ext cx="301971" cy="301971"/>
          </a:xfrm>
          <a:custGeom>
            <a:avLst/>
            <a:gdLst/>
            <a:ahLst/>
            <a:cxnLst/>
            <a:rect r="r" b="b" t="t" l="l"/>
            <a:pathLst>
              <a:path h="301971" w="301971">
                <a:moveTo>
                  <a:pt x="0" y="0"/>
                </a:moveTo>
                <a:lnTo>
                  <a:pt x="301971" y="0"/>
                </a:lnTo>
                <a:lnTo>
                  <a:pt x="301971" y="301971"/>
                </a:lnTo>
                <a:lnTo>
                  <a:pt x="0" y="301971"/>
                </a:lnTo>
                <a:lnTo>
                  <a:pt x="0" y="0"/>
                </a:lnTo>
                <a:close/>
              </a:path>
            </a:pathLst>
          </a:custGeom>
          <a:blipFill>
            <a:blip r:embed="rId7">
              <a:extLst>
                <a:ext uri="{96DAC541-7B7A-43D3-8B79-37D633B846F1}">
                  <asvg:svgBlip xmlns:asvg="http://schemas.microsoft.com/office/drawing/2016/SVG/main" r:embed="rId8"/>
                </a:ext>
              </a:extLst>
            </a:blip>
            <a:stretch>
              <a:fillRect l="-1561" t="0" r="-1564" b="0"/>
            </a:stretch>
          </a:blipFill>
        </p:spPr>
      </p:sp>
      <p:sp>
        <p:nvSpPr>
          <p:cNvPr name="TextBox 16" id="16"/>
          <p:cNvSpPr txBox="true"/>
          <p:nvPr/>
        </p:nvSpPr>
        <p:spPr>
          <a:xfrm rot="0">
            <a:off x="12465396" y="4777826"/>
            <a:ext cx="3197571" cy="334270"/>
          </a:xfrm>
          <a:prstGeom prst="rect">
            <a:avLst/>
          </a:prstGeom>
        </p:spPr>
        <p:txBody>
          <a:bodyPr anchor="t" rtlCol="false" tIns="0" lIns="0" bIns="0" rIns="0">
            <a:spAutoFit/>
          </a:bodyPr>
          <a:lstStyle/>
          <a:p>
            <a:pPr algn="l">
              <a:lnSpc>
                <a:spcPts val="2437"/>
              </a:lnSpc>
            </a:pPr>
            <a:r>
              <a:rPr lang="en-US" sz="1937" b="true">
                <a:solidFill>
                  <a:srgbClr val="405449"/>
                </a:solidFill>
                <a:latin typeface="Fraunces Bold"/>
                <a:ea typeface="Fraunces Bold"/>
                <a:cs typeface="Fraunces Bold"/>
                <a:sym typeface="Fraunces Bold"/>
              </a:rPr>
              <a:t>Services / Business Logic</a:t>
            </a:r>
          </a:p>
        </p:txBody>
      </p:sp>
      <p:sp>
        <p:nvSpPr>
          <p:cNvPr name="TextBox 17" id="17"/>
          <p:cNvSpPr txBox="true"/>
          <p:nvPr/>
        </p:nvSpPr>
        <p:spPr>
          <a:xfrm rot="0">
            <a:off x="12465396" y="5166417"/>
            <a:ext cx="5015208" cy="1244600"/>
          </a:xfrm>
          <a:prstGeom prst="rect">
            <a:avLst/>
          </a:prstGeom>
        </p:spPr>
        <p:txBody>
          <a:bodyPr anchor="t" rtlCol="false" tIns="0" lIns="0" bIns="0" rIns="0">
            <a:spAutoFit/>
          </a:bodyPr>
          <a:lstStyle/>
          <a:p>
            <a:pPr algn="just">
              <a:lnSpc>
                <a:spcPts val="2499"/>
              </a:lnSpc>
            </a:pPr>
            <a:r>
              <a:rPr lang="en-US" sz="1562">
                <a:solidFill>
                  <a:srgbClr val="405449"/>
                </a:solidFill>
                <a:latin typeface="Arimo"/>
                <a:ea typeface="Arimo"/>
                <a:cs typeface="Arimo"/>
                <a:sym typeface="Arimo"/>
              </a:rPr>
              <a:t>Couche intermédiaire contenant la logique métier (e.g., création de match, gestion des participants) et interagissant avec le backend. Elle abstrait l'accès aux données pour la couche UI.</a:t>
            </a:r>
          </a:p>
        </p:txBody>
      </p:sp>
      <p:sp>
        <p:nvSpPr>
          <p:cNvPr name="Freeform 18" id="18" descr="preencoded.png"/>
          <p:cNvSpPr/>
          <p:nvPr/>
        </p:nvSpPr>
        <p:spPr>
          <a:xfrm flipH="false" flipV="false" rot="0">
            <a:off x="6226226" y="2742752"/>
            <a:ext cx="5835548" cy="5835548"/>
          </a:xfrm>
          <a:custGeom>
            <a:avLst/>
            <a:gdLst/>
            <a:ahLst/>
            <a:cxnLst/>
            <a:rect r="r" b="b" t="t" l="l"/>
            <a:pathLst>
              <a:path h="5835548" w="5835548">
                <a:moveTo>
                  <a:pt x="0" y="0"/>
                </a:moveTo>
                <a:lnTo>
                  <a:pt x="5835548" y="0"/>
                </a:lnTo>
                <a:lnTo>
                  <a:pt x="5835548" y="5835549"/>
                </a:lnTo>
                <a:lnTo>
                  <a:pt x="0" y="5835549"/>
                </a:lnTo>
                <a:lnTo>
                  <a:pt x="0" y="0"/>
                </a:lnTo>
                <a:close/>
              </a:path>
            </a:pathLst>
          </a:custGeom>
          <a:blipFill>
            <a:blip r:embed="rId9"/>
            <a:stretch>
              <a:fillRect l="0" t="0" r="0" b="0"/>
            </a:stretch>
          </a:blipFill>
        </p:spPr>
      </p:sp>
      <p:sp>
        <p:nvSpPr>
          <p:cNvPr name="Freeform 19" id="19" descr="preencoded.png"/>
          <p:cNvSpPr/>
          <p:nvPr/>
        </p:nvSpPr>
        <p:spPr>
          <a:xfrm flipH="false" flipV="false" rot="0">
            <a:off x="11004947" y="5860552"/>
            <a:ext cx="301971" cy="301971"/>
          </a:xfrm>
          <a:custGeom>
            <a:avLst/>
            <a:gdLst/>
            <a:ahLst/>
            <a:cxnLst/>
            <a:rect r="r" b="b" t="t" l="l"/>
            <a:pathLst>
              <a:path h="301971" w="301971">
                <a:moveTo>
                  <a:pt x="0" y="0"/>
                </a:moveTo>
                <a:lnTo>
                  <a:pt x="301971" y="0"/>
                </a:lnTo>
                <a:lnTo>
                  <a:pt x="301971" y="301971"/>
                </a:lnTo>
                <a:lnTo>
                  <a:pt x="0" y="301971"/>
                </a:lnTo>
                <a:lnTo>
                  <a:pt x="0" y="0"/>
                </a:lnTo>
                <a:close/>
              </a:path>
            </a:pathLst>
          </a:custGeom>
          <a:blipFill>
            <a:blip r:embed="rId10">
              <a:extLst>
                <a:ext uri="{96DAC541-7B7A-43D3-8B79-37D633B846F1}">
                  <asvg:svgBlip xmlns:asvg="http://schemas.microsoft.com/office/drawing/2016/SVG/main" r:embed="rId11"/>
                </a:ext>
              </a:extLst>
            </a:blip>
            <a:stretch>
              <a:fillRect l="0" t="-9374" r="0" b="-9374"/>
            </a:stretch>
          </a:blipFill>
        </p:spPr>
      </p:sp>
      <p:sp>
        <p:nvSpPr>
          <p:cNvPr name="TextBox 20" id="20"/>
          <p:cNvSpPr txBox="true"/>
          <p:nvPr/>
        </p:nvSpPr>
        <p:spPr>
          <a:xfrm rot="0">
            <a:off x="12263590" y="6807994"/>
            <a:ext cx="2523230" cy="334270"/>
          </a:xfrm>
          <a:prstGeom prst="rect">
            <a:avLst/>
          </a:prstGeom>
        </p:spPr>
        <p:txBody>
          <a:bodyPr anchor="t" rtlCol="false" tIns="0" lIns="0" bIns="0" rIns="0">
            <a:spAutoFit/>
          </a:bodyPr>
          <a:lstStyle/>
          <a:p>
            <a:pPr algn="l">
              <a:lnSpc>
                <a:spcPts val="2437"/>
              </a:lnSpc>
            </a:pPr>
            <a:r>
              <a:rPr lang="en-US" sz="1937" b="true">
                <a:solidFill>
                  <a:srgbClr val="405449"/>
                </a:solidFill>
                <a:latin typeface="Fraunces Bold"/>
                <a:ea typeface="Fraunces Bold"/>
                <a:cs typeface="Fraunces Bold"/>
                <a:sym typeface="Fraunces Bold"/>
              </a:rPr>
              <a:t>Firestore (NoSQL)</a:t>
            </a:r>
          </a:p>
        </p:txBody>
      </p:sp>
      <p:sp>
        <p:nvSpPr>
          <p:cNvPr name="TextBox 21" id="21"/>
          <p:cNvSpPr txBox="true"/>
          <p:nvPr/>
        </p:nvSpPr>
        <p:spPr>
          <a:xfrm rot="0">
            <a:off x="12263590" y="7196585"/>
            <a:ext cx="5217023" cy="1244600"/>
          </a:xfrm>
          <a:prstGeom prst="rect">
            <a:avLst/>
          </a:prstGeom>
        </p:spPr>
        <p:txBody>
          <a:bodyPr anchor="t" rtlCol="false" tIns="0" lIns="0" bIns="0" rIns="0">
            <a:spAutoFit/>
          </a:bodyPr>
          <a:lstStyle/>
          <a:p>
            <a:pPr algn="just">
              <a:lnSpc>
                <a:spcPts val="2499"/>
              </a:lnSpc>
            </a:pPr>
            <a:r>
              <a:rPr lang="en-US" sz="1562">
                <a:solidFill>
                  <a:srgbClr val="405449"/>
                </a:solidFill>
                <a:latin typeface="Arimo"/>
                <a:ea typeface="Arimo"/>
                <a:cs typeface="Arimo"/>
                <a:sym typeface="Arimo"/>
              </a:rPr>
              <a:t>Base de données NoSQL flexible et scalable de Firebase, utilisée pour stocker toutes les données structurées de l'application (utilisateurs, matchs, messages). Offre des requêtes en temps réel et une synchronisation hors ligne.</a:t>
            </a:r>
          </a:p>
        </p:txBody>
      </p:sp>
      <p:sp>
        <p:nvSpPr>
          <p:cNvPr name="Freeform 22" id="22" descr="preencoded.png"/>
          <p:cNvSpPr/>
          <p:nvPr/>
        </p:nvSpPr>
        <p:spPr>
          <a:xfrm flipH="false" flipV="false" rot="0">
            <a:off x="6226226" y="2742752"/>
            <a:ext cx="5835548" cy="5835548"/>
          </a:xfrm>
          <a:custGeom>
            <a:avLst/>
            <a:gdLst/>
            <a:ahLst/>
            <a:cxnLst/>
            <a:rect r="r" b="b" t="t" l="l"/>
            <a:pathLst>
              <a:path h="5835548" w="5835548">
                <a:moveTo>
                  <a:pt x="0" y="0"/>
                </a:moveTo>
                <a:lnTo>
                  <a:pt x="5835548" y="0"/>
                </a:lnTo>
                <a:lnTo>
                  <a:pt x="5835548" y="5835549"/>
                </a:lnTo>
                <a:lnTo>
                  <a:pt x="0" y="5835549"/>
                </a:lnTo>
                <a:lnTo>
                  <a:pt x="0" y="0"/>
                </a:lnTo>
                <a:close/>
              </a:path>
            </a:pathLst>
          </a:custGeom>
          <a:blipFill>
            <a:blip r:embed="rId12"/>
            <a:stretch>
              <a:fillRect l="0" t="0" r="0" b="0"/>
            </a:stretch>
          </a:blipFill>
        </p:spPr>
      </p:sp>
      <p:sp>
        <p:nvSpPr>
          <p:cNvPr name="Freeform 23" id="23" descr="preencoded.png"/>
          <p:cNvSpPr/>
          <p:nvPr/>
        </p:nvSpPr>
        <p:spPr>
          <a:xfrm flipH="false" flipV="false" rot="0">
            <a:off x="9694812" y="7427414"/>
            <a:ext cx="301971" cy="301971"/>
          </a:xfrm>
          <a:custGeom>
            <a:avLst/>
            <a:gdLst/>
            <a:ahLst/>
            <a:cxnLst/>
            <a:rect r="r" b="b" t="t" l="l"/>
            <a:pathLst>
              <a:path h="301971" w="301971">
                <a:moveTo>
                  <a:pt x="0" y="0"/>
                </a:moveTo>
                <a:lnTo>
                  <a:pt x="301971" y="0"/>
                </a:lnTo>
                <a:lnTo>
                  <a:pt x="301971" y="301971"/>
                </a:lnTo>
                <a:lnTo>
                  <a:pt x="0" y="301971"/>
                </a:lnTo>
                <a:lnTo>
                  <a:pt x="0" y="0"/>
                </a:lnTo>
                <a:close/>
              </a:path>
            </a:pathLst>
          </a:custGeom>
          <a:blipFill>
            <a:blip r:embed="rId7">
              <a:extLst>
                <a:ext uri="{96DAC541-7B7A-43D3-8B79-37D633B846F1}">
                  <asvg:svgBlip xmlns:asvg="http://schemas.microsoft.com/office/drawing/2016/SVG/main" r:embed="rId8"/>
                </a:ext>
              </a:extLst>
            </a:blip>
            <a:stretch>
              <a:fillRect l="-1561" t="0" r="-1564" b="0"/>
            </a:stretch>
          </a:blipFill>
        </p:spPr>
      </p:sp>
      <p:sp>
        <p:nvSpPr>
          <p:cNvPr name="TextBox 24" id="24"/>
          <p:cNvSpPr txBox="true"/>
          <p:nvPr/>
        </p:nvSpPr>
        <p:spPr>
          <a:xfrm rot="0">
            <a:off x="2927594" y="6969328"/>
            <a:ext cx="3096816" cy="334270"/>
          </a:xfrm>
          <a:prstGeom prst="rect">
            <a:avLst/>
          </a:prstGeom>
        </p:spPr>
        <p:txBody>
          <a:bodyPr anchor="t" rtlCol="false" tIns="0" lIns="0" bIns="0" rIns="0">
            <a:spAutoFit/>
          </a:bodyPr>
          <a:lstStyle/>
          <a:p>
            <a:pPr algn="r">
              <a:lnSpc>
                <a:spcPts val="2437"/>
              </a:lnSpc>
            </a:pPr>
            <a:r>
              <a:rPr lang="en-US" sz="1937" b="true">
                <a:solidFill>
                  <a:srgbClr val="405449"/>
                </a:solidFill>
                <a:latin typeface="Fraunces Bold"/>
                <a:ea typeface="Fraunces Bold"/>
                <a:cs typeface="Fraunces Bold"/>
                <a:sym typeface="Fraunces Bold"/>
              </a:rPr>
              <a:t>Firebase Authentication</a:t>
            </a:r>
          </a:p>
        </p:txBody>
      </p:sp>
      <p:sp>
        <p:nvSpPr>
          <p:cNvPr name="TextBox 25" id="25"/>
          <p:cNvSpPr txBox="true"/>
          <p:nvPr/>
        </p:nvSpPr>
        <p:spPr>
          <a:xfrm rot="0">
            <a:off x="807396" y="7357910"/>
            <a:ext cx="5217023" cy="1244600"/>
          </a:xfrm>
          <a:prstGeom prst="rect">
            <a:avLst/>
          </a:prstGeom>
        </p:spPr>
        <p:txBody>
          <a:bodyPr anchor="t" rtlCol="false" tIns="0" lIns="0" bIns="0" rIns="0">
            <a:spAutoFit/>
          </a:bodyPr>
          <a:lstStyle/>
          <a:p>
            <a:pPr algn="just">
              <a:lnSpc>
                <a:spcPts val="2499"/>
              </a:lnSpc>
            </a:pPr>
            <a:r>
              <a:rPr lang="en-US" sz="1562">
                <a:solidFill>
                  <a:srgbClr val="405449"/>
                </a:solidFill>
                <a:latin typeface="Arimo"/>
                <a:ea typeface="Arimo"/>
                <a:cs typeface="Arimo"/>
                <a:sym typeface="Arimo"/>
              </a:rPr>
              <a:t>Service d'authentification robuste et sécurisé, prenant en charge diverses méthodes (email/mot de passe, Google, etc.). Gère les sessions utilisateur et l'accès sécurisé aux ressources Firebase.</a:t>
            </a:r>
          </a:p>
        </p:txBody>
      </p:sp>
      <p:sp>
        <p:nvSpPr>
          <p:cNvPr name="Freeform 26" id="26" descr="preencoded.png"/>
          <p:cNvSpPr/>
          <p:nvPr/>
        </p:nvSpPr>
        <p:spPr>
          <a:xfrm flipH="false" flipV="false" rot="0">
            <a:off x="6226226" y="2742752"/>
            <a:ext cx="5835548" cy="5835548"/>
          </a:xfrm>
          <a:custGeom>
            <a:avLst/>
            <a:gdLst/>
            <a:ahLst/>
            <a:cxnLst/>
            <a:rect r="r" b="b" t="t" l="l"/>
            <a:pathLst>
              <a:path h="5835548" w="5835548">
                <a:moveTo>
                  <a:pt x="0" y="0"/>
                </a:moveTo>
                <a:lnTo>
                  <a:pt x="5835548" y="0"/>
                </a:lnTo>
                <a:lnTo>
                  <a:pt x="5835548" y="5835549"/>
                </a:lnTo>
                <a:lnTo>
                  <a:pt x="0" y="5835549"/>
                </a:lnTo>
                <a:lnTo>
                  <a:pt x="0" y="0"/>
                </a:lnTo>
                <a:close/>
              </a:path>
            </a:pathLst>
          </a:custGeom>
          <a:blipFill>
            <a:blip r:embed="rId13"/>
            <a:stretch>
              <a:fillRect l="0" t="0" r="0" b="0"/>
            </a:stretch>
          </a:blipFill>
        </p:spPr>
      </p:sp>
      <p:sp>
        <p:nvSpPr>
          <p:cNvPr name="Freeform 27" id="27" descr="preencoded.png"/>
          <p:cNvSpPr/>
          <p:nvPr/>
        </p:nvSpPr>
        <p:spPr>
          <a:xfrm flipH="false" flipV="false" rot="0">
            <a:off x="7682808" y="7076332"/>
            <a:ext cx="301971" cy="301971"/>
          </a:xfrm>
          <a:custGeom>
            <a:avLst/>
            <a:gdLst/>
            <a:ahLst/>
            <a:cxnLst/>
            <a:rect r="r" b="b" t="t" l="l"/>
            <a:pathLst>
              <a:path h="301971" w="301971">
                <a:moveTo>
                  <a:pt x="0" y="0"/>
                </a:moveTo>
                <a:lnTo>
                  <a:pt x="301971" y="0"/>
                </a:lnTo>
                <a:lnTo>
                  <a:pt x="301971" y="301971"/>
                </a:lnTo>
                <a:lnTo>
                  <a:pt x="0" y="301971"/>
                </a:lnTo>
                <a:lnTo>
                  <a:pt x="0" y="0"/>
                </a:lnTo>
                <a:close/>
              </a:path>
            </a:pathLst>
          </a:custGeom>
          <a:blipFill>
            <a:blip r:embed="rId7">
              <a:extLst>
                <a:ext uri="{96DAC541-7B7A-43D3-8B79-37D633B846F1}">
                  <asvg:svgBlip xmlns:asvg="http://schemas.microsoft.com/office/drawing/2016/SVG/main" r:embed="rId8"/>
                </a:ext>
              </a:extLst>
            </a:blip>
            <a:stretch>
              <a:fillRect l="-1561" t="0" r="-1564" b="0"/>
            </a:stretch>
          </a:blipFill>
        </p:spPr>
      </p:sp>
      <p:sp>
        <p:nvSpPr>
          <p:cNvPr name="TextBox 28" id="28"/>
          <p:cNvSpPr txBox="true"/>
          <p:nvPr/>
        </p:nvSpPr>
        <p:spPr>
          <a:xfrm rot="0">
            <a:off x="1699022" y="4777826"/>
            <a:ext cx="4123582" cy="334270"/>
          </a:xfrm>
          <a:prstGeom prst="rect">
            <a:avLst/>
          </a:prstGeom>
        </p:spPr>
        <p:txBody>
          <a:bodyPr anchor="t" rtlCol="false" tIns="0" lIns="0" bIns="0" rIns="0">
            <a:spAutoFit/>
          </a:bodyPr>
          <a:lstStyle/>
          <a:p>
            <a:pPr algn="r">
              <a:lnSpc>
                <a:spcPts val="2437"/>
              </a:lnSpc>
            </a:pPr>
            <a:r>
              <a:rPr lang="en-US" sz="1937" b="true">
                <a:solidFill>
                  <a:srgbClr val="405449"/>
                </a:solidFill>
                <a:latin typeface="Fraunces Bold"/>
                <a:ea typeface="Fraunces Bold"/>
                <a:cs typeface="Fraunces Bold"/>
                <a:sym typeface="Fraunces Bold"/>
              </a:rPr>
              <a:t>Cloudinary (Gestion des Médias)</a:t>
            </a:r>
          </a:p>
        </p:txBody>
      </p:sp>
      <p:sp>
        <p:nvSpPr>
          <p:cNvPr name="TextBox 29" id="29"/>
          <p:cNvSpPr txBox="true"/>
          <p:nvPr/>
        </p:nvSpPr>
        <p:spPr>
          <a:xfrm rot="0">
            <a:off x="807396" y="5166417"/>
            <a:ext cx="5015208" cy="1244600"/>
          </a:xfrm>
          <a:prstGeom prst="rect">
            <a:avLst/>
          </a:prstGeom>
        </p:spPr>
        <p:txBody>
          <a:bodyPr anchor="t" rtlCol="false" tIns="0" lIns="0" bIns="0" rIns="0">
            <a:spAutoFit/>
          </a:bodyPr>
          <a:lstStyle/>
          <a:p>
            <a:pPr algn="just">
              <a:lnSpc>
                <a:spcPts val="2499"/>
              </a:lnSpc>
            </a:pPr>
            <a:r>
              <a:rPr lang="en-US" sz="1562">
                <a:solidFill>
                  <a:srgbClr val="405449"/>
                </a:solidFill>
                <a:latin typeface="Arimo"/>
                <a:ea typeface="Arimo"/>
                <a:cs typeface="Arimo"/>
                <a:sym typeface="Arimo"/>
              </a:rPr>
              <a:t>Plateforme de gestion d'images et de vidéos dans le cloud. Utilisée pour stocker, optimiser et servir les photos de profil des utilisateurs et toute autre image liée aux matchs.</a:t>
            </a:r>
          </a:p>
        </p:txBody>
      </p:sp>
      <p:sp>
        <p:nvSpPr>
          <p:cNvPr name="Freeform 30" id="30" descr="preencoded.png"/>
          <p:cNvSpPr/>
          <p:nvPr/>
        </p:nvSpPr>
        <p:spPr>
          <a:xfrm flipH="false" flipV="false" rot="0">
            <a:off x="6226226" y="2742752"/>
            <a:ext cx="5835548" cy="5835548"/>
          </a:xfrm>
          <a:custGeom>
            <a:avLst/>
            <a:gdLst/>
            <a:ahLst/>
            <a:cxnLst/>
            <a:rect r="r" b="b" t="t" l="l"/>
            <a:pathLst>
              <a:path h="5835548" w="5835548">
                <a:moveTo>
                  <a:pt x="0" y="0"/>
                </a:moveTo>
                <a:lnTo>
                  <a:pt x="5835548" y="0"/>
                </a:lnTo>
                <a:lnTo>
                  <a:pt x="5835548" y="5835549"/>
                </a:lnTo>
                <a:lnTo>
                  <a:pt x="0" y="5835549"/>
                </a:lnTo>
                <a:lnTo>
                  <a:pt x="0" y="0"/>
                </a:lnTo>
                <a:close/>
              </a:path>
            </a:pathLst>
          </a:custGeom>
          <a:blipFill>
            <a:blip r:embed="rId14"/>
            <a:stretch>
              <a:fillRect l="0" t="0" r="0" b="0"/>
            </a:stretch>
          </a:blipFill>
        </p:spPr>
      </p:sp>
      <p:sp>
        <p:nvSpPr>
          <p:cNvPr name="Freeform 31" id="31" descr="preencoded.png"/>
          <p:cNvSpPr/>
          <p:nvPr/>
        </p:nvSpPr>
        <p:spPr>
          <a:xfrm flipH="false" flipV="false" rot="0">
            <a:off x="6980787" y="5158235"/>
            <a:ext cx="301971" cy="301971"/>
          </a:xfrm>
          <a:custGeom>
            <a:avLst/>
            <a:gdLst/>
            <a:ahLst/>
            <a:cxnLst/>
            <a:rect r="r" b="b" t="t" l="l"/>
            <a:pathLst>
              <a:path h="301971" w="301971">
                <a:moveTo>
                  <a:pt x="0" y="0"/>
                </a:moveTo>
                <a:lnTo>
                  <a:pt x="301971" y="0"/>
                </a:lnTo>
                <a:lnTo>
                  <a:pt x="301971" y="301971"/>
                </a:lnTo>
                <a:lnTo>
                  <a:pt x="0" y="301971"/>
                </a:lnTo>
                <a:lnTo>
                  <a:pt x="0" y="0"/>
                </a:lnTo>
                <a:close/>
              </a:path>
            </a:pathLst>
          </a:custGeom>
          <a:blipFill>
            <a:blip r:embed="rId7">
              <a:extLst>
                <a:ext uri="{96DAC541-7B7A-43D3-8B79-37D633B846F1}">
                  <asvg:svgBlip xmlns:asvg="http://schemas.microsoft.com/office/drawing/2016/SVG/main" r:embed="rId8"/>
                </a:ext>
              </a:extLst>
            </a:blip>
            <a:stretch>
              <a:fillRect l="-1561" t="0" r="-1564" b="0"/>
            </a:stretch>
          </a:blipFill>
        </p:spPr>
      </p:sp>
      <p:sp>
        <p:nvSpPr>
          <p:cNvPr name="TextBox 32" id="32"/>
          <p:cNvSpPr txBox="true"/>
          <p:nvPr/>
        </p:nvSpPr>
        <p:spPr>
          <a:xfrm rot="0">
            <a:off x="807396" y="9037587"/>
            <a:ext cx="16673217" cy="301625"/>
          </a:xfrm>
          <a:prstGeom prst="rect">
            <a:avLst/>
          </a:prstGeom>
        </p:spPr>
        <p:txBody>
          <a:bodyPr anchor="t" rtlCol="false" tIns="0" lIns="0" bIns="0" rIns="0">
            <a:spAutoFit/>
          </a:bodyPr>
          <a:lstStyle/>
          <a:p>
            <a:pPr algn="just">
              <a:lnSpc>
                <a:spcPts val="2499"/>
              </a:lnSpc>
            </a:pPr>
            <a:r>
              <a:rPr lang="en-US" sz="1562">
                <a:solidFill>
                  <a:srgbClr val="405449"/>
                </a:solidFill>
                <a:latin typeface="Arimo"/>
                <a:ea typeface="Arimo"/>
                <a:cs typeface="Arimo"/>
                <a:sym typeface="Arimo"/>
              </a:rPr>
              <a:t>Cette architecture modulaire garantit une maintenance aisée, une extensibilité future et une séparation claire des préoccupations, essentielle pour une application complexe.</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a:ln w="12700">
              <a:solidFill>
                <a:srgbClr val="000000"/>
              </a:solidFill>
            </a:ln>
          </p:spPr>
        </p:sp>
      </p:grpSp>
      <p:sp>
        <p:nvSpPr>
          <p:cNvPr name="TextBox 6" id="6"/>
          <p:cNvSpPr txBox="true"/>
          <p:nvPr/>
        </p:nvSpPr>
        <p:spPr>
          <a:xfrm rot="0">
            <a:off x="710355" y="459734"/>
            <a:ext cx="6476257" cy="583406"/>
          </a:xfrm>
          <a:prstGeom prst="rect">
            <a:avLst/>
          </a:prstGeom>
        </p:spPr>
        <p:txBody>
          <a:bodyPr anchor="t" rtlCol="false" tIns="0" lIns="0" bIns="0" rIns="0">
            <a:spAutoFit/>
          </a:bodyPr>
          <a:lstStyle/>
          <a:p>
            <a:pPr algn="l">
              <a:lnSpc>
                <a:spcPts val="4312"/>
              </a:lnSpc>
            </a:pPr>
            <a:r>
              <a:rPr lang="en-US" sz="3437" b="true">
                <a:solidFill>
                  <a:srgbClr val="3B4540"/>
                </a:solidFill>
                <a:latin typeface="Fraunces Bold"/>
                <a:ea typeface="Fraunces Bold"/>
                <a:cs typeface="Fraunces Bold"/>
                <a:sym typeface="Fraunces Bold"/>
              </a:rPr>
              <a:t>Modèle de Données Firestore</a:t>
            </a:r>
          </a:p>
        </p:txBody>
      </p:sp>
      <p:sp>
        <p:nvSpPr>
          <p:cNvPr name="TextBox 7" id="7"/>
          <p:cNvSpPr txBox="true"/>
          <p:nvPr/>
        </p:nvSpPr>
        <p:spPr>
          <a:xfrm rot="0">
            <a:off x="710355" y="1331566"/>
            <a:ext cx="16867289" cy="274637"/>
          </a:xfrm>
          <a:prstGeom prst="rect">
            <a:avLst/>
          </a:prstGeom>
        </p:spPr>
        <p:txBody>
          <a:bodyPr anchor="t" rtlCol="false" tIns="0" lIns="0" bIns="0" rIns="0">
            <a:spAutoFit/>
          </a:bodyPr>
          <a:lstStyle/>
          <a:p>
            <a:pPr algn="just">
              <a:lnSpc>
                <a:spcPts val="2187"/>
              </a:lnSpc>
            </a:pPr>
            <a:r>
              <a:rPr lang="en-US" sz="1375">
                <a:solidFill>
                  <a:srgbClr val="405449"/>
                </a:solidFill>
                <a:latin typeface="Arimo"/>
                <a:ea typeface="Arimo"/>
                <a:cs typeface="Arimo"/>
                <a:sym typeface="Arimo"/>
              </a:rPr>
              <a:t>Le modèle de données Firestore de MatchUp est structuré pour une efficacité maximale en termes de requêtes et une scalabilité, tirant parti de la nature orientée document de Firestore.</a:t>
            </a:r>
          </a:p>
        </p:txBody>
      </p:sp>
      <p:grpSp>
        <p:nvGrpSpPr>
          <p:cNvPr name="Group 8" id="8"/>
          <p:cNvGrpSpPr/>
          <p:nvPr/>
        </p:nvGrpSpPr>
        <p:grpSpPr>
          <a:xfrm rot="0">
            <a:off x="9134475" y="1881930"/>
            <a:ext cx="19050" cy="7927772"/>
            <a:chOff x="0" y="0"/>
            <a:chExt cx="25400" cy="10570362"/>
          </a:xfrm>
        </p:grpSpPr>
        <p:sp>
          <p:nvSpPr>
            <p:cNvPr name="Freeform 9" id="9"/>
            <p:cNvSpPr/>
            <p:nvPr/>
          </p:nvSpPr>
          <p:spPr>
            <a:xfrm flipH="false" flipV="false" rot="0">
              <a:off x="0" y="0"/>
              <a:ext cx="25400" cy="10570337"/>
            </a:xfrm>
            <a:custGeom>
              <a:avLst/>
              <a:gdLst/>
              <a:ahLst/>
              <a:cxnLst/>
              <a:rect r="r" b="b" t="t" l="l"/>
              <a:pathLst>
                <a:path h="10570337" w="25400">
                  <a:moveTo>
                    <a:pt x="0" y="12700"/>
                  </a:moveTo>
                  <a:cubicBezTo>
                    <a:pt x="0" y="5715"/>
                    <a:pt x="5715" y="0"/>
                    <a:pt x="12700" y="0"/>
                  </a:cubicBezTo>
                  <a:cubicBezTo>
                    <a:pt x="19685" y="0"/>
                    <a:pt x="25400" y="5715"/>
                    <a:pt x="25400" y="12700"/>
                  </a:cubicBezTo>
                  <a:lnTo>
                    <a:pt x="25400" y="10557637"/>
                  </a:lnTo>
                  <a:cubicBezTo>
                    <a:pt x="25400" y="10564622"/>
                    <a:pt x="19685" y="10570337"/>
                    <a:pt x="12700" y="10570337"/>
                  </a:cubicBezTo>
                  <a:cubicBezTo>
                    <a:pt x="5715" y="10570337"/>
                    <a:pt x="0" y="10564622"/>
                    <a:pt x="0" y="10557637"/>
                  </a:cubicBezTo>
                  <a:close/>
                </a:path>
              </a:pathLst>
            </a:custGeom>
            <a:solidFill>
              <a:srgbClr val="CED9CE"/>
            </a:solidFill>
            <a:ln w="12700">
              <a:solidFill>
                <a:srgbClr val="000000"/>
              </a:solidFill>
            </a:ln>
          </p:spPr>
        </p:sp>
      </p:grpSp>
      <p:grpSp>
        <p:nvGrpSpPr>
          <p:cNvPr name="Group 10" id="10"/>
          <p:cNvGrpSpPr/>
          <p:nvPr/>
        </p:nvGrpSpPr>
        <p:grpSpPr>
          <a:xfrm rot="0">
            <a:off x="8630241" y="3643465"/>
            <a:ext cx="532809" cy="19050"/>
            <a:chOff x="0" y="0"/>
            <a:chExt cx="710413" cy="25400"/>
          </a:xfrm>
        </p:grpSpPr>
        <p:sp>
          <p:nvSpPr>
            <p:cNvPr name="Freeform 11" id="11"/>
            <p:cNvSpPr/>
            <p:nvPr/>
          </p:nvSpPr>
          <p:spPr>
            <a:xfrm flipH="false" flipV="false" rot="0">
              <a:off x="0" y="0"/>
              <a:ext cx="710438" cy="25400"/>
            </a:xfrm>
            <a:custGeom>
              <a:avLst/>
              <a:gdLst/>
              <a:ahLst/>
              <a:cxnLst/>
              <a:rect r="r" b="b" t="t" l="l"/>
              <a:pathLst>
                <a:path h="25400" w="710438">
                  <a:moveTo>
                    <a:pt x="0" y="12700"/>
                  </a:moveTo>
                  <a:cubicBezTo>
                    <a:pt x="0" y="5715"/>
                    <a:pt x="5715" y="0"/>
                    <a:pt x="12700" y="0"/>
                  </a:cubicBezTo>
                  <a:lnTo>
                    <a:pt x="697738" y="0"/>
                  </a:lnTo>
                  <a:cubicBezTo>
                    <a:pt x="704723" y="0"/>
                    <a:pt x="710438" y="5715"/>
                    <a:pt x="710438" y="12700"/>
                  </a:cubicBezTo>
                  <a:cubicBezTo>
                    <a:pt x="710438" y="19685"/>
                    <a:pt x="704723" y="25400"/>
                    <a:pt x="697738" y="25400"/>
                  </a:cubicBezTo>
                  <a:lnTo>
                    <a:pt x="12700" y="25400"/>
                  </a:lnTo>
                  <a:cubicBezTo>
                    <a:pt x="5715" y="25400"/>
                    <a:pt x="0" y="19685"/>
                    <a:pt x="0" y="12700"/>
                  </a:cubicBezTo>
                  <a:close/>
                </a:path>
              </a:pathLst>
            </a:custGeom>
            <a:solidFill>
              <a:srgbClr val="CED9CE"/>
            </a:solidFill>
            <a:ln w="12700">
              <a:solidFill>
                <a:srgbClr val="000000"/>
              </a:solidFill>
            </a:ln>
          </p:spPr>
        </p:sp>
      </p:grpSp>
      <p:grpSp>
        <p:nvGrpSpPr>
          <p:cNvPr name="Group 12" id="12"/>
          <p:cNvGrpSpPr/>
          <p:nvPr/>
        </p:nvGrpSpPr>
        <p:grpSpPr>
          <a:xfrm rot="0">
            <a:off x="9077401" y="3586382"/>
            <a:ext cx="133198" cy="133198"/>
            <a:chOff x="0" y="0"/>
            <a:chExt cx="177597" cy="177597"/>
          </a:xfrm>
        </p:grpSpPr>
        <p:sp>
          <p:nvSpPr>
            <p:cNvPr name="Freeform 13" id="13"/>
            <p:cNvSpPr/>
            <p:nvPr/>
          </p:nvSpPr>
          <p:spPr>
            <a:xfrm flipH="false" flipV="false" rot="0">
              <a:off x="0" y="0"/>
              <a:ext cx="177546" cy="177546"/>
            </a:xfrm>
            <a:custGeom>
              <a:avLst/>
              <a:gdLst/>
              <a:ahLst/>
              <a:cxnLst/>
              <a:rect r="r" b="b" t="t" l="l"/>
              <a:pathLst>
                <a:path h="177546" w="177546">
                  <a:moveTo>
                    <a:pt x="0" y="88773"/>
                  </a:moveTo>
                  <a:cubicBezTo>
                    <a:pt x="0" y="39751"/>
                    <a:pt x="39751" y="0"/>
                    <a:pt x="88773" y="0"/>
                  </a:cubicBezTo>
                  <a:cubicBezTo>
                    <a:pt x="137795" y="0"/>
                    <a:pt x="177546" y="39751"/>
                    <a:pt x="177546" y="88773"/>
                  </a:cubicBezTo>
                  <a:cubicBezTo>
                    <a:pt x="177546" y="137795"/>
                    <a:pt x="137795" y="177546"/>
                    <a:pt x="88773" y="177546"/>
                  </a:cubicBezTo>
                  <a:cubicBezTo>
                    <a:pt x="39751" y="177546"/>
                    <a:pt x="0" y="137795"/>
                    <a:pt x="0" y="88773"/>
                  </a:cubicBezTo>
                  <a:close/>
                </a:path>
              </a:pathLst>
            </a:custGeom>
            <a:solidFill>
              <a:srgbClr val="438951"/>
            </a:solidFill>
            <a:ln w="12700">
              <a:solidFill>
                <a:srgbClr val="000000"/>
              </a:solidFill>
            </a:ln>
          </p:spPr>
        </p:sp>
      </p:grpSp>
      <p:grpSp>
        <p:nvGrpSpPr>
          <p:cNvPr name="Group 14" id="14"/>
          <p:cNvGrpSpPr/>
          <p:nvPr/>
        </p:nvGrpSpPr>
        <p:grpSpPr>
          <a:xfrm rot="0">
            <a:off x="710355" y="1881930"/>
            <a:ext cx="7900835" cy="3542109"/>
            <a:chOff x="0" y="0"/>
            <a:chExt cx="10534447" cy="4722812"/>
          </a:xfrm>
        </p:grpSpPr>
        <p:sp>
          <p:nvSpPr>
            <p:cNvPr name="Freeform 15" id="15"/>
            <p:cNvSpPr/>
            <p:nvPr/>
          </p:nvSpPr>
          <p:spPr>
            <a:xfrm flipH="false" flipV="false" rot="0">
              <a:off x="0" y="0"/>
              <a:ext cx="10534397" cy="4722749"/>
            </a:xfrm>
            <a:custGeom>
              <a:avLst/>
              <a:gdLst/>
              <a:ahLst/>
              <a:cxnLst/>
              <a:rect r="r" b="b" t="t" l="l"/>
              <a:pathLst>
                <a:path h="4722749" w="10534397">
                  <a:moveTo>
                    <a:pt x="0" y="213106"/>
                  </a:moveTo>
                  <a:cubicBezTo>
                    <a:pt x="0" y="95377"/>
                    <a:pt x="95377" y="0"/>
                    <a:pt x="213106" y="0"/>
                  </a:cubicBezTo>
                  <a:lnTo>
                    <a:pt x="10321290" y="0"/>
                  </a:lnTo>
                  <a:cubicBezTo>
                    <a:pt x="10439019" y="0"/>
                    <a:pt x="10534397" y="95377"/>
                    <a:pt x="10534397" y="213106"/>
                  </a:cubicBezTo>
                  <a:lnTo>
                    <a:pt x="10534397" y="4509643"/>
                  </a:lnTo>
                  <a:cubicBezTo>
                    <a:pt x="10534397" y="4627372"/>
                    <a:pt x="10439019" y="4722749"/>
                    <a:pt x="10321290" y="4722749"/>
                  </a:cubicBezTo>
                  <a:lnTo>
                    <a:pt x="213106" y="4722749"/>
                  </a:lnTo>
                  <a:cubicBezTo>
                    <a:pt x="95377" y="4722876"/>
                    <a:pt x="0" y="4627372"/>
                    <a:pt x="0" y="4509643"/>
                  </a:cubicBezTo>
                  <a:close/>
                </a:path>
              </a:pathLst>
            </a:custGeom>
            <a:solidFill>
              <a:srgbClr val="E8F3E8"/>
            </a:solidFill>
            <a:ln w="12700">
              <a:solidFill>
                <a:srgbClr val="000000"/>
              </a:solidFill>
            </a:ln>
          </p:spPr>
        </p:sp>
      </p:grpSp>
      <p:sp>
        <p:nvSpPr>
          <p:cNvPr name="TextBox 16" id="16"/>
          <p:cNvSpPr txBox="true"/>
          <p:nvPr/>
        </p:nvSpPr>
        <p:spPr>
          <a:xfrm rot="0">
            <a:off x="887911" y="2065785"/>
            <a:ext cx="2428726" cy="263525"/>
          </a:xfrm>
          <a:prstGeom prst="rect">
            <a:avLst/>
          </a:prstGeom>
        </p:spPr>
        <p:txBody>
          <a:bodyPr anchor="t" rtlCol="false" tIns="0" lIns="0" bIns="0" rIns="0">
            <a:spAutoFit/>
          </a:bodyPr>
          <a:lstStyle/>
          <a:p>
            <a:pPr algn="ctr">
              <a:lnSpc>
                <a:spcPts val="2124"/>
              </a:lnSpc>
            </a:pPr>
            <a:r>
              <a:rPr lang="en-US" sz="1687" b="true">
                <a:solidFill>
                  <a:srgbClr val="405449"/>
                </a:solidFill>
                <a:latin typeface="Fraunces Bold"/>
                <a:ea typeface="Fraunces Bold"/>
                <a:cs typeface="Fraunces Bold"/>
                <a:sym typeface="Fraunces Bold"/>
              </a:rPr>
              <a:t>Collection: users/{uid}</a:t>
            </a:r>
          </a:p>
        </p:txBody>
      </p:sp>
      <p:sp>
        <p:nvSpPr>
          <p:cNvPr name="TextBox 17" id="17"/>
          <p:cNvSpPr txBox="true"/>
          <p:nvPr/>
        </p:nvSpPr>
        <p:spPr>
          <a:xfrm rot="0">
            <a:off x="887911" y="2376935"/>
            <a:ext cx="7545734" cy="550863"/>
          </a:xfrm>
          <a:prstGeom prst="rect">
            <a:avLst/>
          </a:prstGeom>
        </p:spPr>
        <p:txBody>
          <a:bodyPr anchor="t" rtlCol="false" tIns="0" lIns="0" bIns="0" rIns="0">
            <a:spAutoFit/>
          </a:bodyPr>
          <a:lstStyle/>
          <a:p>
            <a:pPr algn="just">
              <a:lnSpc>
                <a:spcPts val="2187"/>
              </a:lnSpc>
            </a:pPr>
            <a:r>
              <a:rPr lang="en-US" sz="1375">
                <a:solidFill>
                  <a:srgbClr val="405449"/>
                </a:solidFill>
                <a:latin typeface="Arimo"/>
                <a:ea typeface="Arimo"/>
                <a:cs typeface="Arimo"/>
                <a:sym typeface="Arimo"/>
              </a:rPr>
              <a:t>Chaque document représente un utilisateur unique. Il contient les informations de profil telles que:</a:t>
            </a:r>
          </a:p>
        </p:txBody>
      </p:sp>
      <p:sp>
        <p:nvSpPr>
          <p:cNvPr name="TextBox 18" id="18"/>
          <p:cNvSpPr txBox="true"/>
          <p:nvPr/>
        </p:nvSpPr>
        <p:spPr>
          <a:xfrm rot="0">
            <a:off x="887911" y="3051419"/>
            <a:ext cx="7545734" cy="274637"/>
          </a:xfrm>
          <a:prstGeom prst="rect">
            <a:avLst/>
          </a:prstGeom>
        </p:spPr>
        <p:txBody>
          <a:bodyPr anchor="t" rtlCol="false" tIns="0" lIns="0" bIns="0" rIns="0">
            <a:spAutoFit/>
          </a:bodyPr>
          <a:lstStyle/>
          <a:p>
            <a:pPr algn="just" marL="207367" indent="-103684" lvl="1">
              <a:lnSpc>
                <a:spcPts val="2187"/>
              </a:lnSpc>
              <a:buFont typeface="Arial"/>
              <a:buChar char="•"/>
            </a:pPr>
            <a:r>
              <a:rPr lang="en-US" sz="1375">
                <a:solidFill>
                  <a:srgbClr val="405449"/>
                </a:solidFill>
                <a:latin typeface="Arimo"/>
                <a:ea typeface="Arimo"/>
                <a:cs typeface="Arimo"/>
                <a:sym typeface="Arimo"/>
              </a:rPr>
              <a:t>displayName</a:t>
            </a:r>
            <a:r>
              <a:rPr lang="en-US" b="true" sz="1375">
                <a:solidFill>
                  <a:srgbClr val="405449"/>
                </a:solidFill>
                <a:latin typeface="Arimo Bold"/>
                <a:ea typeface="Arimo Bold"/>
                <a:cs typeface="Arimo Bold"/>
                <a:sym typeface="Arimo Bold"/>
              </a:rPr>
              <a:t>:</a:t>
            </a:r>
            <a:r>
              <a:rPr lang="en-US" sz="1375">
                <a:solidFill>
                  <a:srgbClr val="405449"/>
                </a:solidFill>
                <a:latin typeface="Arimo"/>
                <a:ea typeface="Arimo"/>
                <a:cs typeface="Arimo"/>
                <a:sym typeface="Arimo"/>
              </a:rPr>
              <a:t> Nom affiché de l'utilisateur.</a:t>
            </a:r>
          </a:p>
        </p:txBody>
      </p:sp>
      <p:sp>
        <p:nvSpPr>
          <p:cNvPr name="TextBox 19" id="19"/>
          <p:cNvSpPr txBox="true"/>
          <p:nvPr/>
        </p:nvSpPr>
        <p:spPr>
          <a:xfrm rot="0">
            <a:off x="887911" y="3416503"/>
            <a:ext cx="7545734" cy="274637"/>
          </a:xfrm>
          <a:prstGeom prst="rect">
            <a:avLst/>
          </a:prstGeom>
        </p:spPr>
        <p:txBody>
          <a:bodyPr anchor="t" rtlCol="false" tIns="0" lIns="0" bIns="0" rIns="0">
            <a:spAutoFit/>
          </a:bodyPr>
          <a:lstStyle/>
          <a:p>
            <a:pPr algn="just" marL="207367" indent="-103684" lvl="1">
              <a:lnSpc>
                <a:spcPts val="2187"/>
              </a:lnSpc>
              <a:buFont typeface="Arial"/>
              <a:buChar char="•"/>
            </a:pPr>
            <a:r>
              <a:rPr lang="en-US" sz="1375">
                <a:solidFill>
                  <a:srgbClr val="405449"/>
                </a:solidFill>
                <a:latin typeface="Arimo"/>
                <a:ea typeface="Arimo"/>
                <a:cs typeface="Arimo"/>
                <a:sym typeface="Arimo"/>
              </a:rPr>
              <a:t>photoURL</a:t>
            </a:r>
            <a:r>
              <a:rPr lang="en-US" b="true" sz="1375">
                <a:solidFill>
                  <a:srgbClr val="405449"/>
                </a:solidFill>
                <a:latin typeface="Arimo Bold"/>
                <a:ea typeface="Arimo Bold"/>
                <a:cs typeface="Arimo Bold"/>
                <a:sym typeface="Arimo Bold"/>
              </a:rPr>
              <a:t>:</a:t>
            </a:r>
            <a:r>
              <a:rPr lang="en-US" sz="1375">
                <a:solidFill>
                  <a:srgbClr val="405449"/>
                </a:solidFill>
                <a:latin typeface="Arimo"/>
                <a:ea typeface="Arimo"/>
                <a:cs typeface="Arimo"/>
                <a:sym typeface="Arimo"/>
              </a:rPr>
              <a:t> Lien vers la photo de profil (stockée sur Cloudinary).</a:t>
            </a:r>
          </a:p>
        </p:txBody>
      </p:sp>
      <p:sp>
        <p:nvSpPr>
          <p:cNvPr name="TextBox 20" id="20"/>
          <p:cNvSpPr txBox="true"/>
          <p:nvPr/>
        </p:nvSpPr>
        <p:spPr>
          <a:xfrm rot="0">
            <a:off x="887911" y="3781577"/>
            <a:ext cx="7545734" cy="274637"/>
          </a:xfrm>
          <a:prstGeom prst="rect">
            <a:avLst/>
          </a:prstGeom>
        </p:spPr>
        <p:txBody>
          <a:bodyPr anchor="t" rtlCol="false" tIns="0" lIns="0" bIns="0" rIns="0">
            <a:spAutoFit/>
          </a:bodyPr>
          <a:lstStyle/>
          <a:p>
            <a:pPr algn="just" marL="207367" indent="-103684" lvl="1">
              <a:lnSpc>
                <a:spcPts val="2187"/>
              </a:lnSpc>
              <a:buFont typeface="Arial"/>
              <a:buChar char="•"/>
            </a:pPr>
            <a:r>
              <a:rPr lang="en-US" sz="1375">
                <a:solidFill>
                  <a:srgbClr val="405449"/>
                </a:solidFill>
                <a:latin typeface="Arimo"/>
                <a:ea typeface="Arimo"/>
                <a:cs typeface="Arimo"/>
                <a:sym typeface="Arimo"/>
              </a:rPr>
              <a:t>birthDate: Date de naissance pour calculer l'âge.</a:t>
            </a:r>
          </a:p>
        </p:txBody>
      </p:sp>
      <p:sp>
        <p:nvSpPr>
          <p:cNvPr name="TextBox 21" id="21"/>
          <p:cNvSpPr txBox="true"/>
          <p:nvPr/>
        </p:nvSpPr>
        <p:spPr>
          <a:xfrm rot="0">
            <a:off x="887911" y="4146652"/>
            <a:ext cx="7545734" cy="274637"/>
          </a:xfrm>
          <a:prstGeom prst="rect">
            <a:avLst/>
          </a:prstGeom>
        </p:spPr>
        <p:txBody>
          <a:bodyPr anchor="t" rtlCol="false" tIns="0" lIns="0" bIns="0" rIns="0">
            <a:spAutoFit/>
          </a:bodyPr>
          <a:lstStyle/>
          <a:p>
            <a:pPr algn="just" marL="207367" indent="-103684" lvl="1">
              <a:lnSpc>
                <a:spcPts val="2187"/>
              </a:lnSpc>
              <a:buFont typeface="Arial"/>
              <a:buChar char="•"/>
            </a:pPr>
            <a:r>
              <a:rPr lang="en-US" sz="1375">
                <a:solidFill>
                  <a:srgbClr val="405449"/>
                </a:solidFill>
                <a:latin typeface="Arimo"/>
                <a:ea typeface="Arimo"/>
                <a:cs typeface="Arimo"/>
                <a:sym typeface="Arimo"/>
              </a:rPr>
              <a:t>age: Âge de l'utilisateur (peut être calculé ou stocké).</a:t>
            </a:r>
          </a:p>
        </p:txBody>
      </p:sp>
      <p:sp>
        <p:nvSpPr>
          <p:cNvPr name="TextBox 22" id="22"/>
          <p:cNvSpPr txBox="true"/>
          <p:nvPr/>
        </p:nvSpPr>
        <p:spPr>
          <a:xfrm rot="0">
            <a:off x="887911" y="4511726"/>
            <a:ext cx="7545734" cy="274637"/>
          </a:xfrm>
          <a:prstGeom prst="rect">
            <a:avLst/>
          </a:prstGeom>
        </p:spPr>
        <p:txBody>
          <a:bodyPr anchor="t" rtlCol="false" tIns="0" lIns="0" bIns="0" rIns="0">
            <a:spAutoFit/>
          </a:bodyPr>
          <a:lstStyle/>
          <a:p>
            <a:pPr algn="just" marL="207367" indent="-103684" lvl="1">
              <a:lnSpc>
                <a:spcPts val="2187"/>
              </a:lnSpc>
              <a:buFont typeface="Arial"/>
              <a:buChar char="•"/>
            </a:pPr>
            <a:r>
              <a:rPr lang="en-US" sz="1375">
                <a:solidFill>
                  <a:srgbClr val="405449"/>
                </a:solidFill>
                <a:latin typeface="Arimo"/>
                <a:ea typeface="Arimo"/>
                <a:cs typeface="Arimo"/>
                <a:sym typeface="Arimo"/>
              </a:rPr>
              <a:t>city: Ville de résidence de l'utilisateur.</a:t>
            </a:r>
          </a:p>
        </p:txBody>
      </p:sp>
      <p:sp>
        <p:nvSpPr>
          <p:cNvPr name="TextBox 23" id="23"/>
          <p:cNvSpPr txBox="true"/>
          <p:nvPr/>
        </p:nvSpPr>
        <p:spPr>
          <a:xfrm rot="0">
            <a:off x="887911" y="4876800"/>
            <a:ext cx="7545734" cy="274637"/>
          </a:xfrm>
          <a:prstGeom prst="rect">
            <a:avLst/>
          </a:prstGeom>
        </p:spPr>
        <p:txBody>
          <a:bodyPr anchor="t" rtlCol="false" tIns="0" lIns="0" bIns="0" rIns="0">
            <a:spAutoFit/>
          </a:bodyPr>
          <a:lstStyle/>
          <a:p>
            <a:pPr algn="just" marL="207367" indent="-103684" lvl="1">
              <a:lnSpc>
                <a:spcPts val="2187"/>
              </a:lnSpc>
              <a:buFont typeface="Arial"/>
              <a:buChar char="•"/>
            </a:pPr>
            <a:r>
              <a:rPr lang="en-US" sz="1375">
                <a:solidFill>
                  <a:srgbClr val="405449"/>
                </a:solidFill>
                <a:latin typeface="Arimo"/>
                <a:ea typeface="Arimo"/>
                <a:cs typeface="Arimo"/>
                <a:sym typeface="Arimo"/>
              </a:rPr>
              <a:t>phoneNumber: Numéro de téléphone de contact.</a:t>
            </a:r>
          </a:p>
        </p:txBody>
      </p:sp>
      <p:grpSp>
        <p:nvGrpSpPr>
          <p:cNvPr name="Group 24" id="24"/>
          <p:cNvGrpSpPr/>
          <p:nvPr/>
        </p:nvGrpSpPr>
        <p:grpSpPr>
          <a:xfrm rot="0">
            <a:off x="9124950" y="4343848"/>
            <a:ext cx="532809" cy="19050"/>
            <a:chOff x="0" y="0"/>
            <a:chExt cx="710413" cy="25400"/>
          </a:xfrm>
        </p:grpSpPr>
        <p:sp>
          <p:nvSpPr>
            <p:cNvPr name="Freeform 25" id="25"/>
            <p:cNvSpPr/>
            <p:nvPr/>
          </p:nvSpPr>
          <p:spPr>
            <a:xfrm flipH="false" flipV="false" rot="0">
              <a:off x="0" y="0"/>
              <a:ext cx="710438" cy="25400"/>
            </a:xfrm>
            <a:custGeom>
              <a:avLst/>
              <a:gdLst/>
              <a:ahLst/>
              <a:cxnLst/>
              <a:rect r="r" b="b" t="t" l="l"/>
              <a:pathLst>
                <a:path h="25400" w="710438">
                  <a:moveTo>
                    <a:pt x="0" y="12700"/>
                  </a:moveTo>
                  <a:cubicBezTo>
                    <a:pt x="0" y="5715"/>
                    <a:pt x="5715" y="0"/>
                    <a:pt x="12700" y="0"/>
                  </a:cubicBezTo>
                  <a:lnTo>
                    <a:pt x="697738" y="0"/>
                  </a:lnTo>
                  <a:cubicBezTo>
                    <a:pt x="704723" y="0"/>
                    <a:pt x="710438" y="5715"/>
                    <a:pt x="710438" y="12700"/>
                  </a:cubicBezTo>
                  <a:cubicBezTo>
                    <a:pt x="710438" y="19685"/>
                    <a:pt x="704723" y="25400"/>
                    <a:pt x="697738" y="25400"/>
                  </a:cubicBezTo>
                  <a:lnTo>
                    <a:pt x="12700" y="25400"/>
                  </a:lnTo>
                  <a:cubicBezTo>
                    <a:pt x="5715" y="25400"/>
                    <a:pt x="0" y="19685"/>
                    <a:pt x="0" y="12700"/>
                  </a:cubicBezTo>
                  <a:close/>
                </a:path>
              </a:pathLst>
            </a:custGeom>
            <a:solidFill>
              <a:srgbClr val="CED9CE"/>
            </a:solidFill>
            <a:ln w="12700">
              <a:solidFill>
                <a:srgbClr val="000000"/>
              </a:solidFill>
            </a:ln>
          </p:spPr>
        </p:sp>
      </p:grpSp>
      <p:grpSp>
        <p:nvGrpSpPr>
          <p:cNvPr name="Group 26" id="26"/>
          <p:cNvGrpSpPr/>
          <p:nvPr/>
        </p:nvGrpSpPr>
        <p:grpSpPr>
          <a:xfrm rot="0">
            <a:off x="9077401" y="4286774"/>
            <a:ext cx="133198" cy="133198"/>
            <a:chOff x="0" y="0"/>
            <a:chExt cx="177597" cy="177597"/>
          </a:xfrm>
        </p:grpSpPr>
        <p:sp>
          <p:nvSpPr>
            <p:cNvPr name="Freeform 27" id="27"/>
            <p:cNvSpPr/>
            <p:nvPr/>
          </p:nvSpPr>
          <p:spPr>
            <a:xfrm flipH="false" flipV="false" rot="0">
              <a:off x="0" y="0"/>
              <a:ext cx="177546" cy="177546"/>
            </a:xfrm>
            <a:custGeom>
              <a:avLst/>
              <a:gdLst/>
              <a:ahLst/>
              <a:cxnLst/>
              <a:rect r="r" b="b" t="t" l="l"/>
              <a:pathLst>
                <a:path h="177546" w="177546">
                  <a:moveTo>
                    <a:pt x="0" y="88773"/>
                  </a:moveTo>
                  <a:cubicBezTo>
                    <a:pt x="0" y="39751"/>
                    <a:pt x="39751" y="0"/>
                    <a:pt x="88773" y="0"/>
                  </a:cubicBezTo>
                  <a:cubicBezTo>
                    <a:pt x="137795" y="0"/>
                    <a:pt x="177546" y="39751"/>
                    <a:pt x="177546" y="88773"/>
                  </a:cubicBezTo>
                  <a:cubicBezTo>
                    <a:pt x="177546" y="137795"/>
                    <a:pt x="137795" y="177546"/>
                    <a:pt x="88773" y="177546"/>
                  </a:cubicBezTo>
                  <a:cubicBezTo>
                    <a:pt x="39751" y="177546"/>
                    <a:pt x="0" y="137795"/>
                    <a:pt x="0" y="88773"/>
                  </a:cubicBezTo>
                  <a:close/>
                </a:path>
              </a:pathLst>
            </a:custGeom>
            <a:solidFill>
              <a:srgbClr val="438951"/>
            </a:solidFill>
            <a:ln w="12700">
              <a:solidFill>
                <a:srgbClr val="000000"/>
              </a:solidFill>
            </a:ln>
          </p:spPr>
        </p:sp>
      </p:grpSp>
      <p:grpSp>
        <p:nvGrpSpPr>
          <p:cNvPr name="Group 28" id="28"/>
          <p:cNvGrpSpPr/>
          <p:nvPr/>
        </p:nvGrpSpPr>
        <p:grpSpPr>
          <a:xfrm rot="0">
            <a:off x="9676809" y="2947397"/>
            <a:ext cx="7900835" cy="2811961"/>
            <a:chOff x="0" y="0"/>
            <a:chExt cx="10534447" cy="3749281"/>
          </a:xfrm>
        </p:grpSpPr>
        <p:sp>
          <p:nvSpPr>
            <p:cNvPr name="Freeform 29" id="29"/>
            <p:cNvSpPr/>
            <p:nvPr/>
          </p:nvSpPr>
          <p:spPr>
            <a:xfrm flipH="false" flipV="false" rot="0">
              <a:off x="0" y="0"/>
              <a:ext cx="10534397" cy="3749294"/>
            </a:xfrm>
            <a:custGeom>
              <a:avLst/>
              <a:gdLst/>
              <a:ahLst/>
              <a:cxnLst/>
              <a:rect r="r" b="b" t="t" l="l"/>
              <a:pathLst>
                <a:path h="3749294" w="10534397">
                  <a:moveTo>
                    <a:pt x="0" y="213106"/>
                  </a:moveTo>
                  <a:cubicBezTo>
                    <a:pt x="0" y="95377"/>
                    <a:pt x="95377" y="0"/>
                    <a:pt x="213106" y="0"/>
                  </a:cubicBezTo>
                  <a:lnTo>
                    <a:pt x="10321290" y="0"/>
                  </a:lnTo>
                  <a:cubicBezTo>
                    <a:pt x="10439019" y="0"/>
                    <a:pt x="10534397" y="95377"/>
                    <a:pt x="10534397" y="213106"/>
                  </a:cubicBezTo>
                  <a:lnTo>
                    <a:pt x="10534397" y="3536188"/>
                  </a:lnTo>
                  <a:cubicBezTo>
                    <a:pt x="10534397" y="3653917"/>
                    <a:pt x="10439019" y="3749294"/>
                    <a:pt x="10321290" y="3749294"/>
                  </a:cubicBezTo>
                  <a:lnTo>
                    <a:pt x="213106" y="3749294"/>
                  </a:lnTo>
                  <a:cubicBezTo>
                    <a:pt x="95377" y="3749294"/>
                    <a:pt x="0" y="3653917"/>
                    <a:pt x="0" y="3536188"/>
                  </a:cubicBezTo>
                  <a:close/>
                </a:path>
              </a:pathLst>
            </a:custGeom>
            <a:solidFill>
              <a:srgbClr val="E8F3E8"/>
            </a:solidFill>
            <a:ln w="12700">
              <a:solidFill>
                <a:srgbClr val="000000"/>
              </a:solidFill>
            </a:ln>
          </p:spPr>
        </p:sp>
      </p:grpSp>
      <p:sp>
        <p:nvSpPr>
          <p:cNvPr name="TextBox 30" id="30"/>
          <p:cNvSpPr txBox="true"/>
          <p:nvPr/>
        </p:nvSpPr>
        <p:spPr>
          <a:xfrm rot="0">
            <a:off x="9854355" y="3077318"/>
            <a:ext cx="3401463" cy="325193"/>
          </a:xfrm>
          <a:prstGeom prst="rect">
            <a:avLst/>
          </a:prstGeom>
        </p:spPr>
        <p:txBody>
          <a:bodyPr anchor="t" rtlCol="false" tIns="0" lIns="0" bIns="0" rIns="0">
            <a:spAutoFit/>
          </a:bodyPr>
          <a:lstStyle/>
          <a:p>
            <a:pPr algn="l">
              <a:lnSpc>
                <a:spcPts val="2124"/>
              </a:lnSpc>
            </a:pPr>
            <a:r>
              <a:rPr lang="en-US" sz="1687" b="true">
                <a:solidFill>
                  <a:srgbClr val="405449"/>
                </a:solidFill>
                <a:latin typeface="Consolas Bold"/>
                <a:ea typeface="Consolas Bold"/>
                <a:cs typeface="Consolas Bold"/>
                <a:sym typeface="Consolas Bold"/>
              </a:rPr>
              <a:t>Collection: matches/{matchId}</a:t>
            </a:r>
          </a:p>
        </p:txBody>
      </p:sp>
      <p:sp>
        <p:nvSpPr>
          <p:cNvPr name="TextBox 31" id="31"/>
          <p:cNvSpPr txBox="true"/>
          <p:nvPr/>
        </p:nvSpPr>
        <p:spPr>
          <a:xfrm rot="0">
            <a:off x="9854355" y="3442392"/>
            <a:ext cx="7545734" cy="274637"/>
          </a:xfrm>
          <a:prstGeom prst="rect">
            <a:avLst/>
          </a:prstGeom>
        </p:spPr>
        <p:txBody>
          <a:bodyPr anchor="t" rtlCol="false" tIns="0" lIns="0" bIns="0" rIns="0">
            <a:spAutoFit/>
          </a:bodyPr>
          <a:lstStyle/>
          <a:p>
            <a:pPr algn="just">
              <a:lnSpc>
                <a:spcPts val="2187"/>
              </a:lnSpc>
            </a:pPr>
            <a:r>
              <a:rPr lang="en-US" sz="1375">
                <a:solidFill>
                  <a:srgbClr val="405449"/>
                </a:solidFill>
                <a:latin typeface="Arimo"/>
                <a:ea typeface="Arimo"/>
                <a:cs typeface="Arimo"/>
                <a:sym typeface="Arimo"/>
              </a:rPr>
              <a:t>Chaque document représente un match de football spécifique, contenant des détails comme:</a:t>
            </a:r>
          </a:p>
        </p:txBody>
      </p:sp>
      <p:sp>
        <p:nvSpPr>
          <p:cNvPr name="TextBox 32" id="32"/>
          <p:cNvSpPr txBox="true"/>
          <p:nvPr/>
        </p:nvSpPr>
        <p:spPr>
          <a:xfrm rot="0">
            <a:off x="9854355" y="4116886"/>
            <a:ext cx="7545734" cy="274637"/>
          </a:xfrm>
          <a:prstGeom prst="rect">
            <a:avLst/>
          </a:prstGeom>
        </p:spPr>
        <p:txBody>
          <a:bodyPr anchor="t" rtlCol="false" tIns="0" lIns="0" bIns="0" rIns="0">
            <a:spAutoFit/>
          </a:bodyPr>
          <a:lstStyle/>
          <a:p>
            <a:pPr algn="just" marL="207367" indent="-103684" lvl="1">
              <a:lnSpc>
                <a:spcPts val="2187"/>
              </a:lnSpc>
              <a:buFont typeface="Arial"/>
              <a:buChar char="•"/>
            </a:pPr>
            <a:r>
              <a:rPr lang="en-US" sz="1375">
                <a:solidFill>
                  <a:srgbClr val="405449"/>
                </a:solidFill>
                <a:latin typeface="Arimo"/>
                <a:ea typeface="Arimo"/>
                <a:cs typeface="Arimo"/>
                <a:sym typeface="Arimo"/>
              </a:rPr>
              <a:t>organizerId</a:t>
            </a:r>
            <a:r>
              <a:rPr lang="en-US" b="true" sz="1375">
                <a:solidFill>
                  <a:srgbClr val="405449"/>
                </a:solidFill>
                <a:latin typeface="Arimo Bold"/>
                <a:ea typeface="Arimo Bold"/>
                <a:cs typeface="Arimo Bold"/>
                <a:sym typeface="Arimo Bold"/>
              </a:rPr>
              <a:t>:</a:t>
            </a:r>
            <a:r>
              <a:rPr lang="en-US" sz="1375">
                <a:solidFill>
                  <a:srgbClr val="405449"/>
                </a:solidFill>
                <a:latin typeface="Arimo"/>
                <a:ea typeface="Arimo"/>
                <a:cs typeface="Arimo"/>
                <a:sym typeface="Arimo"/>
              </a:rPr>
              <a:t> Référence à l'utilisateur qui a créé le match.</a:t>
            </a:r>
          </a:p>
        </p:txBody>
      </p:sp>
      <p:sp>
        <p:nvSpPr>
          <p:cNvPr name="TextBox 33" id="33"/>
          <p:cNvSpPr txBox="true"/>
          <p:nvPr/>
        </p:nvSpPr>
        <p:spPr>
          <a:xfrm rot="0">
            <a:off x="9854355" y="4481960"/>
            <a:ext cx="7545734" cy="274637"/>
          </a:xfrm>
          <a:prstGeom prst="rect">
            <a:avLst/>
          </a:prstGeom>
        </p:spPr>
        <p:txBody>
          <a:bodyPr anchor="t" rtlCol="false" tIns="0" lIns="0" bIns="0" rIns="0">
            <a:spAutoFit/>
          </a:bodyPr>
          <a:lstStyle/>
          <a:p>
            <a:pPr algn="just" marL="207367" indent="-103684" lvl="1">
              <a:lnSpc>
                <a:spcPts val="2187"/>
              </a:lnSpc>
              <a:buFont typeface="Arial"/>
              <a:buChar char="•"/>
            </a:pPr>
            <a:r>
              <a:rPr lang="en-US" sz="1375">
                <a:solidFill>
                  <a:srgbClr val="405449"/>
                </a:solidFill>
                <a:latin typeface="Arimo"/>
                <a:ea typeface="Arimo"/>
                <a:cs typeface="Arimo"/>
                <a:sym typeface="Arimo"/>
              </a:rPr>
              <a:t>date</a:t>
            </a:r>
            <a:r>
              <a:rPr lang="en-US" b="true" sz="1375">
                <a:solidFill>
                  <a:srgbClr val="405449"/>
                </a:solidFill>
                <a:latin typeface="Arimo Bold"/>
                <a:ea typeface="Arimo Bold"/>
                <a:cs typeface="Arimo Bold"/>
                <a:sym typeface="Arimo Bold"/>
              </a:rPr>
              <a:t>, </a:t>
            </a:r>
            <a:r>
              <a:rPr lang="en-US" sz="1375">
                <a:solidFill>
                  <a:srgbClr val="405449"/>
                </a:solidFill>
                <a:latin typeface="Arimo"/>
                <a:ea typeface="Arimo"/>
                <a:cs typeface="Arimo"/>
                <a:sym typeface="Arimo"/>
              </a:rPr>
              <a:t>time</a:t>
            </a:r>
            <a:r>
              <a:rPr lang="en-US" b="true" sz="1375">
                <a:solidFill>
                  <a:srgbClr val="405449"/>
                </a:solidFill>
                <a:latin typeface="Arimo Bold"/>
                <a:ea typeface="Arimo Bold"/>
                <a:cs typeface="Arimo Bold"/>
                <a:sym typeface="Arimo Bold"/>
              </a:rPr>
              <a:t>, </a:t>
            </a:r>
            <a:r>
              <a:rPr lang="en-US" sz="1375">
                <a:solidFill>
                  <a:srgbClr val="405449"/>
                </a:solidFill>
                <a:latin typeface="Arimo"/>
                <a:ea typeface="Arimo"/>
                <a:cs typeface="Arimo"/>
                <a:sym typeface="Arimo"/>
              </a:rPr>
              <a:t>location</a:t>
            </a:r>
            <a:r>
              <a:rPr lang="en-US" b="true" sz="1375">
                <a:solidFill>
                  <a:srgbClr val="405449"/>
                </a:solidFill>
                <a:latin typeface="Arimo Bold"/>
                <a:ea typeface="Arimo Bold"/>
                <a:cs typeface="Arimo Bold"/>
                <a:sym typeface="Arimo Bold"/>
              </a:rPr>
              <a:t>:</a:t>
            </a:r>
            <a:r>
              <a:rPr lang="en-US" sz="1375">
                <a:solidFill>
                  <a:srgbClr val="405449"/>
                </a:solidFill>
                <a:latin typeface="Arimo"/>
                <a:ea typeface="Arimo"/>
                <a:cs typeface="Arimo"/>
                <a:sym typeface="Arimo"/>
              </a:rPr>
              <a:t> Détails du match.</a:t>
            </a:r>
          </a:p>
        </p:txBody>
      </p:sp>
      <p:sp>
        <p:nvSpPr>
          <p:cNvPr name="TextBox 34" id="34"/>
          <p:cNvSpPr txBox="true"/>
          <p:nvPr/>
        </p:nvSpPr>
        <p:spPr>
          <a:xfrm rot="0">
            <a:off x="9854355" y="4847034"/>
            <a:ext cx="7545734" cy="274637"/>
          </a:xfrm>
          <a:prstGeom prst="rect">
            <a:avLst/>
          </a:prstGeom>
        </p:spPr>
        <p:txBody>
          <a:bodyPr anchor="t" rtlCol="false" tIns="0" lIns="0" bIns="0" rIns="0">
            <a:spAutoFit/>
          </a:bodyPr>
          <a:lstStyle/>
          <a:p>
            <a:pPr algn="just" marL="207367" indent="-103684" lvl="1">
              <a:lnSpc>
                <a:spcPts val="2187"/>
              </a:lnSpc>
              <a:buFont typeface="Arial"/>
              <a:buChar char="•"/>
            </a:pPr>
            <a:r>
              <a:rPr lang="en-US" sz="1375">
                <a:solidFill>
                  <a:srgbClr val="405449"/>
                </a:solidFill>
                <a:latin typeface="Arimo"/>
                <a:ea typeface="Arimo"/>
                <a:cs typeface="Arimo"/>
                <a:sym typeface="Arimo"/>
              </a:rPr>
              <a:t>capacity</a:t>
            </a:r>
            <a:r>
              <a:rPr lang="en-US" b="true" sz="1375">
                <a:solidFill>
                  <a:srgbClr val="405449"/>
                </a:solidFill>
                <a:latin typeface="Arimo Bold"/>
                <a:ea typeface="Arimo Bold"/>
                <a:cs typeface="Arimo Bold"/>
                <a:sym typeface="Arimo Bold"/>
              </a:rPr>
              <a:t>:</a:t>
            </a:r>
            <a:r>
              <a:rPr lang="en-US" sz="1375">
                <a:solidFill>
                  <a:srgbClr val="405449"/>
                </a:solidFill>
                <a:latin typeface="Arimo"/>
                <a:ea typeface="Arimo"/>
                <a:cs typeface="Arimo"/>
                <a:sym typeface="Arimo"/>
              </a:rPr>
              <a:t> Nombre maximal de joueurs.</a:t>
            </a:r>
          </a:p>
        </p:txBody>
      </p:sp>
      <p:sp>
        <p:nvSpPr>
          <p:cNvPr name="TextBox 35" id="35"/>
          <p:cNvSpPr txBox="true"/>
          <p:nvPr/>
        </p:nvSpPr>
        <p:spPr>
          <a:xfrm rot="0">
            <a:off x="9854355" y="5212109"/>
            <a:ext cx="7545734" cy="274637"/>
          </a:xfrm>
          <a:prstGeom prst="rect">
            <a:avLst/>
          </a:prstGeom>
        </p:spPr>
        <p:txBody>
          <a:bodyPr anchor="t" rtlCol="false" tIns="0" lIns="0" bIns="0" rIns="0">
            <a:spAutoFit/>
          </a:bodyPr>
          <a:lstStyle/>
          <a:p>
            <a:pPr algn="just" marL="207367" indent="-103684" lvl="1">
              <a:lnSpc>
                <a:spcPts val="2187"/>
              </a:lnSpc>
              <a:buFont typeface="Arial"/>
              <a:buChar char="•"/>
            </a:pPr>
            <a:r>
              <a:rPr lang="en-US" sz="1375">
                <a:solidFill>
                  <a:srgbClr val="405449"/>
                </a:solidFill>
                <a:latin typeface="Arimo"/>
                <a:ea typeface="Arimo"/>
                <a:cs typeface="Arimo"/>
                <a:sym typeface="Arimo"/>
              </a:rPr>
              <a:t>status</a:t>
            </a:r>
            <a:r>
              <a:rPr lang="en-US" b="true" sz="1375">
                <a:solidFill>
                  <a:srgbClr val="405449"/>
                </a:solidFill>
                <a:latin typeface="Arimo Bold"/>
                <a:ea typeface="Arimo Bold"/>
                <a:cs typeface="Arimo Bold"/>
                <a:sym typeface="Arimo Bold"/>
              </a:rPr>
              <a:t>:</a:t>
            </a:r>
            <a:r>
              <a:rPr lang="en-US" sz="1375">
                <a:solidFill>
                  <a:srgbClr val="405449"/>
                </a:solidFill>
                <a:latin typeface="Arimo"/>
                <a:ea typeface="Arimo"/>
                <a:cs typeface="Arimo"/>
                <a:sym typeface="Arimo"/>
              </a:rPr>
              <a:t> État actuel du match (ex: 'planned', 'ongoing', 'completed').</a:t>
            </a:r>
          </a:p>
        </p:txBody>
      </p:sp>
      <p:grpSp>
        <p:nvGrpSpPr>
          <p:cNvPr name="Group 36" id="36"/>
          <p:cNvGrpSpPr/>
          <p:nvPr/>
        </p:nvGrpSpPr>
        <p:grpSpPr>
          <a:xfrm rot="0">
            <a:off x="8630241" y="6992988"/>
            <a:ext cx="532809" cy="19050"/>
            <a:chOff x="0" y="0"/>
            <a:chExt cx="710413" cy="25400"/>
          </a:xfrm>
        </p:grpSpPr>
        <p:sp>
          <p:nvSpPr>
            <p:cNvPr name="Freeform 37" id="37"/>
            <p:cNvSpPr/>
            <p:nvPr/>
          </p:nvSpPr>
          <p:spPr>
            <a:xfrm flipH="false" flipV="false" rot="0">
              <a:off x="0" y="0"/>
              <a:ext cx="710438" cy="25400"/>
            </a:xfrm>
            <a:custGeom>
              <a:avLst/>
              <a:gdLst/>
              <a:ahLst/>
              <a:cxnLst/>
              <a:rect r="r" b="b" t="t" l="l"/>
              <a:pathLst>
                <a:path h="25400" w="710438">
                  <a:moveTo>
                    <a:pt x="0" y="12700"/>
                  </a:moveTo>
                  <a:cubicBezTo>
                    <a:pt x="0" y="5715"/>
                    <a:pt x="5715" y="0"/>
                    <a:pt x="12700" y="0"/>
                  </a:cubicBezTo>
                  <a:lnTo>
                    <a:pt x="697738" y="0"/>
                  </a:lnTo>
                  <a:cubicBezTo>
                    <a:pt x="704723" y="0"/>
                    <a:pt x="710438" y="5715"/>
                    <a:pt x="710438" y="12700"/>
                  </a:cubicBezTo>
                  <a:cubicBezTo>
                    <a:pt x="710438" y="19685"/>
                    <a:pt x="704723" y="25400"/>
                    <a:pt x="697738" y="25400"/>
                  </a:cubicBezTo>
                  <a:lnTo>
                    <a:pt x="12700" y="25400"/>
                  </a:lnTo>
                  <a:cubicBezTo>
                    <a:pt x="5715" y="25400"/>
                    <a:pt x="0" y="19685"/>
                    <a:pt x="0" y="12700"/>
                  </a:cubicBezTo>
                  <a:close/>
                </a:path>
              </a:pathLst>
            </a:custGeom>
            <a:solidFill>
              <a:srgbClr val="CED9CE"/>
            </a:solidFill>
            <a:ln w="12700">
              <a:solidFill>
                <a:srgbClr val="000000"/>
              </a:solidFill>
            </a:ln>
          </p:spPr>
        </p:sp>
      </p:grpSp>
      <p:grpSp>
        <p:nvGrpSpPr>
          <p:cNvPr name="Group 38" id="38"/>
          <p:cNvGrpSpPr/>
          <p:nvPr/>
        </p:nvGrpSpPr>
        <p:grpSpPr>
          <a:xfrm rot="0">
            <a:off x="9077401" y="6935914"/>
            <a:ext cx="133198" cy="133198"/>
            <a:chOff x="0" y="0"/>
            <a:chExt cx="177597" cy="177597"/>
          </a:xfrm>
        </p:grpSpPr>
        <p:sp>
          <p:nvSpPr>
            <p:cNvPr name="Freeform 39" id="39"/>
            <p:cNvSpPr/>
            <p:nvPr/>
          </p:nvSpPr>
          <p:spPr>
            <a:xfrm flipH="false" flipV="false" rot="0">
              <a:off x="0" y="0"/>
              <a:ext cx="177546" cy="177546"/>
            </a:xfrm>
            <a:custGeom>
              <a:avLst/>
              <a:gdLst/>
              <a:ahLst/>
              <a:cxnLst/>
              <a:rect r="r" b="b" t="t" l="l"/>
              <a:pathLst>
                <a:path h="177546" w="177546">
                  <a:moveTo>
                    <a:pt x="0" y="88773"/>
                  </a:moveTo>
                  <a:cubicBezTo>
                    <a:pt x="0" y="39751"/>
                    <a:pt x="39751" y="0"/>
                    <a:pt x="88773" y="0"/>
                  </a:cubicBezTo>
                  <a:cubicBezTo>
                    <a:pt x="137795" y="0"/>
                    <a:pt x="177546" y="39751"/>
                    <a:pt x="177546" y="88773"/>
                  </a:cubicBezTo>
                  <a:cubicBezTo>
                    <a:pt x="177546" y="137795"/>
                    <a:pt x="137795" y="177546"/>
                    <a:pt x="88773" y="177546"/>
                  </a:cubicBezTo>
                  <a:cubicBezTo>
                    <a:pt x="39751" y="177546"/>
                    <a:pt x="0" y="137795"/>
                    <a:pt x="0" y="88773"/>
                  </a:cubicBezTo>
                  <a:close/>
                </a:path>
              </a:pathLst>
            </a:custGeom>
            <a:solidFill>
              <a:srgbClr val="438951"/>
            </a:solidFill>
            <a:ln w="12700">
              <a:solidFill>
                <a:srgbClr val="000000"/>
              </a:solidFill>
            </a:ln>
          </p:spPr>
        </p:sp>
      </p:grpSp>
      <p:grpSp>
        <p:nvGrpSpPr>
          <p:cNvPr name="Group 40" id="40"/>
          <p:cNvGrpSpPr/>
          <p:nvPr/>
        </p:nvGrpSpPr>
        <p:grpSpPr>
          <a:xfrm rot="0">
            <a:off x="710355" y="5779141"/>
            <a:ext cx="7900835" cy="2446887"/>
            <a:chOff x="0" y="0"/>
            <a:chExt cx="10534447" cy="3262516"/>
          </a:xfrm>
        </p:grpSpPr>
        <p:sp>
          <p:nvSpPr>
            <p:cNvPr name="Freeform 41" id="41"/>
            <p:cNvSpPr/>
            <p:nvPr/>
          </p:nvSpPr>
          <p:spPr>
            <a:xfrm flipH="false" flipV="false" rot="0">
              <a:off x="0" y="0"/>
              <a:ext cx="10534397" cy="3262503"/>
            </a:xfrm>
            <a:custGeom>
              <a:avLst/>
              <a:gdLst/>
              <a:ahLst/>
              <a:cxnLst/>
              <a:rect r="r" b="b" t="t" l="l"/>
              <a:pathLst>
                <a:path h="3262503" w="10534397">
                  <a:moveTo>
                    <a:pt x="0" y="213106"/>
                  </a:moveTo>
                  <a:cubicBezTo>
                    <a:pt x="0" y="95377"/>
                    <a:pt x="95377" y="0"/>
                    <a:pt x="213106" y="0"/>
                  </a:cubicBezTo>
                  <a:lnTo>
                    <a:pt x="10321290" y="0"/>
                  </a:lnTo>
                  <a:cubicBezTo>
                    <a:pt x="10439019" y="0"/>
                    <a:pt x="10534397" y="95377"/>
                    <a:pt x="10534397" y="213106"/>
                  </a:cubicBezTo>
                  <a:lnTo>
                    <a:pt x="10534397" y="3049397"/>
                  </a:lnTo>
                  <a:cubicBezTo>
                    <a:pt x="10534397" y="3167126"/>
                    <a:pt x="10439019" y="3262503"/>
                    <a:pt x="10321290" y="3262503"/>
                  </a:cubicBezTo>
                  <a:lnTo>
                    <a:pt x="213106" y="3262503"/>
                  </a:lnTo>
                  <a:cubicBezTo>
                    <a:pt x="95377" y="3262503"/>
                    <a:pt x="0" y="3167126"/>
                    <a:pt x="0" y="3049397"/>
                  </a:cubicBezTo>
                  <a:close/>
                </a:path>
              </a:pathLst>
            </a:custGeom>
            <a:solidFill>
              <a:srgbClr val="E8F3E8"/>
            </a:solidFill>
            <a:ln w="12700">
              <a:solidFill>
                <a:srgbClr val="000000"/>
              </a:solidFill>
            </a:ln>
          </p:spPr>
        </p:sp>
      </p:grpSp>
      <p:sp>
        <p:nvSpPr>
          <p:cNvPr name="TextBox 42" id="42"/>
          <p:cNvSpPr txBox="true"/>
          <p:nvPr/>
        </p:nvSpPr>
        <p:spPr>
          <a:xfrm rot="0">
            <a:off x="887911" y="5928865"/>
            <a:ext cx="6009382" cy="301625"/>
          </a:xfrm>
          <a:prstGeom prst="rect">
            <a:avLst/>
          </a:prstGeom>
        </p:spPr>
        <p:txBody>
          <a:bodyPr anchor="t" rtlCol="false" tIns="0" lIns="0" bIns="0" rIns="0">
            <a:spAutoFit/>
          </a:bodyPr>
          <a:lstStyle/>
          <a:p>
            <a:pPr algn="ctr">
              <a:lnSpc>
                <a:spcPts val="2124"/>
              </a:lnSpc>
            </a:pPr>
            <a:r>
              <a:rPr lang="en-US" sz="1687" b="true">
                <a:solidFill>
                  <a:srgbClr val="405449"/>
                </a:solidFill>
                <a:latin typeface="Consolas Bold"/>
                <a:ea typeface="Consolas Bold"/>
                <a:cs typeface="Consolas Bold"/>
                <a:sym typeface="Consolas Bold"/>
              </a:rPr>
              <a:t>Subcollection: matches/{matchId}/participants/{uid}</a:t>
            </a:r>
          </a:p>
        </p:txBody>
      </p:sp>
      <p:sp>
        <p:nvSpPr>
          <p:cNvPr name="TextBox 43" id="43"/>
          <p:cNvSpPr txBox="true"/>
          <p:nvPr/>
        </p:nvSpPr>
        <p:spPr>
          <a:xfrm rot="0">
            <a:off x="887911" y="6274146"/>
            <a:ext cx="7545734" cy="274637"/>
          </a:xfrm>
          <a:prstGeom prst="rect">
            <a:avLst/>
          </a:prstGeom>
        </p:spPr>
        <p:txBody>
          <a:bodyPr anchor="t" rtlCol="false" tIns="0" lIns="0" bIns="0" rIns="0">
            <a:spAutoFit/>
          </a:bodyPr>
          <a:lstStyle/>
          <a:p>
            <a:pPr algn="just">
              <a:lnSpc>
                <a:spcPts val="2187"/>
              </a:lnSpc>
            </a:pPr>
            <a:r>
              <a:rPr lang="en-US" sz="1375">
                <a:solidFill>
                  <a:srgbClr val="405449"/>
                </a:solidFill>
                <a:latin typeface="Arimo"/>
                <a:ea typeface="Arimo"/>
                <a:cs typeface="Arimo"/>
                <a:sym typeface="Arimo"/>
              </a:rPr>
              <a:t>Cette sous-collection stocke les participants pour chaque match. Chaque document contient:</a:t>
            </a:r>
          </a:p>
        </p:txBody>
      </p:sp>
      <p:sp>
        <p:nvSpPr>
          <p:cNvPr name="TextBox 44" id="44"/>
          <p:cNvSpPr txBox="true"/>
          <p:nvPr/>
        </p:nvSpPr>
        <p:spPr>
          <a:xfrm rot="0">
            <a:off x="887911" y="6948640"/>
            <a:ext cx="7545734" cy="274637"/>
          </a:xfrm>
          <a:prstGeom prst="rect">
            <a:avLst/>
          </a:prstGeom>
        </p:spPr>
        <p:txBody>
          <a:bodyPr anchor="t" rtlCol="false" tIns="0" lIns="0" bIns="0" rIns="0">
            <a:spAutoFit/>
          </a:bodyPr>
          <a:lstStyle/>
          <a:p>
            <a:pPr algn="just" marL="207367" indent="-103684" lvl="1">
              <a:lnSpc>
                <a:spcPts val="2187"/>
              </a:lnSpc>
              <a:buFont typeface="Arial"/>
              <a:buChar char="•"/>
            </a:pPr>
            <a:r>
              <a:rPr lang="en-US" sz="1375">
                <a:solidFill>
                  <a:srgbClr val="405449"/>
                </a:solidFill>
                <a:latin typeface="Arimo"/>
                <a:ea typeface="Arimo"/>
                <a:cs typeface="Arimo"/>
                <a:sym typeface="Arimo"/>
              </a:rPr>
              <a:t>userId</a:t>
            </a:r>
            <a:r>
              <a:rPr lang="en-US" b="true" sz="1375">
                <a:solidFill>
                  <a:srgbClr val="405449"/>
                </a:solidFill>
                <a:latin typeface="Arimo Bold"/>
                <a:ea typeface="Arimo Bold"/>
                <a:cs typeface="Arimo Bold"/>
                <a:sym typeface="Arimo Bold"/>
              </a:rPr>
              <a:t>:</a:t>
            </a:r>
            <a:r>
              <a:rPr lang="en-US" sz="1375">
                <a:solidFill>
                  <a:srgbClr val="405449"/>
                </a:solidFill>
                <a:latin typeface="Arimo"/>
                <a:ea typeface="Arimo"/>
                <a:cs typeface="Arimo"/>
                <a:sym typeface="Arimo"/>
              </a:rPr>
              <a:t> Référence à l'utilisateur participant.</a:t>
            </a:r>
          </a:p>
        </p:txBody>
      </p:sp>
      <p:sp>
        <p:nvSpPr>
          <p:cNvPr name="TextBox 45" id="45"/>
          <p:cNvSpPr txBox="true"/>
          <p:nvPr/>
        </p:nvSpPr>
        <p:spPr>
          <a:xfrm rot="0">
            <a:off x="887911" y="7313714"/>
            <a:ext cx="7545734" cy="274637"/>
          </a:xfrm>
          <a:prstGeom prst="rect">
            <a:avLst/>
          </a:prstGeom>
        </p:spPr>
        <p:txBody>
          <a:bodyPr anchor="t" rtlCol="false" tIns="0" lIns="0" bIns="0" rIns="0">
            <a:spAutoFit/>
          </a:bodyPr>
          <a:lstStyle/>
          <a:p>
            <a:pPr algn="just" marL="207367" indent="-103684" lvl="1">
              <a:lnSpc>
                <a:spcPts val="2187"/>
              </a:lnSpc>
              <a:buFont typeface="Arial"/>
              <a:buChar char="•"/>
            </a:pPr>
            <a:r>
              <a:rPr lang="en-US" sz="1375">
                <a:solidFill>
                  <a:srgbClr val="405449"/>
                </a:solidFill>
                <a:latin typeface="Arimo"/>
                <a:ea typeface="Arimo"/>
                <a:cs typeface="Arimo"/>
                <a:sym typeface="Arimo"/>
              </a:rPr>
              <a:t>status</a:t>
            </a:r>
            <a:r>
              <a:rPr lang="en-US" b="true" sz="1375">
                <a:solidFill>
                  <a:srgbClr val="405449"/>
                </a:solidFill>
                <a:latin typeface="Arimo Bold"/>
                <a:ea typeface="Arimo Bold"/>
                <a:cs typeface="Arimo Bold"/>
                <a:sym typeface="Arimo Bold"/>
              </a:rPr>
              <a:t>:</a:t>
            </a:r>
            <a:r>
              <a:rPr lang="en-US" sz="1375">
                <a:solidFill>
                  <a:srgbClr val="405449"/>
                </a:solidFill>
                <a:latin typeface="Arimo"/>
                <a:ea typeface="Arimo"/>
                <a:cs typeface="Arimo"/>
                <a:sym typeface="Arimo"/>
              </a:rPr>
              <a:t> Statut de participation (PENDING, ACCEPTED, REJECTED, KICKED).</a:t>
            </a:r>
          </a:p>
        </p:txBody>
      </p:sp>
      <p:sp>
        <p:nvSpPr>
          <p:cNvPr name="TextBox 46" id="46"/>
          <p:cNvSpPr txBox="true"/>
          <p:nvPr/>
        </p:nvSpPr>
        <p:spPr>
          <a:xfrm rot="0">
            <a:off x="887911" y="7678788"/>
            <a:ext cx="7545734" cy="274637"/>
          </a:xfrm>
          <a:prstGeom prst="rect">
            <a:avLst/>
          </a:prstGeom>
        </p:spPr>
        <p:txBody>
          <a:bodyPr anchor="t" rtlCol="false" tIns="0" lIns="0" bIns="0" rIns="0">
            <a:spAutoFit/>
          </a:bodyPr>
          <a:lstStyle/>
          <a:p>
            <a:pPr algn="just" marL="207367" indent="-103684" lvl="1">
              <a:lnSpc>
                <a:spcPts val="2187"/>
              </a:lnSpc>
              <a:buFont typeface="Arial"/>
              <a:buChar char="•"/>
            </a:pPr>
            <a:r>
              <a:rPr lang="en-US" sz="1375">
                <a:solidFill>
                  <a:srgbClr val="405449"/>
                </a:solidFill>
                <a:latin typeface="Arimo"/>
                <a:ea typeface="Arimo"/>
                <a:cs typeface="Arimo"/>
                <a:sym typeface="Arimo"/>
              </a:rPr>
              <a:t>joinedAt</a:t>
            </a:r>
            <a:r>
              <a:rPr lang="en-US" b="true" sz="1375">
                <a:solidFill>
                  <a:srgbClr val="405449"/>
                </a:solidFill>
                <a:latin typeface="Arimo Bold"/>
                <a:ea typeface="Arimo Bold"/>
                <a:cs typeface="Arimo Bold"/>
                <a:sym typeface="Arimo Bold"/>
              </a:rPr>
              <a:t>:</a:t>
            </a:r>
            <a:r>
              <a:rPr lang="en-US" sz="1375">
                <a:solidFill>
                  <a:srgbClr val="405449"/>
                </a:solidFill>
                <a:latin typeface="Arimo"/>
                <a:ea typeface="Arimo"/>
                <a:cs typeface="Arimo"/>
                <a:sym typeface="Arimo"/>
              </a:rPr>
              <a:t> Horodatage de l'inscription.</a:t>
            </a:r>
          </a:p>
        </p:txBody>
      </p:sp>
      <p:grpSp>
        <p:nvGrpSpPr>
          <p:cNvPr name="Group 47" id="47"/>
          <p:cNvGrpSpPr/>
          <p:nvPr/>
        </p:nvGrpSpPr>
        <p:grpSpPr>
          <a:xfrm rot="0">
            <a:off x="9124950" y="8576520"/>
            <a:ext cx="532809" cy="19050"/>
            <a:chOff x="0" y="0"/>
            <a:chExt cx="710413" cy="25400"/>
          </a:xfrm>
        </p:grpSpPr>
        <p:sp>
          <p:nvSpPr>
            <p:cNvPr name="Freeform 48" id="48"/>
            <p:cNvSpPr/>
            <p:nvPr/>
          </p:nvSpPr>
          <p:spPr>
            <a:xfrm flipH="false" flipV="false" rot="0">
              <a:off x="0" y="0"/>
              <a:ext cx="710438" cy="25400"/>
            </a:xfrm>
            <a:custGeom>
              <a:avLst/>
              <a:gdLst/>
              <a:ahLst/>
              <a:cxnLst/>
              <a:rect r="r" b="b" t="t" l="l"/>
              <a:pathLst>
                <a:path h="25400" w="710438">
                  <a:moveTo>
                    <a:pt x="0" y="12700"/>
                  </a:moveTo>
                  <a:cubicBezTo>
                    <a:pt x="0" y="5715"/>
                    <a:pt x="5715" y="0"/>
                    <a:pt x="12700" y="0"/>
                  </a:cubicBezTo>
                  <a:lnTo>
                    <a:pt x="697738" y="0"/>
                  </a:lnTo>
                  <a:cubicBezTo>
                    <a:pt x="704723" y="0"/>
                    <a:pt x="710438" y="5715"/>
                    <a:pt x="710438" y="12700"/>
                  </a:cubicBezTo>
                  <a:cubicBezTo>
                    <a:pt x="710438" y="19685"/>
                    <a:pt x="704723" y="25400"/>
                    <a:pt x="697738" y="25400"/>
                  </a:cubicBezTo>
                  <a:lnTo>
                    <a:pt x="12700" y="25400"/>
                  </a:lnTo>
                  <a:cubicBezTo>
                    <a:pt x="5715" y="25400"/>
                    <a:pt x="0" y="19685"/>
                    <a:pt x="0" y="12700"/>
                  </a:cubicBezTo>
                  <a:close/>
                </a:path>
              </a:pathLst>
            </a:custGeom>
            <a:solidFill>
              <a:srgbClr val="CED9CE"/>
            </a:solidFill>
            <a:ln w="12700">
              <a:solidFill>
                <a:srgbClr val="000000"/>
              </a:solidFill>
            </a:ln>
          </p:spPr>
        </p:sp>
      </p:grpSp>
      <p:grpSp>
        <p:nvGrpSpPr>
          <p:cNvPr name="Group 49" id="49"/>
          <p:cNvGrpSpPr/>
          <p:nvPr/>
        </p:nvGrpSpPr>
        <p:grpSpPr>
          <a:xfrm rot="0">
            <a:off x="9077401" y="8519446"/>
            <a:ext cx="133198" cy="133198"/>
            <a:chOff x="0" y="0"/>
            <a:chExt cx="177597" cy="177597"/>
          </a:xfrm>
        </p:grpSpPr>
        <p:sp>
          <p:nvSpPr>
            <p:cNvPr name="Freeform 50" id="50"/>
            <p:cNvSpPr/>
            <p:nvPr/>
          </p:nvSpPr>
          <p:spPr>
            <a:xfrm flipH="false" flipV="false" rot="0">
              <a:off x="0" y="0"/>
              <a:ext cx="177546" cy="177546"/>
            </a:xfrm>
            <a:custGeom>
              <a:avLst/>
              <a:gdLst/>
              <a:ahLst/>
              <a:cxnLst/>
              <a:rect r="r" b="b" t="t" l="l"/>
              <a:pathLst>
                <a:path h="177546" w="177546">
                  <a:moveTo>
                    <a:pt x="0" y="88773"/>
                  </a:moveTo>
                  <a:cubicBezTo>
                    <a:pt x="0" y="39751"/>
                    <a:pt x="39751" y="0"/>
                    <a:pt x="88773" y="0"/>
                  </a:cubicBezTo>
                  <a:cubicBezTo>
                    <a:pt x="137795" y="0"/>
                    <a:pt x="177546" y="39751"/>
                    <a:pt x="177546" y="88773"/>
                  </a:cubicBezTo>
                  <a:cubicBezTo>
                    <a:pt x="177546" y="137795"/>
                    <a:pt x="137795" y="177546"/>
                    <a:pt x="88773" y="177546"/>
                  </a:cubicBezTo>
                  <a:cubicBezTo>
                    <a:pt x="39751" y="177546"/>
                    <a:pt x="0" y="137795"/>
                    <a:pt x="0" y="88773"/>
                  </a:cubicBezTo>
                  <a:close/>
                </a:path>
              </a:pathLst>
            </a:custGeom>
            <a:solidFill>
              <a:srgbClr val="438951"/>
            </a:solidFill>
            <a:ln w="12700">
              <a:solidFill>
                <a:srgbClr val="000000"/>
              </a:solidFill>
            </a:ln>
          </p:spPr>
        </p:sp>
      </p:grpSp>
      <p:grpSp>
        <p:nvGrpSpPr>
          <p:cNvPr name="Group 51" id="51"/>
          <p:cNvGrpSpPr/>
          <p:nvPr/>
        </p:nvGrpSpPr>
        <p:grpSpPr>
          <a:xfrm rot="0">
            <a:off x="9676809" y="7362673"/>
            <a:ext cx="7900835" cy="2446887"/>
            <a:chOff x="0" y="0"/>
            <a:chExt cx="10534447" cy="3262516"/>
          </a:xfrm>
        </p:grpSpPr>
        <p:sp>
          <p:nvSpPr>
            <p:cNvPr name="Freeform 52" id="52"/>
            <p:cNvSpPr/>
            <p:nvPr/>
          </p:nvSpPr>
          <p:spPr>
            <a:xfrm flipH="false" flipV="false" rot="0">
              <a:off x="0" y="0"/>
              <a:ext cx="10534397" cy="3262503"/>
            </a:xfrm>
            <a:custGeom>
              <a:avLst/>
              <a:gdLst/>
              <a:ahLst/>
              <a:cxnLst/>
              <a:rect r="r" b="b" t="t" l="l"/>
              <a:pathLst>
                <a:path h="3262503" w="10534397">
                  <a:moveTo>
                    <a:pt x="0" y="213106"/>
                  </a:moveTo>
                  <a:cubicBezTo>
                    <a:pt x="0" y="95377"/>
                    <a:pt x="95377" y="0"/>
                    <a:pt x="213106" y="0"/>
                  </a:cubicBezTo>
                  <a:lnTo>
                    <a:pt x="10321290" y="0"/>
                  </a:lnTo>
                  <a:cubicBezTo>
                    <a:pt x="10439019" y="0"/>
                    <a:pt x="10534397" y="95377"/>
                    <a:pt x="10534397" y="213106"/>
                  </a:cubicBezTo>
                  <a:lnTo>
                    <a:pt x="10534397" y="3049397"/>
                  </a:lnTo>
                  <a:cubicBezTo>
                    <a:pt x="10534397" y="3167126"/>
                    <a:pt x="10439019" y="3262503"/>
                    <a:pt x="10321290" y="3262503"/>
                  </a:cubicBezTo>
                  <a:lnTo>
                    <a:pt x="213106" y="3262503"/>
                  </a:lnTo>
                  <a:cubicBezTo>
                    <a:pt x="95377" y="3262503"/>
                    <a:pt x="0" y="3167126"/>
                    <a:pt x="0" y="3049397"/>
                  </a:cubicBezTo>
                  <a:close/>
                </a:path>
              </a:pathLst>
            </a:custGeom>
            <a:solidFill>
              <a:srgbClr val="E8F3E8"/>
            </a:solidFill>
            <a:ln w="12700">
              <a:solidFill>
                <a:srgbClr val="000000"/>
              </a:solidFill>
            </a:ln>
          </p:spPr>
        </p:sp>
      </p:grpSp>
      <p:sp>
        <p:nvSpPr>
          <p:cNvPr name="TextBox 53" id="53"/>
          <p:cNvSpPr txBox="true"/>
          <p:nvPr/>
        </p:nvSpPr>
        <p:spPr>
          <a:xfrm rot="0">
            <a:off x="9854355" y="7492603"/>
            <a:ext cx="5889727" cy="325193"/>
          </a:xfrm>
          <a:prstGeom prst="rect">
            <a:avLst/>
          </a:prstGeom>
        </p:spPr>
        <p:txBody>
          <a:bodyPr anchor="t" rtlCol="false" tIns="0" lIns="0" bIns="0" rIns="0">
            <a:spAutoFit/>
          </a:bodyPr>
          <a:lstStyle/>
          <a:p>
            <a:pPr algn="l">
              <a:lnSpc>
                <a:spcPts val="2124"/>
              </a:lnSpc>
            </a:pPr>
            <a:r>
              <a:rPr lang="en-US" sz="1687" b="true">
                <a:solidFill>
                  <a:srgbClr val="405449"/>
                </a:solidFill>
                <a:latin typeface="Consolas Bold"/>
                <a:ea typeface="Consolas Bold"/>
                <a:cs typeface="Consolas Bold"/>
                <a:sym typeface="Consolas Bold"/>
              </a:rPr>
              <a:t>Subcollection: matches/{matchId}/messages/{msgId}</a:t>
            </a:r>
          </a:p>
        </p:txBody>
      </p:sp>
      <p:sp>
        <p:nvSpPr>
          <p:cNvPr name="TextBox 54" id="54"/>
          <p:cNvSpPr txBox="true"/>
          <p:nvPr/>
        </p:nvSpPr>
        <p:spPr>
          <a:xfrm rot="0">
            <a:off x="9854355" y="7857677"/>
            <a:ext cx="7545734" cy="274637"/>
          </a:xfrm>
          <a:prstGeom prst="rect">
            <a:avLst/>
          </a:prstGeom>
        </p:spPr>
        <p:txBody>
          <a:bodyPr anchor="t" rtlCol="false" tIns="0" lIns="0" bIns="0" rIns="0">
            <a:spAutoFit/>
          </a:bodyPr>
          <a:lstStyle/>
          <a:p>
            <a:pPr algn="just">
              <a:lnSpc>
                <a:spcPts val="2187"/>
              </a:lnSpc>
            </a:pPr>
            <a:r>
              <a:rPr lang="en-US" sz="1375">
                <a:solidFill>
                  <a:srgbClr val="405449"/>
                </a:solidFill>
                <a:latin typeface="Arimo"/>
                <a:ea typeface="Arimo"/>
                <a:cs typeface="Arimo"/>
                <a:sym typeface="Arimo"/>
              </a:rPr>
              <a:t>Utilisée pour le chat spécifique à chaque match. Chaque document représente un message:</a:t>
            </a:r>
          </a:p>
        </p:txBody>
      </p:sp>
      <p:sp>
        <p:nvSpPr>
          <p:cNvPr name="TextBox 55" id="55"/>
          <p:cNvSpPr txBox="true"/>
          <p:nvPr/>
        </p:nvSpPr>
        <p:spPr>
          <a:xfrm rot="0">
            <a:off x="9854355" y="8532171"/>
            <a:ext cx="7545734" cy="274637"/>
          </a:xfrm>
          <a:prstGeom prst="rect">
            <a:avLst/>
          </a:prstGeom>
        </p:spPr>
        <p:txBody>
          <a:bodyPr anchor="t" rtlCol="false" tIns="0" lIns="0" bIns="0" rIns="0">
            <a:spAutoFit/>
          </a:bodyPr>
          <a:lstStyle/>
          <a:p>
            <a:pPr algn="just" marL="207367" indent="-103684" lvl="1">
              <a:lnSpc>
                <a:spcPts val="2187"/>
              </a:lnSpc>
              <a:buFont typeface="Arial"/>
              <a:buChar char="•"/>
            </a:pPr>
            <a:r>
              <a:rPr lang="en-US" sz="1375">
                <a:solidFill>
                  <a:srgbClr val="405449"/>
                </a:solidFill>
                <a:latin typeface="Arimo"/>
                <a:ea typeface="Arimo"/>
                <a:cs typeface="Arimo"/>
                <a:sym typeface="Arimo"/>
              </a:rPr>
              <a:t>senderId</a:t>
            </a:r>
            <a:r>
              <a:rPr lang="en-US" b="true" sz="1375">
                <a:solidFill>
                  <a:srgbClr val="405449"/>
                </a:solidFill>
                <a:latin typeface="Arimo Bold"/>
                <a:ea typeface="Arimo Bold"/>
                <a:cs typeface="Arimo Bold"/>
                <a:sym typeface="Arimo Bold"/>
              </a:rPr>
              <a:t>:</a:t>
            </a:r>
            <a:r>
              <a:rPr lang="en-US" sz="1375">
                <a:solidFill>
                  <a:srgbClr val="405449"/>
                </a:solidFill>
                <a:latin typeface="Arimo"/>
                <a:ea typeface="Arimo"/>
                <a:cs typeface="Arimo"/>
                <a:sym typeface="Arimo"/>
              </a:rPr>
              <a:t> ID de l'expéditeur.</a:t>
            </a:r>
          </a:p>
        </p:txBody>
      </p:sp>
      <p:sp>
        <p:nvSpPr>
          <p:cNvPr name="TextBox 56" id="56"/>
          <p:cNvSpPr txBox="true"/>
          <p:nvPr/>
        </p:nvSpPr>
        <p:spPr>
          <a:xfrm rot="0">
            <a:off x="9854355" y="8897245"/>
            <a:ext cx="7545734" cy="274637"/>
          </a:xfrm>
          <a:prstGeom prst="rect">
            <a:avLst/>
          </a:prstGeom>
        </p:spPr>
        <p:txBody>
          <a:bodyPr anchor="t" rtlCol="false" tIns="0" lIns="0" bIns="0" rIns="0">
            <a:spAutoFit/>
          </a:bodyPr>
          <a:lstStyle/>
          <a:p>
            <a:pPr algn="just" marL="207367" indent="-103684" lvl="1">
              <a:lnSpc>
                <a:spcPts val="2187"/>
              </a:lnSpc>
              <a:buFont typeface="Arial"/>
              <a:buChar char="•"/>
            </a:pPr>
            <a:r>
              <a:rPr lang="en-US" sz="1375">
                <a:solidFill>
                  <a:srgbClr val="405449"/>
                </a:solidFill>
                <a:latin typeface="Arimo"/>
                <a:ea typeface="Arimo"/>
                <a:cs typeface="Arimo"/>
                <a:sym typeface="Arimo"/>
              </a:rPr>
              <a:t>content</a:t>
            </a:r>
            <a:r>
              <a:rPr lang="en-US" b="true" sz="1375">
                <a:solidFill>
                  <a:srgbClr val="405449"/>
                </a:solidFill>
                <a:latin typeface="Arimo Bold"/>
                <a:ea typeface="Arimo Bold"/>
                <a:cs typeface="Arimo Bold"/>
                <a:sym typeface="Arimo Bold"/>
              </a:rPr>
              <a:t>:</a:t>
            </a:r>
            <a:r>
              <a:rPr lang="en-US" sz="1375">
                <a:solidFill>
                  <a:srgbClr val="405449"/>
                </a:solidFill>
                <a:latin typeface="Arimo"/>
                <a:ea typeface="Arimo"/>
                <a:cs typeface="Arimo"/>
                <a:sym typeface="Arimo"/>
              </a:rPr>
              <a:t> Texte du message.</a:t>
            </a:r>
          </a:p>
        </p:txBody>
      </p:sp>
      <p:sp>
        <p:nvSpPr>
          <p:cNvPr name="TextBox 57" id="57"/>
          <p:cNvSpPr txBox="true"/>
          <p:nvPr/>
        </p:nvSpPr>
        <p:spPr>
          <a:xfrm rot="0">
            <a:off x="9854355" y="9262320"/>
            <a:ext cx="7545734" cy="274637"/>
          </a:xfrm>
          <a:prstGeom prst="rect">
            <a:avLst/>
          </a:prstGeom>
        </p:spPr>
        <p:txBody>
          <a:bodyPr anchor="t" rtlCol="false" tIns="0" lIns="0" bIns="0" rIns="0">
            <a:spAutoFit/>
          </a:bodyPr>
          <a:lstStyle/>
          <a:p>
            <a:pPr algn="just" marL="207367" indent="-103684" lvl="1">
              <a:lnSpc>
                <a:spcPts val="2187"/>
              </a:lnSpc>
              <a:buFont typeface="Arial"/>
              <a:buChar char="•"/>
            </a:pPr>
            <a:r>
              <a:rPr lang="en-US" sz="1375">
                <a:solidFill>
                  <a:srgbClr val="405449"/>
                </a:solidFill>
                <a:latin typeface="Arimo"/>
                <a:ea typeface="Arimo"/>
                <a:cs typeface="Arimo"/>
                <a:sym typeface="Arimo"/>
              </a:rPr>
              <a:t>timestamp</a:t>
            </a:r>
            <a:r>
              <a:rPr lang="en-US" b="true" sz="1375">
                <a:solidFill>
                  <a:srgbClr val="405449"/>
                </a:solidFill>
                <a:latin typeface="Arimo Bold"/>
                <a:ea typeface="Arimo Bold"/>
                <a:cs typeface="Arimo Bold"/>
                <a:sym typeface="Arimo Bold"/>
              </a:rPr>
              <a:t>:</a:t>
            </a:r>
            <a:r>
              <a:rPr lang="en-US" sz="1375">
                <a:solidFill>
                  <a:srgbClr val="405449"/>
                </a:solidFill>
                <a:latin typeface="Arimo"/>
                <a:ea typeface="Arimo"/>
                <a:cs typeface="Arimo"/>
                <a:sym typeface="Arimo"/>
              </a:rPr>
              <a:t> Horodatage de l'envoi.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a:ln w="12700">
              <a:solidFill>
                <a:srgbClr val="000000"/>
              </a:solidFill>
            </a:ln>
          </p:spPr>
        </p:sp>
      </p:grpSp>
      <p:sp>
        <p:nvSpPr>
          <p:cNvPr name="Freeform 6" id="6"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3"/>
            <a:stretch>
              <a:fillRect l="0" t="0" r="0" b="0"/>
            </a:stretch>
          </a:blipFill>
        </p:spPr>
      </p:sp>
      <p:sp>
        <p:nvSpPr>
          <p:cNvPr name="TextBox 7" id="7"/>
          <p:cNvSpPr txBox="true"/>
          <p:nvPr/>
        </p:nvSpPr>
        <p:spPr>
          <a:xfrm rot="0">
            <a:off x="7850238" y="1260872"/>
            <a:ext cx="9445523" cy="1569244"/>
          </a:xfrm>
          <a:prstGeom prst="rect">
            <a:avLst/>
          </a:prstGeom>
        </p:spPr>
        <p:txBody>
          <a:bodyPr anchor="t" rtlCol="false" tIns="0" lIns="0" bIns="0" rIns="0">
            <a:spAutoFit/>
          </a:bodyPr>
          <a:lstStyle/>
          <a:p>
            <a:pPr algn="l">
              <a:lnSpc>
                <a:spcPts val="6062"/>
              </a:lnSpc>
            </a:pPr>
            <a:r>
              <a:rPr lang="en-US" sz="4875" b="true">
                <a:solidFill>
                  <a:srgbClr val="3B4540"/>
                </a:solidFill>
                <a:latin typeface="Fraunces Bold"/>
                <a:ea typeface="Fraunces Bold"/>
                <a:cs typeface="Fraunces Bold"/>
                <a:sym typeface="Fraunces Bold"/>
              </a:rPr>
              <a:t>Diagramme de Cas d'Utilisation</a:t>
            </a:r>
          </a:p>
        </p:txBody>
      </p:sp>
      <p:sp>
        <p:nvSpPr>
          <p:cNvPr name="TextBox 8" id="8"/>
          <p:cNvSpPr txBox="true"/>
          <p:nvPr/>
        </p:nvSpPr>
        <p:spPr>
          <a:xfrm rot="0">
            <a:off x="7850238" y="3106941"/>
            <a:ext cx="9445523" cy="774700"/>
          </a:xfrm>
          <a:prstGeom prst="rect">
            <a:avLst/>
          </a:prstGeom>
        </p:spPr>
        <p:txBody>
          <a:bodyPr anchor="t" rtlCol="false" tIns="0" lIns="0" bIns="0" rIns="0">
            <a:spAutoFit/>
          </a:bodyPr>
          <a:lstStyle/>
          <a:p>
            <a:pPr algn="just">
              <a:lnSpc>
                <a:spcPts val="3125"/>
              </a:lnSpc>
            </a:pPr>
            <a:r>
              <a:rPr lang="en-US" sz="1937">
                <a:solidFill>
                  <a:srgbClr val="405449"/>
                </a:solidFill>
                <a:latin typeface="Arimo"/>
                <a:ea typeface="Arimo"/>
                <a:cs typeface="Arimo"/>
                <a:sym typeface="Arimo"/>
              </a:rPr>
              <a:t>Ce diagramme de cas d'utilisation illustre les interactions principales entre les acteurs du système (Joueur et Organisateur) et les fonctionnalités offertes par MatchUp.</a:t>
            </a:r>
          </a:p>
        </p:txBody>
      </p:sp>
      <p:sp>
        <p:nvSpPr>
          <p:cNvPr name="TextBox 9" id="9"/>
          <p:cNvSpPr txBox="true"/>
          <p:nvPr/>
        </p:nvSpPr>
        <p:spPr>
          <a:xfrm rot="0">
            <a:off x="7850238" y="4576763"/>
            <a:ext cx="9445523" cy="774700"/>
          </a:xfrm>
          <a:prstGeom prst="rect">
            <a:avLst/>
          </a:prstGeom>
        </p:spPr>
        <p:txBody>
          <a:bodyPr anchor="t" rtlCol="false" tIns="0" lIns="0" bIns="0" rIns="0">
            <a:spAutoFit/>
          </a:bodyPr>
          <a:lstStyle/>
          <a:p>
            <a:pPr algn="just" marL="292199" indent="-146100" lvl="1">
              <a:lnSpc>
                <a:spcPts val="3125"/>
              </a:lnSpc>
              <a:buFont typeface="Arial"/>
              <a:buChar char="•"/>
            </a:pPr>
            <a:r>
              <a:rPr lang="en-US" b="true" sz="1937">
                <a:solidFill>
                  <a:srgbClr val="405449"/>
                </a:solidFill>
                <a:latin typeface="Arimo Bold"/>
                <a:ea typeface="Arimo Bold"/>
                <a:cs typeface="Arimo Bold"/>
                <a:sym typeface="Arimo Bold"/>
              </a:rPr>
              <a:t>Le Joueur</a:t>
            </a:r>
            <a:r>
              <a:rPr lang="en-US" sz="1937">
                <a:solidFill>
                  <a:srgbClr val="405449"/>
                </a:solidFill>
                <a:latin typeface="Arimo"/>
                <a:ea typeface="Arimo"/>
                <a:cs typeface="Arimo"/>
                <a:sym typeface="Arimo"/>
              </a:rPr>
              <a:t> peut s'authentifier, gérer son profil, rechercher et consulter des matchs, envoyer des demandes de participation, et chatter au sein des matchs acceptés.</a:t>
            </a:r>
          </a:p>
        </p:txBody>
      </p:sp>
      <p:sp>
        <p:nvSpPr>
          <p:cNvPr name="TextBox 10" id="10"/>
          <p:cNvSpPr txBox="true"/>
          <p:nvPr/>
        </p:nvSpPr>
        <p:spPr>
          <a:xfrm rot="0">
            <a:off x="7850238" y="5854303"/>
            <a:ext cx="9445523" cy="1165225"/>
          </a:xfrm>
          <a:prstGeom prst="rect">
            <a:avLst/>
          </a:prstGeom>
        </p:spPr>
        <p:txBody>
          <a:bodyPr anchor="t" rtlCol="false" tIns="0" lIns="0" bIns="0" rIns="0">
            <a:spAutoFit/>
          </a:bodyPr>
          <a:lstStyle/>
          <a:p>
            <a:pPr algn="just" marL="292199" indent="-146100" lvl="1">
              <a:lnSpc>
                <a:spcPts val="3125"/>
              </a:lnSpc>
              <a:buFont typeface="Arial"/>
              <a:buChar char="•"/>
            </a:pPr>
            <a:r>
              <a:rPr lang="en-US" b="true" sz="1937">
                <a:solidFill>
                  <a:srgbClr val="405449"/>
                </a:solidFill>
                <a:latin typeface="Arimo Bold"/>
                <a:ea typeface="Arimo Bold"/>
                <a:cs typeface="Arimo Bold"/>
                <a:sym typeface="Arimo Bold"/>
              </a:rPr>
              <a:t>L'Organisateur</a:t>
            </a:r>
            <a:r>
              <a:rPr lang="en-US" sz="1937">
                <a:solidFill>
                  <a:srgbClr val="405449"/>
                </a:solidFill>
                <a:latin typeface="Arimo"/>
                <a:ea typeface="Arimo"/>
                <a:cs typeface="Arimo"/>
                <a:sym typeface="Arimo"/>
              </a:rPr>
              <a:t>, en plus des fonctionnalités du joueur (implicitement), peut créer des matchs, gérer les demandes de participation (accepter/refuser), exclure des joueurs, et est également un acteur dans le chat des matchs qu'il organise.</a:t>
            </a:r>
          </a:p>
        </p:txBody>
      </p:sp>
      <p:sp>
        <p:nvSpPr>
          <p:cNvPr name="TextBox 11" id="11"/>
          <p:cNvSpPr txBox="true"/>
          <p:nvPr/>
        </p:nvSpPr>
        <p:spPr>
          <a:xfrm rot="0">
            <a:off x="7850238" y="7721051"/>
            <a:ext cx="9445523" cy="1165225"/>
          </a:xfrm>
          <a:prstGeom prst="rect">
            <a:avLst/>
          </a:prstGeom>
        </p:spPr>
        <p:txBody>
          <a:bodyPr anchor="t" rtlCol="false" tIns="0" lIns="0" bIns="0" rIns="0">
            <a:spAutoFit/>
          </a:bodyPr>
          <a:lstStyle/>
          <a:p>
            <a:pPr algn="just">
              <a:lnSpc>
                <a:spcPts val="3125"/>
              </a:lnSpc>
            </a:pPr>
            <a:r>
              <a:rPr lang="en-US" sz="1937">
                <a:solidFill>
                  <a:srgbClr val="405449"/>
                </a:solidFill>
                <a:latin typeface="Arimo"/>
                <a:ea typeface="Arimo"/>
                <a:cs typeface="Arimo"/>
                <a:sym typeface="Arimo"/>
              </a:rPr>
              <a:t>Les relations d'inclusion et d'extension montrent la granularité et la dépendance entre certains cas d'utilisation, garantissant une compréhension claire des parcours utilisateurs.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a:ln w="12700">
              <a:solidFill>
                <a:srgbClr val="000000"/>
              </a:solidFill>
            </a:ln>
          </p:spPr>
        </p:sp>
      </p:grpSp>
      <p:sp>
        <p:nvSpPr>
          <p:cNvPr name="TextBox 6" id="6"/>
          <p:cNvSpPr txBox="true"/>
          <p:nvPr/>
        </p:nvSpPr>
        <p:spPr>
          <a:xfrm rot="0">
            <a:off x="879424" y="934936"/>
            <a:ext cx="9926841" cy="706193"/>
          </a:xfrm>
          <a:prstGeom prst="rect">
            <a:avLst/>
          </a:prstGeom>
        </p:spPr>
        <p:txBody>
          <a:bodyPr anchor="t" rtlCol="false" tIns="0" lIns="0" bIns="0" rIns="0">
            <a:spAutoFit/>
          </a:bodyPr>
          <a:lstStyle/>
          <a:p>
            <a:pPr algn="l">
              <a:lnSpc>
                <a:spcPts val="5374"/>
              </a:lnSpc>
            </a:pPr>
            <a:r>
              <a:rPr lang="en-US" sz="4312" b="true">
                <a:solidFill>
                  <a:srgbClr val="3B4540"/>
                </a:solidFill>
                <a:latin typeface="Fraunces Bold"/>
                <a:ea typeface="Fraunces Bold"/>
                <a:cs typeface="Fraunces Bold"/>
                <a:sym typeface="Fraunces Bold"/>
              </a:rPr>
              <a:t>Règles Métier et Gestion des Statuts</a:t>
            </a:r>
          </a:p>
        </p:txBody>
      </p:sp>
      <p:sp>
        <p:nvSpPr>
          <p:cNvPr name="TextBox 7" id="7"/>
          <p:cNvSpPr txBox="true"/>
          <p:nvPr/>
        </p:nvSpPr>
        <p:spPr>
          <a:xfrm rot="0">
            <a:off x="879424" y="1995040"/>
            <a:ext cx="16529152" cy="789089"/>
          </a:xfrm>
          <a:prstGeom prst="rect">
            <a:avLst/>
          </a:prstGeom>
        </p:spPr>
        <p:txBody>
          <a:bodyPr anchor="t" rtlCol="false" tIns="0" lIns="0" bIns="0" rIns="0">
            <a:spAutoFit/>
          </a:bodyPr>
          <a:lstStyle/>
          <a:p>
            <a:pPr algn="l">
              <a:lnSpc>
                <a:spcPts val="2749"/>
              </a:lnSpc>
            </a:pPr>
            <a:r>
              <a:rPr lang="en-US" sz="1687">
                <a:solidFill>
                  <a:srgbClr val="405449"/>
                </a:solidFill>
                <a:latin typeface="Arimo"/>
                <a:ea typeface="Arimo"/>
                <a:cs typeface="Arimo"/>
                <a:sym typeface="Arimo"/>
              </a:rPr>
              <a:t>Pour assurer un fonctionnement juste et cohérent, MatchUp intègre des règles métier strictes, notamment autour de la gestion des statuts des participants et de la capacité des matchs.</a:t>
            </a:r>
          </a:p>
        </p:txBody>
      </p:sp>
      <p:grpSp>
        <p:nvGrpSpPr>
          <p:cNvPr name="Group 8" id="8"/>
          <p:cNvGrpSpPr/>
          <p:nvPr/>
        </p:nvGrpSpPr>
        <p:grpSpPr>
          <a:xfrm rot="0">
            <a:off x="879424" y="3361287"/>
            <a:ext cx="5363166" cy="5021018"/>
            <a:chOff x="0" y="0"/>
            <a:chExt cx="7150887" cy="6694691"/>
          </a:xfrm>
        </p:grpSpPr>
        <p:sp>
          <p:nvSpPr>
            <p:cNvPr name="Freeform 9" id="9"/>
            <p:cNvSpPr/>
            <p:nvPr/>
          </p:nvSpPr>
          <p:spPr>
            <a:xfrm flipH="false" flipV="false" rot="0">
              <a:off x="0" y="0"/>
              <a:ext cx="7150862" cy="6694678"/>
            </a:xfrm>
            <a:custGeom>
              <a:avLst/>
              <a:gdLst/>
              <a:ahLst/>
              <a:cxnLst/>
              <a:rect r="r" b="b" t="t" l="l"/>
              <a:pathLst>
                <a:path h="6694678" w="7150862">
                  <a:moveTo>
                    <a:pt x="0" y="182880"/>
                  </a:moveTo>
                  <a:cubicBezTo>
                    <a:pt x="0" y="81915"/>
                    <a:pt x="81915" y="0"/>
                    <a:pt x="182880" y="0"/>
                  </a:cubicBezTo>
                  <a:lnTo>
                    <a:pt x="6967982" y="0"/>
                  </a:lnTo>
                  <a:cubicBezTo>
                    <a:pt x="7068947" y="0"/>
                    <a:pt x="7150862" y="81915"/>
                    <a:pt x="7150862" y="182880"/>
                  </a:cubicBezTo>
                  <a:lnTo>
                    <a:pt x="7150862" y="6511798"/>
                  </a:lnTo>
                  <a:cubicBezTo>
                    <a:pt x="7150862" y="6612763"/>
                    <a:pt x="7068947" y="6694678"/>
                    <a:pt x="6967982" y="6694678"/>
                  </a:cubicBezTo>
                  <a:lnTo>
                    <a:pt x="182880" y="6694678"/>
                  </a:lnTo>
                  <a:cubicBezTo>
                    <a:pt x="81915" y="6694678"/>
                    <a:pt x="0" y="6612763"/>
                    <a:pt x="0" y="6511798"/>
                  </a:cubicBezTo>
                  <a:close/>
                </a:path>
              </a:pathLst>
            </a:custGeom>
            <a:solidFill>
              <a:srgbClr val="FAFFFA"/>
            </a:solidFill>
            <a:ln w="12700">
              <a:solidFill>
                <a:srgbClr val="000000"/>
              </a:solidFill>
            </a:ln>
          </p:spPr>
        </p:sp>
      </p:grpSp>
      <p:grpSp>
        <p:nvGrpSpPr>
          <p:cNvPr name="Group 10" id="10"/>
          <p:cNvGrpSpPr/>
          <p:nvPr/>
        </p:nvGrpSpPr>
        <p:grpSpPr>
          <a:xfrm rot="0">
            <a:off x="879424" y="3332712"/>
            <a:ext cx="5363166" cy="114300"/>
            <a:chOff x="0" y="0"/>
            <a:chExt cx="7150887" cy="152400"/>
          </a:xfrm>
        </p:grpSpPr>
        <p:sp>
          <p:nvSpPr>
            <p:cNvPr name="Freeform 11" id="11"/>
            <p:cNvSpPr/>
            <p:nvPr/>
          </p:nvSpPr>
          <p:spPr>
            <a:xfrm flipH="false" flipV="false" rot="0">
              <a:off x="0" y="0"/>
              <a:ext cx="7150862" cy="152400"/>
            </a:xfrm>
            <a:custGeom>
              <a:avLst/>
              <a:gdLst/>
              <a:ahLst/>
              <a:cxnLst/>
              <a:rect r="r" b="b" t="t" l="l"/>
              <a:pathLst>
                <a:path h="152400" w="7150862">
                  <a:moveTo>
                    <a:pt x="0" y="76200"/>
                  </a:moveTo>
                  <a:cubicBezTo>
                    <a:pt x="0" y="34163"/>
                    <a:pt x="34163" y="0"/>
                    <a:pt x="76200" y="0"/>
                  </a:cubicBezTo>
                  <a:lnTo>
                    <a:pt x="7074662" y="0"/>
                  </a:lnTo>
                  <a:cubicBezTo>
                    <a:pt x="7116699" y="0"/>
                    <a:pt x="7150862" y="34163"/>
                    <a:pt x="7150862" y="76200"/>
                  </a:cubicBezTo>
                  <a:cubicBezTo>
                    <a:pt x="7150862" y="118237"/>
                    <a:pt x="7116699" y="152400"/>
                    <a:pt x="7074662" y="152400"/>
                  </a:cubicBezTo>
                  <a:lnTo>
                    <a:pt x="76200" y="152400"/>
                  </a:lnTo>
                  <a:cubicBezTo>
                    <a:pt x="34163" y="152400"/>
                    <a:pt x="0" y="118237"/>
                    <a:pt x="0" y="76200"/>
                  </a:cubicBezTo>
                  <a:close/>
                </a:path>
              </a:pathLst>
            </a:custGeom>
            <a:solidFill>
              <a:srgbClr val="438951"/>
            </a:solidFill>
            <a:ln w="12700">
              <a:solidFill>
                <a:srgbClr val="000000"/>
              </a:solidFill>
            </a:ln>
          </p:spPr>
        </p:sp>
      </p:grpSp>
      <p:grpSp>
        <p:nvGrpSpPr>
          <p:cNvPr name="Group 12" id="12"/>
          <p:cNvGrpSpPr/>
          <p:nvPr/>
        </p:nvGrpSpPr>
        <p:grpSpPr>
          <a:xfrm rot="0">
            <a:off x="3231204" y="3031484"/>
            <a:ext cx="659606" cy="659606"/>
            <a:chOff x="0" y="0"/>
            <a:chExt cx="879475" cy="879475"/>
          </a:xfrm>
        </p:grpSpPr>
        <p:sp>
          <p:nvSpPr>
            <p:cNvPr name="Freeform 13" id="13"/>
            <p:cNvSpPr/>
            <p:nvPr/>
          </p:nvSpPr>
          <p:spPr>
            <a:xfrm flipH="false" flipV="false" rot="0">
              <a:off x="0" y="0"/>
              <a:ext cx="879475" cy="879475"/>
            </a:xfrm>
            <a:custGeom>
              <a:avLst/>
              <a:gdLst/>
              <a:ahLst/>
              <a:cxnLst/>
              <a:rect r="r" b="b" t="t" l="l"/>
              <a:pathLst>
                <a:path h="879475" w="879475">
                  <a:moveTo>
                    <a:pt x="0" y="439674"/>
                  </a:moveTo>
                  <a:cubicBezTo>
                    <a:pt x="0" y="196850"/>
                    <a:pt x="196850" y="0"/>
                    <a:pt x="439674" y="0"/>
                  </a:cubicBezTo>
                  <a:cubicBezTo>
                    <a:pt x="682498" y="0"/>
                    <a:pt x="879475" y="196850"/>
                    <a:pt x="879475" y="439674"/>
                  </a:cubicBezTo>
                  <a:cubicBezTo>
                    <a:pt x="879475" y="682498"/>
                    <a:pt x="682625" y="879475"/>
                    <a:pt x="439674" y="879475"/>
                  </a:cubicBezTo>
                  <a:cubicBezTo>
                    <a:pt x="196723" y="879475"/>
                    <a:pt x="0" y="682625"/>
                    <a:pt x="0" y="439674"/>
                  </a:cubicBezTo>
                  <a:close/>
                </a:path>
              </a:pathLst>
            </a:custGeom>
            <a:solidFill>
              <a:srgbClr val="438951"/>
            </a:solidFill>
            <a:ln w="12700">
              <a:solidFill>
                <a:srgbClr val="000000"/>
              </a:solidFill>
            </a:ln>
          </p:spPr>
        </p:sp>
      </p:grpSp>
      <p:sp>
        <p:nvSpPr>
          <p:cNvPr name="Freeform 14" id="14" descr="preencoded.png"/>
          <p:cNvSpPr/>
          <p:nvPr/>
        </p:nvSpPr>
        <p:spPr>
          <a:xfrm flipH="false" flipV="false" rot="0">
            <a:off x="3429152" y="3229423"/>
            <a:ext cx="263728" cy="263728"/>
          </a:xfrm>
          <a:custGeom>
            <a:avLst/>
            <a:gdLst/>
            <a:ahLst/>
            <a:cxnLst/>
            <a:rect r="r" b="b" t="t" l="l"/>
            <a:pathLst>
              <a:path h="263728" w="263728">
                <a:moveTo>
                  <a:pt x="0" y="0"/>
                </a:moveTo>
                <a:lnTo>
                  <a:pt x="263729" y="0"/>
                </a:lnTo>
                <a:lnTo>
                  <a:pt x="263729" y="263728"/>
                </a:lnTo>
                <a:lnTo>
                  <a:pt x="0" y="263728"/>
                </a:lnTo>
                <a:lnTo>
                  <a:pt x="0" y="0"/>
                </a:lnTo>
                <a:close/>
              </a:path>
            </a:pathLst>
          </a:custGeom>
          <a:blipFill>
            <a:blip r:embed="rId3">
              <a:extLst>
                <a:ext uri="{96DAC541-7B7A-43D3-8B79-37D633B846F1}">
                  <asvg:svgBlip xmlns:asvg="http://schemas.microsoft.com/office/drawing/2016/SVG/main" r:embed="rId4"/>
                </a:ext>
              </a:extLst>
            </a:blip>
            <a:stretch>
              <a:fillRect l="0" t="-10715" r="0" b="-10712"/>
            </a:stretch>
          </a:blipFill>
        </p:spPr>
      </p:sp>
      <p:sp>
        <p:nvSpPr>
          <p:cNvPr name="TextBox 15" id="15"/>
          <p:cNvSpPr txBox="true"/>
          <p:nvPr/>
        </p:nvSpPr>
        <p:spPr>
          <a:xfrm rot="0">
            <a:off x="1127817" y="3901383"/>
            <a:ext cx="3350266" cy="353016"/>
          </a:xfrm>
          <a:prstGeom prst="rect">
            <a:avLst/>
          </a:prstGeom>
        </p:spPr>
        <p:txBody>
          <a:bodyPr anchor="t" rtlCol="false" tIns="0" lIns="0" bIns="0" rIns="0">
            <a:spAutoFit/>
          </a:bodyPr>
          <a:lstStyle/>
          <a:p>
            <a:pPr algn="l">
              <a:lnSpc>
                <a:spcPts val="2687"/>
              </a:lnSpc>
            </a:pPr>
            <a:r>
              <a:rPr lang="en-US" sz="2125" b="true">
                <a:solidFill>
                  <a:srgbClr val="405449"/>
                </a:solidFill>
                <a:latin typeface="Fraunces Bold"/>
                <a:ea typeface="Fraunces Bold"/>
                <a:cs typeface="Fraunces Bold"/>
                <a:sym typeface="Fraunces Bold"/>
              </a:rPr>
              <a:t>Statuts des Participants</a:t>
            </a:r>
          </a:p>
        </p:txBody>
      </p:sp>
      <p:sp>
        <p:nvSpPr>
          <p:cNvPr name="TextBox 16" id="16"/>
          <p:cNvSpPr txBox="true"/>
          <p:nvPr/>
        </p:nvSpPr>
        <p:spPr>
          <a:xfrm rot="0">
            <a:off x="1127817" y="4300537"/>
            <a:ext cx="4866380" cy="679450"/>
          </a:xfrm>
          <a:prstGeom prst="rect">
            <a:avLst/>
          </a:prstGeom>
        </p:spPr>
        <p:txBody>
          <a:bodyPr anchor="t" rtlCol="false" tIns="0" lIns="0" bIns="0" rIns="0">
            <a:spAutoFit/>
          </a:bodyPr>
          <a:lstStyle/>
          <a:p>
            <a:pPr algn="just" marL="254496" indent="-127248" lvl="1">
              <a:lnSpc>
                <a:spcPts val="2749"/>
              </a:lnSpc>
              <a:buFont typeface="Arial"/>
              <a:buChar char="•"/>
            </a:pPr>
            <a:r>
              <a:rPr lang="en-US" b="true" sz="1687">
                <a:solidFill>
                  <a:srgbClr val="405449"/>
                </a:solidFill>
                <a:latin typeface="Arimo Bold"/>
                <a:ea typeface="Arimo Bold"/>
                <a:cs typeface="Arimo Bold"/>
                <a:sym typeface="Arimo Bold"/>
              </a:rPr>
              <a:t>PENDING:</a:t>
            </a:r>
            <a:r>
              <a:rPr lang="en-US" sz="1687">
                <a:solidFill>
                  <a:srgbClr val="405449"/>
                </a:solidFill>
                <a:latin typeface="Arimo"/>
                <a:ea typeface="Arimo"/>
                <a:cs typeface="Arimo"/>
                <a:sym typeface="Arimo"/>
              </a:rPr>
              <a:t> Demande de participation en attente de validation par l'organisateur.</a:t>
            </a:r>
          </a:p>
        </p:txBody>
      </p:sp>
      <p:sp>
        <p:nvSpPr>
          <p:cNvPr name="TextBox 17" id="17"/>
          <p:cNvSpPr txBox="true"/>
          <p:nvPr/>
        </p:nvSpPr>
        <p:spPr>
          <a:xfrm rot="0">
            <a:off x="1127817" y="5080845"/>
            <a:ext cx="4866380" cy="679450"/>
          </a:xfrm>
          <a:prstGeom prst="rect">
            <a:avLst/>
          </a:prstGeom>
        </p:spPr>
        <p:txBody>
          <a:bodyPr anchor="t" rtlCol="false" tIns="0" lIns="0" bIns="0" rIns="0">
            <a:spAutoFit/>
          </a:bodyPr>
          <a:lstStyle/>
          <a:p>
            <a:pPr algn="just" marL="254496" indent="-127248" lvl="1">
              <a:lnSpc>
                <a:spcPts val="2749"/>
              </a:lnSpc>
              <a:buFont typeface="Arial"/>
              <a:buChar char="•"/>
            </a:pPr>
            <a:r>
              <a:rPr lang="en-US" b="true" sz="1687">
                <a:solidFill>
                  <a:srgbClr val="405449"/>
                </a:solidFill>
                <a:latin typeface="Arimo Bold"/>
                <a:ea typeface="Arimo Bold"/>
                <a:cs typeface="Arimo Bold"/>
                <a:sym typeface="Arimo Bold"/>
              </a:rPr>
              <a:t>ACCEPTED:</a:t>
            </a:r>
            <a:r>
              <a:rPr lang="en-US" sz="1687">
                <a:solidFill>
                  <a:srgbClr val="405449"/>
                </a:solidFill>
                <a:latin typeface="Arimo"/>
                <a:ea typeface="Arimo"/>
                <a:cs typeface="Arimo"/>
                <a:sym typeface="Arimo"/>
              </a:rPr>
              <a:t> Le joueur est officiellement inscrit et a accès au chat du match.</a:t>
            </a:r>
          </a:p>
        </p:txBody>
      </p:sp>
      <p:sp>
        <p:nvSpPr>
          <p:cNvPr name="TextBox 18" id="18"/>
          <p:cNvSpPr txBox="true"/>
          <p:nvPr/>
        </p:nvSpPr>
        <p:spPr>
          <a:xfrm rot="0">
            <a:off x="1127817" y="5861152"/>
            <a:ext cx="4866380" cy="1022350"/>
          </a:xfrm>
          <a:prstGeom prst="rect">
            <a:avLst/>
          </a:prstGeom>
        </p:spPr>
        <p:txBody>
          <a:bodyPr anchor="t" rtlCol="false" tIns="0" lIns="0" bIns="0" rIns="0">
            <a:spAutoFit/>
          </a:bodyPr>
          <a:lstStyle/>
          <a:p>
            <a:pPr algn="just" marL="254496" indent="-127248" lvl="1">
              <a:lnSpc>
                <a:spcPts val="2749"/>
              </a:lnSpc>
              <a:buFont typeface="Arial"/>
              <a:buChar char="•"/>
            </a:pPr>
            <a:r>
              <a:rPr lang="en-US" b="true" sz="1687">
                <a:solidFill>
                  <a:srgbClr val="405449"/>
                </a:solidFill>
                <a:latin typeface="Arimo Bold"/>
                <a:ea typeface="Arimo Bold"/>
                <a:cs typeface="Arimo Bold"/>
                <a:sym typeface="Arimo Bold"/>
              </a:rPr>
              <a:t>REJECTED:</a:t>
            </a:r>
            <a:r>
              <a:rPr lang="en-US" sz="1687">
                <a:solidFill>
                  <a:srgbClr val="405449"/>
                </a:solidFill>
                <a:latin typeface="Arimo"/>
                <a:ea typeface="Arimo"/>
                <a:cs typeface="Arimo"/>
                <a:sym typeface="Arimo"/>
              </a:rPr>
              <a:t> La demande du joueur a été refusée par l'organisateur. Le joueur ne peut pas rejoindre le match.</a:t>
            </a:r>
          </a:p>
        </p:txBody>
      </p:sp>
      <p:sp>
        <p:nvSpPr>
          <p:cNvPr name="TextBox 19" id="19"/>
          <p:cNvSpPr txBox="true"/>
          <p:nvPr/>
        </p:nvSpPr>
        <p:spPr>
          <a:xfrm rot="0">
            <a:off x="1127817" y="6993141"/>
            <a:ext cx="4866380" cy="1022350"/>
          </a:xfrm>
          <a:prstGeom prst="rect">
            <a:avLst/>
          </a:prstGeom>
        </p:spPr>
        <p:txBody>
          <a:bodyPr anchor="t" rtlCol="false" tIns="0" lIns="0" bIns="0" rIns="0">
            <a:spAutoFit/>
          </a:bodyPr>
          <a:lstStyle/>
          <a:p>
            <a:pPr algn="just" marL="254496" indent="-127248" lvl="1">
              <a:lnSpc>
                <a:spcPts val="2749"/>
              </a:lnSpc>
              <a:buFont typeface="Arial"/>
              <a:buChar char="•"/>
            </a:pPr>
            <a:r>
              <a:rPr lang="en-US" b="true" sz="1687">
                <a:solidFill>
                  <a:srgbClr val="405449"/>
                </a:solidFill>
                <a:latin typeface="Arimo Bold"/>
                <a:ea typeface="Arimo Bold"/>
                <a:cs typeface="Arimo Bold"/>
                <a:sym typeface="Arimo Bold"/>
              </a:rPr>
              <a:t>KICKED:</a:t>
            </a:r>
            <a:r>
              <a:rPr lang="en-US" sz="1687">
                <a:solidFill>
                  <a:srgbClr val="405449"/>
                </a:solidFill>
                <a:latin typeface="Arimo"/>
                <a:ea typeface="Arimo"/>
                <a:cs typeface="Arimo"/>
                <a:sym typeface="Arimo"/>
              </a:rPr>
              <a:t> Le joueur a été exclu du match par l'organisateur. Il perd l'accès au chat et ne peut plus se réinscrire.</a:t>
            </a:r>
          </a:p>
        </p:txBody>
      </p:sp>
      <p:grpSp>
        <p:nvGrpSpPr>
          <p:cNvPr name="Group 20" id="20"/>
          <p:cNvGrpSpPr/>
          <p:nvPr/>
        </p:nvGrpSpPr>
        <p:grpSpPr>
          <a:xfrm rot="0">
            <a:off x="6462417" y="3361287"/>
            <a:ext cx="5363166" cy="5021018"/>
            <a:chOff x="0" y="0"/>
            <a:chExt cx="7150887" cy="6694691"/>
          </a:xfrm>
        </p:grpSpPr>
        <p:sp>
          <p:nvSpPr>
            <p:cNvPr name="Freeform 21" id="21"/>
            <p:cNvSpPr/>
            <p:nvPr/>
          </p:nvSpPr>
          <p:spPr>
            <a:xfrm flipH="false" flipV="false" rot="0">
              <a:off x="0" y="0"/>
              <a:ext cx="7150862" cy="6694678"/>
            </a:xfrm>
            <a:custGeom>
              <a:avLst/>
              <a:gdLst/>
              <a:ahLst/>
              <a:cxnLst/>
              <a:rect r="r" b="b" t="t" l="l"/>
              <a:pathLst>
                <a:path h="6694678" w="7150862">
                  <a:moveTo>
                    <a:pt x="0" y="182880"/>
                  </a:moveTo>
                  <a:cubicBezTo>
                    <a:pt x="0" y="81915"/>
                    <a:pt x="81915" y="0"/>
                    <a:pt x="182880" y="0"/>
                  </a:cubicBezTo>
                  <a:lnTo>
                    <a:pt x="6967982" y="0"/>
                  </a:lnTo>
                  <a:cubicBezTo>
                    <a:pt x="7068947" y="0"/>
                    <a:pt x="7150862" y="81915"/>
                    <a:pt x="7150862" y="182880"/>
                  </a:cubicBezTo>
                  <a:lnTo>
                    <a:pt x="7150862" y="6511798"/>
                  </a:lnTo>
                  <a:cubicBezTo>
                    <a:pt x="7150862" y="6612763"/>
                    <a:pt x="7068947" y="6694678"/>
                    <a:pt x="6967982" y="6694678"/>
                  </a:cubicBezTo>
                  <a:lnTo>
                    <a:pt x="182880" y="6694678"/>
                  </a:lnTo>
                  <a:cubicBezTo>
                    <a:pt x="81915" y="6694678"/>
                    <a:pt x="0" y="6612763"/>
                    <a:pt x="0" y="6511798"/>
                  </a:cubicBezTo>
                  <a:close/>
                </a:path>
              </a:pathLst>
            </a:custGeom>
            <a:solidFill>
              <a:srgbClr val="FAFFFA"/>
            </a:solidFill>
            <a:ln w="12700">
              <a:solidFill>
                <a:srgbClr val="000000"/>
              </a:solidFill>
            </a:ln>
          </p:spPr>
        </p:sp>
      </p:grpSp>
      <p:grpSp>
        <p:nvGrpSpPr>
          <p:cNvPr name="Group 22" id="22"/>
          <p:cNvGrpSpPr/>
          <p:nvPr/>
        </p:nvGrpSpPr>
        <p:grpSpPr>
          <a:xfrm rot="0">
            <a:off x="6462417" y="3332712"/>
            <a:ext cx="5363166" cy="114300"/>
            <a:chOff x="0" y="0"/>
            <a:chExt cx="7150887" cy="152400"/>
          </a:xfrm>
        </p:grpSpPr>
        <p:sp>
          <p:nvSpPr>
            <p:cNvPr name="Freeform 23" id="23"/>
            <p:cNvSpPr/>
            <p:nvPr/>
          </p:nvSpPr>
          <p:spPr>
            <a:xfrm flipH="false" flipV="false" rot="0">
              <a:off x="0" y="0"/>
              <a:ext cx="7150862" cy="152400"/>
            </a:xfrm>
            <a:custGeom>
              <a:avLst/>
              <a:gdLst/>
              <a:ahLst/>
              <a:cxnLst/>
              <a:rect r="r" b="b" t="t" l="l"/>
              <a:pathLst>
                <a:path h="152400" w="7150862">
                  <a:moveTo>
                    <a:pt x="0" y="76200"/>
                  </a:moveTo>
                  <a:cubicBezTo>
                    <a:pt x="0" y="34163"/>
                    <a:pt x="34163" y="0"/>
                    <a:pt x="76200" y="0"/>
                  </a:cubicBezTo>
                  <a:lnTo>
                    <a:pt x="7074662" y="0"/>
                  </a:lnTo>
                  <a:cubicBezTo>
                    <a:pt x="7116699" y="0"/>
                    <a:pt x="7150862" y="34163"/>
                    <a:pt x="7150862" y="76200"/>
                  </a:cubicBezTo>
                  <a:cubicBezTo>
                    <a:pt x="7150862" y="118237"/>
                    <a:pt x="7116699" y="152400"/>
                    <a:pt x="7074662" y="152400"/>
                  </a:cubicBezTo>
                  <a:lnTo>
                    <a:pt x="76200" y="152400"/>
                  </a:lnTo>
                  <a:cubicBezTo>
                    <a:pt x="34163" y="152400"/>
                    <a:pt x="0" y="118237"/>
                    <a:pt x="0" y="76200"/>
                  </a:cubicBezTo>
                  <a:close/>
                </a:path>
              </a:pathLst>
            </a:custGeom>
            <a:solidFill>
              <a:srgbClr val="438951"/>
            </a:solidFill>
            <a:ln w="12700">
              <a:solidFill>
                <a:srgbClr val="000000"/>
              </a:solidFill>
            </a:ln>
          </p:spPr>
        </p:sp>
      </p:grpSp>
      <p:grpSp>
        <p:nvGrpSpPr>
          <p:cNvPr name="Group 24" id="24"/>
          <p:cNvGrpSpPr/>
          <p:nvPr/>
        </p:nvGrpSpPr>
        <p:grpSpPr>
          <a:xfrm rot="0">
            <a:off x="8814197" y="3031484"/>
            <a:ext cx="659606" cy="659606"/>
            <a:chOff x="0" y="0"/>
            <a:chExt cx="879475" cy="879475"/>
          </a:xfrm>
        </p:grpSpPr>
        <p:sp>
          <p:nvSpPr>
            <p:cNvPr name="Freeform 25" id="25"/>
            <p:cNvSpPr/>
            <p:nvPr/>
          </p:nvSpPr>
          <p:spPr>
            <a:xfrm flipH="false" flipV="false" rot="0">
              <a:off x="0" y="0"/>
              <a:ext cx="879475" cy="879475"/>
            </a:xfrm>
            <a:custGeom>
              <a:avLst/>
              <a:gdLst/>
              <a:ahLst/>
              <a:cxnLst/>
              <a:rect r="r" b="b" t="t" l="l"/>
              <a:pathLst>
                <a:path h="879475" w="879475">
                  <a:moveTo>
                    <a:pt x="0" y="439674"/>
                  </a:moveTo>
                  <a:cubicBezTo>
                    <a:pt x="0" y="196850"/>
                    <a:pt x="196850" y="0"/>
                    <a:pt x="439674" y="0"/>
                  </a:cubicBezTo>
                  <a:cubicBezTo>
                    <a:pt x="682498" y="0"/>
                    <a:pt x="879475" y="196850"/>
                    <a:pt x="879475" y="439674"/>
                  </a:cubicBezTo>
                  <a:cubicBezTo>
                    <a:pt x="879475" y="682498"/>
                    <a:pt x="682625" y="879475"/>
                    <a:pt x="439674" y="879475"/>
                  </a:cubicBezTo>
                  <a:cubicBezTo>
                    <a:pt x="196723" y="879475"/>
                    <a:pt x="0" y="682625"/>
                    <a:pt x="0" y="439674"/>
                  </a:cubicBezTo>
                  <a:close/>
                </a:path>
              </a:pathLst>
            </a:custGeom>
            <a:solidFill>
              <a:srgbClr val="438951"/>
            </a:solidFill>
            <a:ln w="12700">
              <a:solidFill>
                <a:srgbClr val="000000"/>
              </a:solidFill>
            </a:ln>
          </p:spPr>
        </p:sp>
      </p:grpSp>
      <p:sp>
        <p:nvSpPr>
          <p:cNvPr name="Freeform 26" id="26" descr="preencoded.png"/>
          <p:cNvSpPr/>
          <p:nvPr/>
        </p:nvSpPr>
        <p:spPr>
          <a:xfrm flipH="false" flipV="false" rot="0">
            <a:off x="9012136" y="3229423"/>
            <a:ext cx="263728" cy="263728"/>
          </a:xfrm>
          <a:custGeom>
            <a:avLst/>
            <a:gdLst/>
            <a:ahLst/>
            <a:cxnLst/>
            <a:rect r="r" b="b" t="t" l="l"/>
            <a:pathLst>
              <a:path h="263728" w="263728">
                <a:moveTo>
                  <a:pt x="0" y="0"/>
                </a:moveTo>
                <a:lnTo>
                  <a:pt x="263728" y="0"/>
                </a:lnTo>
                <a:lnTo>
                  <a:pt x="263728" y="263728"/>
                </a:lnTo>
                <a:lnTo>
                  <a:pt x="0" y="263728"/>
                </a:lnTo>
                <a:lnTo>
                  <a:pt x="0" y="0"/>
                </a:lnTo>
                <a:close/>
              </a:path>
            </a:pathLst>
          </a:custGeom>
          <a:blipFill>
            <a:blip r:embed="rId5">
              <a:extLst>
                <a:ext uri="{96DAC541-7B7A-43D3-8B79-37D633B846F1}">
                  <asvg:svgBlip xmlns:asvg="http://schemas.microsoft.com/office/drawing/2016/SVG/main" r:embed="rId6"/>
                </a:ext>
              </a:extLst>
            </a:blip>
            <a:stretch>
              <a:fillRect l="0" t="-17856" r="0" b="-17856"/>
            </a:stretch>
          </a:blipFill>
        </p:spPr>
      </p:sp>
      <p:sp>
        <p:nvSpPr>
          <p:cNvPr name="TextBox 27" id="27"/>
          <p:cNvSpPr txBox="true"/>
          <p:nvPr/>
        </p:nvSpPr>
        <p:spPr>
          <a:xfrm rot="0">
            <a:off x="6710810" y="3901383"/>
            <a:ext cx="4060184" cy="353016"/>
          </a:xfrm>
          <a:prstGeom prst="rect">
            <a:avLst/>
          </a:prstGeom>
        </p:spPr>
        <p:txBody>
          <a:bodyPr anchor="t" rtlCol="false" tIns="0" lIns="0" bIns="0" rIns="0">
            <a:spAutoFit/>
          </a:bodyPr>
          <a:lstStyle/>
          <a:p>
            <a:pPr algn="l">
              <a:lnSpc>
                <a:spcPts val="2687"/>
              </a:lnSpc>
            </a:pPr>
            <a:r>
              <a:rPr lang="en-US" sz="2125" b="true">
                <a:solidFill>
                  <a:srgbClr val="405449"/>
                </a:solidFill>
                <a:latin typeface="Fraunces Bold"/>
                <a:ea typeface="Fraunces Bold"/>
                <a:cs typeface="Fraunces Bold"/>
                <a:sym typeface="Fraunces Bold"/>
              </a:rPr>
              <a:t>Gestion de la Capacité (FULL)</a:t>
            </a:r>
          </a:p>
        </p:txBody>
      </p:sp>
      <p:sp>
        <p:nvSpPr>
          <p:cNvPr name="TextBox 28" id="28"/>
          <p:cNvSpPr txBox="true"/>
          <p:nvPr/>
        </p:nvSpPr>
        <p:spPr>
          <a:xfrm rot="0">
            <a:off x="6710810" y="4300537"/>
            <a:ext cx="4866380" cy="679450"/>
          </a:xfrm>
          <a:prstGeom prst="rect">
            <a:avLst/>
          </a:prstGeom>
        </p:spPr>
        <p:txBody>
          <a:bodyPr anchor="t" rtlCol="false" tIns="0" lIns="0" bIns="0" rIns="0">
            <a:spAutoFit/>
          </a:bodyPr>
          <a:lstStyle/>
          <a:p>
            <a:pPr algn="just">
              <a:lnSpc>
                <a:spcPts val="2749"/>
              </a:lnSpc>
            </a:pPr>
            <a:r>
              <a:rPr lang="en-US" sz="1687">
                <a:solidFill>
                  <a:srgbClr val="405449"/>
                </a:solidFill>
                <a:latin typeface="Arimo"/>
                <a:ea typeface="Arimo"/>
                <a:cs typeface="Arimo"/>
                <a:sym typeface="Arimo"/>
              </a:rPr>
              <a:t>Lorsque le nombre de participants ACCEPTED atteint la capacity maximale du match:</a:t>
            </a:r>
          </a:p>
        </p:txBody>
      </p:sp>
      <p:sp>
        <p:nvSpPr>
          <p:cNvPr name="TextBox 29" id="29"/>
          <p:cNvSpPr txBox="true"/>
          <p:nvPr/>
        </p:nvSpPr>
        <p:spPr>
          <a:xfrm rot="0">
            <a:off x="6710810" y="5192916"/>
            <a:ext cx="4866380" cy="1022350"/>
          </a:xfrm>
          <a:prstGeom prst="rect">
            <a:avLst/>
          </a:prstGeom>
        </p:spPr>
        <p:txBody>
          <a:bodyPr anchor="t" rtlCol="false" tIns="0" lIns="0" bIns="0" rIns="0">
            <a:spAutoFit/>
          </a:bodyPr>
          <a:lstStyle/>
          <a:p>
            <a:pPr algn="just" marL="254496" indent="-127248" lvl="1">
              <a:lnSpc>
                <a:spcPts val="2749"/>
              </a:lnSpc>
              <a:buFont typeface="Arial"/>
              <a:buChar char="•"/>
            </a:pPr>
            <a:r>
              <a:rPr lang="en-US" sz="1687">
                <a:solidFill>
                  <a:srgbClr val="405449"/>
                </a:solidFill>
                <a:latin typeface="Arimo"/>
                <a:ea typeface="Arimo"/>
                <a:cs typeface="Arimo"/>
                <a:sym typeface="Arimo"/>
              </a:rPr>
              <a:t>De nouvelles demandes passent automatiquement en PENDING ou sont refusées si une liste d'attente n'est pas gérée.</a:t>
            </a:r>
          </a:p>
        </p:txBody>
      </p:sp>
      <p:sp>
        <p:nvSpPr>
          <p:cNvPr name="TextBox 30" id="30"/>
          <p:cNvSpPr txBox="true"/>
          <p:nvPr/>
        </p:nvSpPr>
        <p:spPr>
          <a:xfrm rot="0">
            <a:off x="6710810" y="6705152"/>
            <a:ext cx="4866380" cy="679450"/>
          </a:xfrm>
          <a:prstGeom prst="rect">
            <a:avLst/>
          </a:prstGeom>
        </p:spPr>
        <p:txBody>
          <a:bodyPr anchor="t" rtlCol="false" tIns="0" lIns="0" bIns="0" rIns="0">
            <a:spAutoFit/>
          </a:bodyPr>
          <a:lstStyle/>
          <a:p>
            <a:pPr algn="just" marL="254496" indent="-127248" lvl="1">
              <a:lnSpc>
                <a:spcPts val="2749"/>
              </a:lnSpc>
              <a:buFont typeface="Arial"/>
              <a:buChar char="•"/>
            </a:pPr>
            <a:r>
              <a:rPr lang="en-US" sz="1687">
                <a:solidFill>
                  <a:srgbClr val="405449"/>
                </a:solidFill>
                <a:latin typeface="Arimo"/>
                <a:ea typeface="Arimo"/>
                <a:cs typeface="Arimo"/>
                <a:sym typeface="Arimo"/>
              </a:rPr>
              <a:t>L'organisateur reçoit une notification que le match est plein.</a:t>
            </a:r>
          </a:p>
        </p:txBody>
      </p:sp>
      <p:grpSp>
        <p:nvGrpSpPr>
          <p:cNvPr name="Group 31" id="31"/>
          <p:cNvGrpSpPr/>
          <p:nvPr/>
        </p:nvGrpSpPr>
        <p:grpSpPr>
          <a:xfrm rot="0">
            <a:off x="12045401" y="3361287"/>
            <a:ext cx="5363166" cy="5021018"/>
            <a:chOff x="0" y="0"/>
            <a:chExt cx="7150887" cy="6694691"/>
          </a:xfrm>
        </p:grpSpPr>
        <p:sp>
          <p:nvSpPr>
            <p:cNvPr name="Freeform 32" id="32"/>
            <p:cNvSpPr/>
            <p:nvPr/>
          </p:nvSpPr>
          <p:spPr>
            <a:xfrm flipH="false" flipV="false" rot="0">
              <a:off x="0" y="0"/>
              <a:ext cx="7150862" cy="6694678"/>
            </a:xfrm>
            <a:custGeom>
              <a:avLst/>
              <a:gdLst/>
              <a:ahLst/>
              <a:cxnLst/>
              <a:rect r="r" b="b" t="t" l="l"/>
              <a:pathLst>
                <a:path h="6694678" w="7150862">
                  <a:moveTo>
                    <a:pt x="0" y="182880"/>
                  </a:moveTo>
                  <a:cubicBezTo>
                    <a:pt x="0" y="81915"/>
                    <a:pt x="81915" y="0"/>
                    <a:pt x="182880" y="0"/>
                  </a:cubicBezTo>
                  <a:lnTo>
                    <a:pt x="6967982" y="0"/>
                  </a:lnTo>
                  <a:cubicBezTo>
                    <a:pt x="7068947" y="0"/>
                    <a:pt x="7150862" y="81915"/>
                    <a:pt x="7150862" y="182880"/>
                  </a:cubicBezTo>
                  <a:lnTo>
                    <a:pt x="7150862" y="6511798"/>
                  </a:lnTo>
                  <a:cubicBezTo>
                    <a:pt x="7150862" y="6612763"/>
                    <a:pt x="7068947" y="6694678"/>
                    <a:pt x="6967982" y="6694678"/>
                  </a:cubicBezTo>
                  <a:lnTo>
                    <a:pt x="182880" y="6694678"/>
                  </a:lnTo>
                  <a:cubicBezTo>
                    <a:pt x="81915" y="6694678"/>
                    <a:pt x="0" y="6612763"/>
                    <a:pt x="0" y="6511798"/>
                  </a:cubicBezTo>
                  <a:close/>
                </a:path>
              </a:pathLst>
            </a:custGeom>
            <a:solidFill>
              <a:srgbClr val="FAFFFA"/>
            </a:solidFill>
            <a:ln w="12700">
              <a:solidFill>
                <a:srgbClr val="000000"/>
              </a:solidFill>
            </a:ln>
          </p:spPr>
        </p:sp>
      </p:grpSp>
      <p:grpSp>
        <p:nvGrpSpPr>
          <p:cNvPr name="Group 33" id="33"/>
          <p:cNvGrpSpPr/>
          <p:nvPr/>
        </p:nvGrpSpPr>
        <p:grpSpPr>
          <a:xfrm rot="0">
            <a:off x="12045401" y="3332712"/>
            <a:ext cx="5363166" cy="114300"/>
            <a:chOff x="0" y="0"/>
            <a:chExt cx="7150887" cy="152400"/>
          </a:xfrm>
        </p:grpSpPr>
        <p:sp>
          <p:nvSpPr>
            <p:cNvPr name="Freeform 34" id="34"/>
            <p:cNvSpPr/>
            <p:nvPr/>
          </p:nvSpPr>
          <p:spPr>
            <a:xfrm flipH="false" flipV="false" rot="0">
              <a:off x="0" y="0"/>
              <a:ext cx="7150862" cy="152400"/>
            </a:xfrm>
            <a:custGeom>
              <a:avLst/>
              <a:gdLst/>
              <a:ahLst/>
              <a:cxnLst/>
              <a:rect r="r" b="b" t="t" l="l"/>
              <a:pathLst>
                <a:path h="152400" w="7150862">
                  <a:moveTo>
                    <a:pt x="0" y="76200"/>
                  </a:moveTo>
                  <a:cubicBezTo>
                    <a:pt x="0" y="34163"/>
                    <a:pt x="34163" y="0"/>
                    <a:pt x="76200" y="0"/>
                  </a:cubicBezTo>
                  <a:lnTo>
                    <a:pt x="7074662" y="0"/>
                  </a:lnTo>
                  <a:cubicBezTo>
                    <a:pt x="7116699" y="0"/>
                    <a:pt x="7150862" y="34163"/>
                    <a:pt x="7150862" y="76200"/>
                  </a:cubicBezTo>
                  <a:cubicBezTo>
                    <a:pt x="7150862" y="118237"/>
                    <a:pt x="7116699" y="152400"/>
                    <a:pt x="7074662" y="152400"/>
                  </a:cubicBezTo>
                  <a:lnTo>
                    <a:pt x="76200" y="152400"/>
                  </a:lnTo>
                  <a:cubicBezTo>
                    <a:pt x="34163" y="152400"/>
                    <a:pt x="0" y="118237"/>
                    <a:pt x="0" y="76200"/>
                  </a:cubicBezTo>
                  <a:close/>
                </a:path>
              </a:pathLst>
            </a:custGeom>
            <a:solidFill>
              <a:srgbClr val="438951"/>
            </a:solidFill>
            <a:ln w="12700">
              <a:solidFill>
                <a:srgbClr val="000000"/>
              </a:solidFill>
            </a:ln>
          </p:spPr>
        </p:sp>
      </p:grpSp>
      <p:grpSp>
        <p:nvGrpSpPr>
          <p:cNvPr name="Group 35" id="35"/>
          <p:cNvGrpSpPr/>
          <p:nvPr/>
        </p:nvGrpSpPr>
        <p:grpSpPr>
          <a:xfrm rot="0">
            <a:off x="14397190" y="3031484"/>
            <a:ext cx="659606" cy="659606"/>
            <a:chOff x="0" y="0"/>
            <a:chExt cx="879475" cy="879475"/>
          </a:xfrm>
        </p:grpSpPr>
        <p:sp>
          <p:nvSpPr>
            <p:cNvPr name="Freeform 36" id="36"/>
            <p:cNvSpPr/>
            <p:nvPr/>
          </p:nvSpPr>
          <p:spPr>
            <a:xfrm flipH="false" flipV="false" rot="0">
              <a:off x="0" y="0"/>
              <a:ext cx="879475" cy="879475"/>
            </a:xfrm>
            <a:custGeom>
              <a:avLst/>
              <a:gdLst/>
              <a:ahLst/>
              <a:cxnLst/>
              <a:rect r="r" b="b" t="t" l="l"/>
              <a:pathLst>
                <a:path h="879475" w="879475">
                  <a:moveTo>
                    <a:pt x="0" y="439674"/>
                  </a:moveTo>
                  <a:cubicBezTo>
                    <a:pt x="0" y="196850"/>
                    <a:pt x="196850" y="0"/>
                    <a:pt x="439674" y="0"/>
                  </a:cubicBezTo>
                  <a:cubicBezTo>
                    <a:pt x="682498" y="0"/>
                    <a:pt x="879475" y="196850"/>
                    <a:pt x="879475" y="439674"/>
                  </a:cubicBezTo>
                  <a:cubicBezTo>
                    <a:pt x="879475" y="682498"/>
                    <a:pt x="682625" y="879475"/>
                    <a:pt x="439674" y="879475"/>
                  </a:cubicBezTo>
                  <a:cubicBezTo>
                    <a:pt x="196723" y="879475"/>
                    <a:pt x="0" y="682625"/>
                    <a:pt x="0" y="439674"/>
                  </a:cubicBezTo>
                  <a:close/>
                </a:path>
              </a:pathLst>
            </a:custGeom>
            <a:solidFill>
              <a:srgbClr val="438951"/>
            </a:solidFill>
            <a:ln w="12700">
              <a:solidFill>
                <a:srgbClr val="000000"/>
              </a:solidFill>
            </a:ln>
          </p:spPr>
        </p:sp>
      </p:grpSp>
      <p:sp>
        <p:nvSpPr>
          <p:cNvPr name="Freeform 37" id="37" descr="preencoded.png"/>
          <p:cNvSpPr/>
          <p:nvPr/>
        </p:nvSpPr>
        <p:spPr>
          <a:xfrm flipH="false" flipV="false" rot="0">
            <a:off x="14595129" y="3229423"/>
            <a:ext cx="263728" cy="263728"/>
          </a:xfrm>
          <a:custGeom>
            <a:avLst/>
            <a:gdLst/>
            <a:ahLst/>
            <a:cxnLst/>
            <a:rect r="r" b="b" t="t" l="l"/>
            <a:pathLst>
              <a:path h="263728" w="263728">
                <a:moveTo>
                  <a:pt x="0" y="0"/>
                </a:moveTo>
                <a:lnTo>
                  <a:pt x="263728" y="0"/>
                </a:lnTo>
                <a:lnTo>
                  <a:pt x="263728" y="263728"/>
                </a:lnTo>
                <a:lnTo>
                  <a:pt x="0" y="2637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8" id="38"/>
          <p:cNvSpPr txBox="true"/>
          <p:nvPr/>
        </p:nvSpPr>
        <p:spPr>
          <a:xfrm rot="0">
            <a:off x="12293803" y="3901383"/>
            <a:ext cx="4866380" cy="696516"/>
          </a:xfrm>
          <a:prstGeom prst="rect">
            <a:avLst/>
          </a:prstGeom>
        </p:spPr>
        <p:txBody>
          <a:bodyPr anchor="t" rtlCol="false" tIns="0" lIns="0" bIns="0" rIns="0">
            <a:spAutoFit/>
          </a:bodyPr>
          <a:lstStyle/>
          <a:p>
            <a:pPr algn="l">
              <a:lnSpc>
                <a:spcPts val="2687"/>
              </a:lnSpc>
            </a:pPr>
            <a:r>
              <a:rPr lang="en-US" sz="2125" b="true">
                <a:solidFill>
                  <a:srgbClr val="405449"/>
                </a:solidFill>
                <a:latin typeface="Fraunces Bold"/>
                <a:ea typeface="Fraunces Bold"/>
                <a:cs typeface="Fraunces Bold"/>
                <a:sym typeface="Fraunces Bold"/>
              </a:rPr>
              <a:t>Conséquences d'un Joueur Exclu (KICKED)</a:t>
            </a:r>
          </a:p>
        </p:txBody>
      </p:sp>
      <p:sp>
        <p:nvSpPr>
          <p:cNvPr name="TextBox 39" id="39"/>
          <p:cNvSpPr txBox="true"/>
          <p:nvPr/>
        </p:nvSpPr>
        <p:spPr>
          <a:xfrm rot="0">
            <a:off x="12293803" y="4644028"/>
            <a:ext cx="4866380" cy="679450"/>
          </a:xfrm>
          <a:prstGeom prst="rect">
            <a:avLst/>
          </a:prstGeom>
        </p:spPr>
        <p:txBody>
          <a:bodyPr anchor="t" rtlCol="false" tIns="0" lIns="0" bIns="0" rIns="0">
            <a:spAutoFit/>
          </a:bodyPr>
          <a:lstStyle/>
          <a:p>
            <a:pPr algn="just">
              <a:lnSpc>
                <a:spcPts val="2749"/>
              </a:lnSpc>
            </a:pPr>
            <a:r>
              <a:rPr lang="en-US" sz="1687">
                <a:solidFill>
                  <a:srgbClr val="405449"/>
                </a:solidFill>
                <a:latin typeface="Arimo"/>
                <a:ea typeface="Arimo"/>
                <a:cs typeface="Arimo"/>
                <a:sym typeface="Arimo"/>
              </a:rPr>
              <a:t>Un joueur ayant le statut KICKED pour un match spécifique est soumis à des restrictions:</a:t>
            </a:r>
          </a:p>
        </p:txBody>
      </p:sp>
      <p:sp>
        <p:nvSpPr>
          <p:cNvPr name="TextBox 40" id="40"/>
          <p:cNvSpPr txBox="true"/>
          <p:nvPr/>
        </p:nvSpPr>
        <p:spPr>
          <a:xfrm rot="0">
            <a:off x="12293803" y="5859513"/>
            <a:ext cx="4866380" cy="1022350"/>
          </a:xfrm>
          <a:prstGeom prst="rect">
            <a:avLst/>
          </a:prstGeom>
        </p:spPr>
        <p:txBody>
          <a:bodyPr anchor="t" rtlCol="false" tIns="0" lIns="0" bIns="0" rIns="0">
            <a:spAutoFit/>
          </a:bodyPr>
          <a:lstStyle/>
          <a:p>
            <a:pPr algn="just" marL="254496" indent="-127248" lvl="1">
              <a:lnSpc>
                <a:spcPts val="2749"/>
              </a:lnSpc>
              <a:buFont typeface="Arial"/>
              <a:buChar char="•"/>
            </a:pPr>
            <a:r>
              <a:rPr lang="en-US" b="true" sz="1687">
                <a:solidFill>
                  <a:srgbClr val="405449"/>
                </a:solidFill>
                <a:latin typeface="Arimo Bold"/>
                <a:ea typeface="Arimo Bold"/>
                <a:cs typeface="Arimo Bold"/>
                <a:sym typeface="Arimo Bold"/>
              </a:rPr>
              <a:t>Interdiction de Chat:</a:t>
            </a:r>
            <a:r>
              <a:rPr lang="en-US" sz="1687">
                <a:solidFill>
                  <a:srgbClr val="405449"/>
                </a:solidFill>
                <a:latin typeface="Arimo"/>
                <a:ea typeface="Arimo"/>
                <a:cs typeface="Arimo"/>
                <a:sym typeface="Arimo"/>
              </a:rPr>
              <a:t> Il perd l'accès au chat du match et ne peut plus envoyer ni recevoir de messages.</a:t>
            </a:r>
          </a:p>
        </p:txBody>
      </p:sp>
      <p:sp>
        <p:nvSpPr>
          <p:cNvPr name="TextBox 41" id="41"/>
          <p:cNvSpPr txBox="true"/>
          <p:nvPr/>
        </p:nvSpPr>
        <p:spPr>
          <a:xfrm rot="0">
            <a:off x="12293803" y="6991502"/>
            <a:ext cx="4866380" cy="1022350"/>
          </a:xfrm>
          <a:prstGeom prst="rect">
            <a:avLst/>
          </a:prstGeom>
        </p:spPr>
        <p:txBody>
          <a:bodyPr anchor="t" rtlCol="false" tIns="0" lIns="0" bIns="0" rIns="0">
            <a:spAutoFit/>
          </a:bodyPr>
          <a:lstStyle/>
          <a:p>
            <a:pPr algn="just" marL="254496" indent="-127248" lvl="1">
              <a:lnSpc>
                <a:spcPts val="2749"/>
              </a:lnSpc>
              <a:buFont typeface="Arial"/>
              <a:buChar char="•"/>
            </a:pPr>
            <a:r>
              <a:rPr lang="en-US" b="true" sz="1687">
                <a:solidFill>
                  <a:srgbClr val="405449"/>
                </a:solidFill>
                <a:latin typeface="Arimo Bold"/>
                <a:ea typeface="Arimo Bold"/>
                <a:cs typeface="Arimo Bold"/>
                <a:sym typeface="Arimo Bold"/>
              </a:rPr>
              <a:t>Interdiction de Réinscription:</a:t>
            </a:r>
            <a:r>
              <a:rPr lang="en-US" sz="1687">
                <a:solidFill>
                  <a:srgbClr val="405449"/>
                </a:solidFill>
                <a:latin typeface="Arimo"/>
                <a:ea typeface="Arimo"/>
                <a:cs typeface="Arimo"/>
                <a:sym typeface="Arimo"/>
              </a:rPr>
              <a:t> Il ne peut plus envoyer de nouvelle demande pour rejoindre le même match.</a:t>
            </a:r>
          </a:p>
        </p:txBody>
      </p:sp>
      <p:sp>
        <p:nvSpPr>
          <p:cNvPr name="TextBox 42" id="42"/>
          <p:cNvSpPr txBox="true"/>
          <p:nvPr/>
        </p:nvSpPr>
        <p:spPr>
          <a:xfrm rot="0">
            <a:off x="879424" y="8543925"/>
            <a:ext cx="16529152" cy="789089"/>
          </a:xfrm>
          <a:prstGeom prst="rect">
            <a:avLst/>
          </a:prstGeom>
        </p:spPr>
        <p:txBody>
          <a:bodyPr anchor="t" rtlCol="false" tIns="0" lIns="0" bIns="0" rIns="0">
            <a:spAutoFit/>
          </a:bodyPr>
          <a:lstStyle/>
          <a:p>
            <a:pPr algn="l">
              <a:lnSpc>
                <a:spcPts val="2749"/>
              </a:lnSpc>
            </a:pPr>
            <a:r>
              <a:rPr lang="en-US" sz="1687">
                <a:solidFill>
                  <a:srgbClr val="405449"/>
                </a:solidFill>
                <a:latin typeface="Arimo"/>
                <a:ea typeface="Arimo"/>
                <a:cs typeface="Arimo"/>
                <a:sym typeface="Arimo"/>
              </a:rPr>
              <a:t>Ces règles garantissent que l'organisateur a un contrôle complet sur la composition de son équipe et que les communications restent pertinentes pour les participants actifs.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a:ln w="12700">
              <a:solidFill>
                <a:srgbClr val="000000"/>
              </a:solidFill>
            </a:ln>
          </p:spPr>
        </p:sp>
      </p:grpSp>
      <p:sp>
        <p:nvSpPr>
          <p:cNvPr name="Freeform 4" id="4"/>
          <p:cNvSpPr/>
          <p:nvPr/>
        </p:nvSpPr>
        <p:spPr>
          <a:xfrm flipH="false" flipV="false" rot="0">
            <a:off x="7534891" y="649526"/>
            <a:ext cx="10753109" cy="9637474"/>
          </a:xfrm>
          <a:custGeom>
            <a:avLst/>
            <a:gdLst/>
            <a:ahLst/>
            <a:cxnLst/>
            <a:rect r="r" b="b" t="t" l="l"/>
            <a:pathLst>
              <a:path h="9637474" w="10753109">
                <a:moveTo>
                  <a:pt x="0" y="0"/>
                </a:moveTo>
                <a:lnTo>
                  <a:pt x="10753109" y="0"/>
                </a:lnTo>
                <a:lnTo>
                  <a:pt x="10753109" y="9637474"/>
                </a:lnTo>
                <a:lnTo>
                  <a:pt x="0" y="9637474"/>
                </a:lnTo>
                <a:lnTo>
                  <a:pt x="0" y="0"/>
                </a:lnTo>
                <a:close/>
              </a:path>
            </a:pathLst>
          </a:custGeom>
          <a:blipFill>
            <a:blip r:embed="rId2"/>
            <a:stretch>
              <a:fillRect l="0" t="0" r="0" b="0"/>
            </a:stretch>
          </a:blipFill>
        </p:spPr>
      </p:sp>
      <p:sp>
        <p:nvSpPr>
          <p:cNvPr name="TextBox 5" id="5"/>
          <p:cNvSpPr txBox="true"/>
          <p:nvPr/>
        </p:nvSpPr>
        <p:spPr>
          <a:xfrm rot="0">
            <a:off x="1028700" y="1009650"/>
            <a:ext cx="7057873" cy="794147"/>
          </a:xfrm>
          <a:prstGeom prst="rect">
            <a:avLst/>
          </a:prstGeom>
        </p:spPr>
        <p:txBody>
          <a:bodyPr anchor="t" rtlCol="false" tIns="0" lIns="0" bIns="0" rIns="0">
            <a:spAutoFit/>
          </a:bodyPr>
          <a:lstStyle/>
          <a:p>
            <a:pPr algn="l">
              <a:lnSpc>
                <a:spcPts val="6062"/>
              </a:lnSpc>
            </a:pPr>
            <a:r>
              <a:rPr lang="en-US" sz="4875" b="true">
                <a:solidFill>
                  <a:srgbClr val="3B4540"/>
                </a:solidFill>
                <a:latin typeface="Fraunces Bold"/>
                <a:ea typeface="Fraunces Bold"/>
                <a:cs typeface="Fraunces Bold"/>
                <a:sym typeface="Fraunces Bold"/>
              </a:rPr>
              <a:t>Diagramme de Classes</a:t>
            </a:r>
          </a:p>
        </p:txBody>
      </p:sp>
      <p:sp>
        <p:nvSpPr>
          <p:cNvPr name="TextBox 6" id="6"/>
          <p:cNvSpPr txBox="true"/>
          <p:nvPr/>
        </p:nvSpPr>
        <p:spPr>
          <a:xfrm rot="0">
            <a:off x="1028700" y="2399860"/>
            <a:ext cx="6104578" cy="4679951"/>
          </a:xfrm>
          <a:prstGeom prst="rect">
            <a:avLst/>
          </a:prstGeom>
        </p:spPr>
        <p:txBody>
          <a:bodyPr anchor="t" rtlCol="false" tIns="0" lIns="0" bIns="0" rIns="0">
            <a:spAutoFit/>
          </a:bodyPr>
          <a:lstStyle/>
          <a:p>
            <a:pPr algn="just" marL="0" indent="0" lvl="0">
              <a:lnSpc>
                <a:spcPts val="3125"/>
              </a:lnSpc>
              <a:spcBef>
                <a:spcPct val="0"/>
              </a:spcBef>
            </a:pPr>
            <a:r>
              <a:rPr lang="en-US" sz="1937" strike="noStrike" u="none">
                <a:solidFill>
                  <a:srgbClr val="405449"/>
                </a:solidFill>
                <a:latin typeface="Arimo"/>
                <a:ea typeface="Arimo"/>
                <a:cs typeface="Arimo"/>
                <a:sym typeface="Arimo"/>
              </a:rPr>
              <a:t>Ce diagramme présente la structure principale de l’application MatchUp.</a:t>
            </a:r>
          </a:p>
          <a:p>
            <a:pPr algn="just" marL="0" indent="0" lvl="0">
              <a:lnSpc>
                <a:spcPts val="3125"/>
              </a:lnSpc>
              <a:spcBef>
                <a:spcPct val="0"/>
              </a:spcBef>
            </a:pPr>
            <a:r>
              <a:rPr lang="en-US" sz="1937" strike="noStrike" u="none">
                <a:solidFill>
                  <a:srgbClr val="405449"/>
                </a:solidFill>
                <a:latin typeface="Arimo"/>
                <a:ea typeface="Arimo"/>
                <a:cs typeface="Arimo"/>
                <a:sym typeface="Arimo"/>
              </a:rPr>
              <a:t> AuthService gère l’authentification et la récupération du profil AppUser depuis Firestore.</a:t>
            </a:r>
          </a:p>
          <a:p>
            <a:pPr algn="just" marL="0" indent="0" lvl="0">
              <a:lnSpc>
                <a:spcPts val="3125"/>
              </a:lnSpc>
              <a:spcBef>
                <a:spcPct val="0"/>
              </a:spcBef>
            </a:pPr>
            <a:r>
              <a:rPr lang="en-US" sz="1937" strike="noStrike" u="none">
                <a:solidFill>
                  <a:srgbClr val="405449"/>
                </a:solidFill>
                <a:latin typeface="Arimo"/>
                <a:ea typeface="Arimo"/>
                <a:cs typeface="Arimo"/>
                <a:sym typeface="Arimo"/>
              </a:rPr>
              <a:t> MatchService gère les matchs (MatchAnnouncement), les participants (MatchParticipation) et le chat (MatchMessage) en temps réel.</a:t>
            </a:r>
          </a:p>
          <a:p>
            <a:pPr algn="just" marL="0" indent="0" lvl="0">
              <a:lnSpc>
                <a:spcPts val="3125"/>
              </a:lnSpc>
              <a:spcBef>
                <a:spcPct val="0"/>
              </a:spcBef>
            </a:pPr>
            <a:r>
              <a:rPr lang="en-US" sz="1937" strike="noStrike" u="none">
                <a:solidFill>
                  <a:srgbClr val="405449"/>
                </a:solidFill>
                <a:latin typeface="Arimo"/>
                <a:ea typeface="Arimo"/>
                <a:cs typeface="Arimo"/>
                <a:sym typeface="Arimo"/>
              </a:rPr>
              <a:t> FirestorePaths centralise les chemins Firestore (users, matches, participants, messages) pour garder un code propre et cohérent.</a:t>
            </a:r>
          </a:p>
          <a:p>
            <a:pPr algn="just" marL="0" indent="0" lvl="0">
              <a:lnSpc>
                <a:spcPts val="3125"/>
              </a:lnSpc>
              <a:spcBef>
                <a:spcPct val="0"/>
              </a:spcBef>
            </a:pPr>
            <a:r>
              <a:rPr lang="en-US" sz="1937" strike="noStrike" u="none">
                <a:solidFill>
                  <a:srgbClr val="405449"/>
                </a:solidFill>
                <a:latin typeface="Arimo"/>
                <a:ea typeface="Arimo"/>
                <a:cs typeface="Arimo"/>
                <a:sym typeface="Arimo"/>
              </a:rPr>
              <a:t> Un match contient plusieurs participants et plusieurs messages (sous-collections).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a:ln w="12700">
              <a:solidFill>
                <a:srgbClr val="000000"/>
              </a:solidFill>
            </a:ln>
          </p:spPr>
        </p:sp>
      </p:grpSp>
      <p:sp>
        <p:nvSpPr>
          <p:cNvPr name="Freeform 4" id="4"/>
          <p:cNvSpPr/>
          <p:nvPr/>
        </p:nvSpPr>
        <p:spPr>
          <a:xfrm flipH="false" flipV="false" rot="0">
            <a:off x="9574113" y="0"/>
            <a:ext cx="3884712" cy="10287000"/>
          </a:xfrm>
          <a:custGeom>
            <a:avLst/>
            <a:gdLst/>
            <a:ahLst/>
            <a:cxnLst/>
            <a:rect r="r" b="b" t="t" l="l"/>
            <a:pathLst>
              <a:path h="10287000" w="3884712">
                <a:moveTo>
                  <a:pt x="0" y="0"/>
                </a:moveTo>
                <a:lnTo>
                  <a:pt x="3884712" y="0"/>
                </a:lnTo>
                <a:lnTo>
                  <a:pt x="3884712" y="10287000"/>
                </a:lnTo>
                <a:lnTo>
                  <a:pt x="0" y="10287000"/>
                </a:lnTo>
                <a:lnTo>
                  <a:pt x="0" y="0"/>
                </a:lnTo>
                <a:close/>
              </a:path>
            </a:pathLst>
          </a:custGeom>
          <a:blipFill>
            <a:blip r:embed="rId2"/>
            <a:stretch>
              <a:fillRect l="0" t="-183" r="0" b="-183"/>
            </a:stretch>
          </a:blipFill>
        </p:spPr>
      </p:sp>
      <p:sp>
        <p:nvSpPr>
          <p:cNvPr name="TextBox 5" id="5"/>
          <p:cNvSpPr txBox="true"/>
          <p:nvPr/>
        </p:nvSpPr>
        <p:spPr>
          <a:xfrm rot="0">
            <a:off x="1028700" y="1009650"/>
            <a:ext cx="7057873" cy="794147"/>
          </a:xfrm>
          <a:prstGeom prst="rect">
            <a:avLst/>
          </a:prstGeom>
        </p:spPr>
        <p:txBody>
          <a:bodyPr anchor="t" rtlCol="false" tIns="0" lIns="0" bIns="0" rIns="0">
            <a:spAutoFit/>
          </a:bodyPr>
          <a:lstStyle/>
          <a:p>
            <a:pPr algn="l">
              <a:lnSpc>
                <a:spcPts val="6062"/>
              </a:lnSpc>
            </a:pPr>
            <a:r>
              <a:rPr lang="en-US" sz="4875" b="true">
                <a:solidFill>
                  <a:srgbClr val="3B4540"/>
                </a:solidFill>
                <a:latin typeface="Fraunces Bold"/>
                <a:ea typeface="Fraunces Bold"/>
                <a:cs typeface="Fraunces Bold"/>
                <a:sym typeface="Fraunces Bold"/>
              </a:rPr>
              <a:t>Diagramme de Classes</a:t>
            </a:r>
          </a:p>
        </p:txBody>
      </p:sp>
      <p:sp>
        <p:nvSpPr>
          <p:cNvPr name="TextBox 6" id="6"/>
          <p:cNvSpPr txBox="true"/>
          <p:nvPr/>
        </p:nvSpPr>
        <p:spPr>
          <a:xfrm rot="0">
            <a:off x="1028700" y="2399860"/>
            <a:ext cx="7883112" cy="3117851"/>
          </a:xfrm>
          <a:prstGeom prst="rect">
            <a:avLst/>
          </a:prstGeom>
        </p:spPr>
        <p:txBody>
          <a:bodyPr anchor="t" rtlCol="false" tIns="0" lIns="0" bIns="0" rIns="0">
            <a:spAutoFit/>
          </a:bodyPr>
          <a:lstStyle/>
          <a:p>
            <a:pPr algn="just" marL="0" indent="0" lvl="0">
              <a:lnSpc>
                <a:spcPts val="3125"/>
              </a:lnSpc>
              <a:spcBef>
                <a:spcPct val="0"/>
              </a:spcBef>
            </a:pPr>
            <a:r>
              <a:rPr lang="en-US" sz="1937" strike="noStrike" u="none">
                <a:solidFill>
                  <a:srgbClr val="405449"/>
                </a:solidFill>
                <a:latin typeface="Arimo"/>
                <a:ea typeface="Arimo"/>
                <a:cs typeface="Arimo"/>
                <a:sym typeface="Arimo"/>
              </a:rPr>
              <a:t>Ce diagramme décrit les fonctionnalités selon le rôle :</a:t>
            </a:r>
          </a:p>
          <a:p>
            <a:pPr algn="just" marL="0" indent="0" lvl="0">
              <a:lnSpc>
                <a:spcPts val="3125"/>
              </a:lnSpc>
              <a:spcBef>
                <a:spcPct val="0"/>
              </a:spcBef>
            </a:pPr>
            <a:r>
              <a:rPr lang="en-US" sz="1937" strike="noStrike" u="none">
                <a:solidFill>
                  <a:srgbClr val="405449"/>
                </a:solidFill>
                <a:latin typeface="Arimo"/>
                <a:ea typeface="Arimo"/>
                <a:cs typeface="Arimo"/>
                <a:sym typeface="Arimo"/>
              </a:rPr>
              <a:t>Visiteur : voir les matchs et leurs détails.</a:t>
            </a:r>
          </a:p>
          <a:p>
            <a:pPr algn="just" marL="0" indent="0" lvl="0">
              <a:lnSpc>
                <a:spcPts val="3125"/>
              </a:lnSpc>
              <a:spcBef>
                <a:spcPct val="0"/>
              </a:spcBef>
            </a:pPr>
            <a:r>
              <a:rPr lang="en-US" sz="1937" strike="noStrike" u="none">
                <a:solidFill>
                  <a:srgbClr val="405449"/>
                </a:solidFill>
                <a:latin typeface="Arimo"/>
                <a:ea typeface="Arimo"/>
                <a:cs typeface="Arimo"/>
                <a:sym typeface="Arimo"/>
              </a:rPr>
              <a:t>Joueur : demander à rejoindre (PENDING), quitter, discuter dans le chat (si non KICKED), gérer son profil.</a:t>
            </a:r>
          </a:p>
          <a:p>
            <a:pPr algn="just" marL="0" indent="0" lvl="0">
              <a:lnSpc>
                <a:spcPts val="3125"/>
              </a:lnSpc>
              <a:spcBef>
                <a:spcPct val="0"/>
              </a:spcBef>
            </a:pPr>
            <a:r>
              <a:rPr lang="en-US" sz="1937" strike="noStrike" u="none">
                <a:solidFill>
                  <a:srgbClr val="405449"/>
                </a:solidFill>
                <a:latin typeface="Arimo"/>
                <a:ea typeface="Arimo"/>
                <a:cs typeface="Arimo"/>
                <a:sym typeface="Arimo"/>
              </a:rPr>
              <a:t>Organisateur : créer/modifier/supprimer un match, accepter/rejeter/kicker des joueurs, consulter leurs informations (nom, âge, ville, téléphone).</a:t>
            </a:r>
          </a:p>
          <a:p>
            <a:pPr algn="just" marL="0" indent="0" lvl="0">
              <a:lnSpc>
                <a:spcPts val="3125"/>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a:ln w="12700">
              <a:solidFill>
                <a:srgbClr val="000000"/>
              </a:solidFill>
            </a:ln>
          </p:spPr>
        </p:sp>
      </p:grpSp>
      <p:sp>
        <p:nvSpPr>
          <p:cNvPr name="Freeform 4" id="4"/>
          <p:cNvSpPr/>
          <p:nvPr/>
        </p:nvSpPr>
        <p:spPr>
          <a:xfrm flipH="false" flipV="false" rot="0">
            <a:off x="8142446" y="0"/>
            <a:ext cx="10145554" cy="10287000"/>
          </a:xfrm>
          <a:custGeom>
            <a:avLst/>
            <a:gdLst/>
            <a:ahLst/>
            <a:cxnLst/>
            <a:rect r="r" b="b" t="t" l="l"/>
            <a:pathLst>
              <a:path h="10287000" w="10145554">
                <a:moveTo>
                  <a:pt x="0" y="0"/>
                </a:moveTo>
                <a:lnTo>
                  <a:pt x="10145554" y="0"/>
                </a:lnTo>
                <a:lnTo>
                  <a:pt x="10145554" y="10287000"/>
                </a:lnTo>
                <a:lnTo>
                  <a:pt x="0" y="10287000"/>
                </a:lnTo>
                <a:lnTo>
                  <a:pt x="0" y="0"/>
                </a:lnTo>
                <a:close/>
              </a:path>
            </a:pathLst>
          </a:custGeom>
          <a:blipFill>
            <a:blip r:embed="rId2"/>
            <a:stretch>
              <a:fillRect l="0" t="0" r="0" b="0"/>
            </a:stretch>
          </a:blipFill>
        </p:spPr>
      </p:sp>
      <p:sp>
        <p:nvSpPr>
          <p:cNvPr name="TextBox 5" id="5"/>
          <p:cNvSpPr txBox="true"/>
          <p:nvPr/>
        </p:nvSpPr>
        <p:spPr>
          <a:xfrm rot="0">
            <a:off x="1028700" y="1009650"/>
            <a:ext cx="7057873" cy="794147"/>
          </a:xfrm>
          <a:prstGeom prst="rect">
            <a:avLst/>
          </a:prstGeom>
        </p:spPr>
        <p:txBody>
          <a:bodyPr anchor="t" rtlCol="false" tIns="0" lIns="0" bIns="0" rIns="0">
            <a:spAutoFit/>
          </a:bodyPr>
          <a:lstStyle/>
          <a:p>
            <a:pPr algn="l">
              <a:lnSpc>
                <a:spcPts val="6062"/>
              </a:lnSpc>
            </a:pPr>
            <a:r>
              <a:rPr lang="en-US" sz="4875" b="true">
                <a:solidFill>
                  <a:srgbClr val="3B4540"/>
                </a:solidFill>
                <a:latin typeface="Fraunces Bold"/>
                <a:ea typeface="Fraunces Bold"/>
                <a:cs typeface="Fraunces Bold"/>
                <a:sym typeface="Fraunces Bold"/>
              </a:rPr>
              <a:t>Diagramme de Classes</a:t>
            </a:r>
          </a:p>
        </p:txBody>
      </p:sp>
      <p:sp>
        <p:nvSpPr>
          <p:cNvPr name="TextBox 6" id="6"/>
          <p:cNvSpPr txBox="true"/>
          <p:nvPr/>
        </p:nvSpPr>
        <p:spPr>
          <a:xfrm rot="0">
            <a:off x="1028700" y="2399860"/>
            <a:ext cx="6602568" cy="4680172"/>
          </a:xfrm>
          <a:prstGeom prst="rect">
            <a:avLst/>
          </a:prstGeom>
        </p:spPr>
        <p:txBody>
          <a:bodyPr anchor="t" rtlCol="false" tIns="0" lIns="0" bIns="0" rIns="0">
            <a:spAutoFit/>
          </a:bodyPr>
          <a:lstStyle/>
          <a:p>
            <a:pPr algn="just" marL="0" indent="0" lvl="0">
              <a:lnSpc>
                <a:spcPts val="3123"/>
              </a:lnSpc>
              <a:spcBef>
                <a:spcPct val="0"/>
              </a:spcBef>
            </a:pPr>
            <a:r>
              <a:rPr lang="en-US" sz="1937" spc="160" strike="noStrike" u="none">
                <a:solidFill>
                  <a:srgbClr val="405449"/>
                </a:solidFill>
                <a:latin typeface="Arimo"/>
                <a:ea typeface="Arimo"/>
                <a:cs typeface="Arimo"/>
                <a:sym typeface="Arimo"/>
              </a:rPr>
              <a:t>Ce diagramme montre le déro</a:t>
            </a:r>
            <a:r>
              <a:rPr lang="en-US" sz="1937" spc="160" strike="noStrike" u="none">
                <a:solidFill>
                  <a:srgbClr val="405449"/>
                </a:solidFill>
                <a:latin typeface="Arimo"/>
                <a:ea typeface="Arimo"/>
                <a:cs typeface="Arimo"/>
                <a:sym typeface="Arimo"/>
              </a:rPr>
              <a:t>uleme</a:t>
            </a:r>
            <a:r>
              <a:rPr lang="en-US" sz="1937" spc="160" strike="noStrike" u="none">
                <a:solidFill>
                  <a:srgbClr val="405449"/>
                </a:solidFill>
                <a:latin typeface="Arimo"/>
                <a:ea typeface="Arimo"/>
                <a:cs typeface="Arimo"/>
                <a:sym typeface="Arimo"/>
              </a:rPr>
              <a:t>nt de 3 </a:t>
            </a:r>
            <a:r>
              <a:rPr lang="en-US" sz="1937" spc="160" strike="noStrike" u="none">
                <a:solidFill>
                  <a:srgbClr val="405449"/>
                </a:solidFill>
                <a:latin typeface="Arimo"/>
                <a:ea typeface="Arimo"/>
                <a:cs typeface="Arimo"/>
                <a:sym typeface="Arimo"/>
              </a:rPr>
              <a:t>scéna</a:t>
            </a:r>
            <a:r>
              <a:rPr lang="en-US" sz="1937" spc="160" strike="noStrike" u="none">
                <a:solidFill>
                  <a:srgbClr val="405449"/>
                </a:solidFill>
                <a:latin typeface="Arimo"/>
                <a:ea typeface="Arimo"/>
                <a:cs typeface="Arimo"/>
                <a:sym typeface="Arimo"/>
              </a:rPr>
              <a:t>ri</a:t>
            </a:r>
            <a:r>
              <a:rPr lang="en-US" sz="1937" spc="160" strike="noStrike" u="none">
                <a:solidFill>
                  <a:srgbClr val="405449"/>
                </a:solidFill>
                <a:latin typeface="Arimo"/>
                <a:ea typeface="Arimo"/>
                <a:cs typeface="Arimo"/>
                <a:sym typeface="Arimo"/>
              </a:rPr>
              <a:t>o</a:t>
            </a:r>
            <a:r>
              <a:rPr lang="en-US" sz="1937" spc="160" strike="noStrike" u="none">
                <a:solidFill>
                  <a:srgbClr val="405449"/>
                </a:solidFill>
                <a:latin typeface="Arimo"/>
                <a:ea typeface="Arimo"/>
                <a:cs typeface="Arimo"/>
                <a:sym typeface="Arimo"/>
              </a:rPr>
              <a:t>s :</a:t>
            </a:r>
          </a:p>
          <a:p>
            <a:pPr algn="just" marL="418307" indent="-209154" lvl="1">
              <a:lnSpc>
                <a:spcPts val="3123"/>
              </a:lnSpc>
              <a:spcBef>
                <a:spcPct val="0"/>
              </a:spcBef>
              <a:buAutoNum type="arabicPeriod" startAt="1"/>
            </a:pPr>
            <a:r>
              <a:rPr lang="en-US" sz="1937" spc="160" strike="noStrike" u="none">
                <a:solidFill>
                  <a:srgbClr val="405449"/>
                </a:solidFill>
                <a:latin typeface="Arimo"/>
                <a:ea typeface="Arimo"/>
                <a:cs typeface="Arimo"/>
                <a:sym typeface="Arimo"/>
              </a:rPr>
              <a:t>J</a:t>
            </a:r>
            <a:r>
              <a:rPr lang="en-US" sz="1937" spc="160" strike="noStrike" u="none">
                <a:solidFill>
                  <a:srgbClr val="405449"/>
                </a:solidFill>
                <a:latin typeface="Arimo"/>
                <a:ea typeface="Arimo"/>
                <a:cs typeface="Arimo"/>
                <a:sym typeface="Arimo"/>
              </a:rPr>
              <a:t>oi</a:t>
            </a:r>
            <a:r>
              <a:rPr lang="en-US" sz="1937" spc="160" strike="noStrike" u="none">
                <a:solidFill>
                  <a:srgbClr val="405449"/>
                </a:solidFill>
                <a:latin typeface="Arimo"/>
                <a:ea typeface="Arimo"/>
                <a:cs typeface="Arimo"/>
                <a:sym typeface="Arimo"/>
              </a:rPr>
              <a:t>n</a:t>
            </a:r>
            <a:r>
              <a:rPr lang="en-US" sz="1937" spc="160" strike="noStrike" u="none">
                <a:solidFill>
                  <a:srgbClr val="405449"/>
                </a:solidFill>
                <a:latin typeface="Arimo"/>
                <a:ea typeface="Arimo"/>
                <a:cs typeface="Arimo"/>
                <a:sym typeface="Arimo"/>
              </a:rPr>
              <a:t> match </a:t>
            </a:r>
            <a:r>
              <a:rPr lang="en-US" sz="1937" spc="160" strike="noStrike" u="none">
                <a:solidFill>
                  <a:srgbClr val="405449"/>
                </a:solidFill>
                <a:latin typeface="Arimo"/>
                <a:ea typeface="Arimo"/>
                <a:cs typeface="Arimo"/>
                <a:sym typeface="Arimo"/>
              </a:rPr>
              <a:t>:</a:t>
            </a:r>
            <a:r>
              <a:rPr lang="en-US" sz="1937" spc="160" strike="noStrike" u="none">
                <a:solidFill>
                  <a:srgbClr val="405449"/>
                </a:solidFill>
                <a:latin typeface="Arimo"/>
                <a:ea typeface="Arimo"/>
                <a:cs typeface="Arimo"/>
                <a:sym typeface="Arimo"/>
              </a:rPr>
              <a:t> le </a:t>
            </a:r>
            <a:r>
              <a:rPr lang="en-US" sz="1937" spc="160" strike="noStrike" u="none">
                <a:solidFill>
                  <a:srgbClr val="405449"/>
                </a:solidFill>
                <a:latin typeface="Arimo"/>
                <a:ea typeface="Arimo"/>
                <a:cs typeface="Arimo"/>
                <a:sym typeface="Arimo"/>
              </a:rPr>
              <a:t>j</a:t>
            </a:r>
            <a:r>
              <a:rPr lang="en-US" sz="1937" spc="160" strike="noStrike" u="none">
                <a:solidFill>
                  <a:srgbClr val="405449"/>
                </a:solidFill>
                <a:latin typeface="Arimo"/>
                <a:ea typeface="Arimo"/>
                <a:cs typeface="Arimo"/>
                <a:sym typeface="Arimo"/>
              </a:rPr>
              <a:t>oueur </a:t>
            </a:r>
            <a:r>
              <a:rPr lang="en-US" sz="1937" spc="160" strike="noStrike" u="none">
                <a:solidFill>
                  <a:srgbClr val="405449"/>
                </a:solidFill>
                <a:latin typeface="Arimo"/>
                <a:ea typeface="Arimo"/>
                <a:cs typeface="Arimo"/>
                <a:sym typeface="Arimo"/>
              </a:rPr>
              <a:t>choisit</a:t>
            </a:r>
            <a:r>
              <a:rPr lang="en-US" sz="1937" spc="160" strike="noStrike" u="none">
                <a:solidFill>
                  <a:srgbClr val="405449"/>
                </a:solidFill>
                <a:latin typeface="Arimo"/>
                <a:ea typeface="Arimo"/>
                <a:cs typeface="Arimo"/>
                <a:sym typeface="Arimo"/>
              </a:rPr>
              <a:t> </a:t>
            </a:r>
            <a:r>
              <a:rPr lang="en-US" sz="1937" spc="160" strike="noStrike" u="none">
                <a:solidFill>
                  <a:srgbClr val="405449"/>
                </a:solidFill>
                <a:latin typeface="Arimo"/>
                <a:ea typeface="Arimo"/>
                <a:cs typeface="Arimo"/>
                <a:sym typeface="Arimo"/>
              </a:rPr>
              <a:t>u</a:t>
            </a:r>
            <a:r>
              <a:rPr lang="en-US" sz="1937" spc="160" strike="noStrike" u="none">
                <a:solidFill>
                  <a:srgbClr val="405449"/>
                </a:solidFill>
                <a:latin typeface="Arimo"/>
                <a:ea typeface="Arimo"/>
                <a:cs typeface="Arimo"/>
                <a:sym typeface="Arimo"/>
              </a:rPr>
              <a:t>n</a:t>
            </a:r>
            <a:r>
              <a:rPr lang="en-US" sz="1937" spc="160" strike="noStrike" u="none">
                <a:solidFill>
                  <a:srgbClr val="405449"/>
                </a:solidFill>
                <a:latin typeface="Arimo"/>
                <a:ea typeface="Arimo"/>
                <a:cs typeface="Arimo"/>
                <a:sym typeface="Arimo"/>
              </a:rPr>
              <a:t> post</a:t>
            </a:r>
            <a:r>
              <a:rPr lang="en-US" sz="1937" spc="160" strike="noStrike" u="none">
                <a:solidFill>
                  <a:srgbClr val="405449"/>
                </a:solidFill>
                <a:latin typeface="Arimo"/>
                <a:ea typeface="Arimo"/>
                <a:cs typeface="Arimo"/>
                <a:sym typeface="Arimo"/>
              </a:rPr>
              <a:t>e </a:t>
            </a:r>
            <a:r>
              <a:rPr lang="en-US" sz="1937" spc="160" strike="noStrike" u="none">
                <a:solidFill>
                  <a:srgbClr val="405449"/>
                </a:solidFill>
                <a:latin typeface="Arimo"/>
                <a:ea typeface="Arimo"/>
                <a:cs typeface="Arimo"/>
                <a:sym typeface="Arimo"/>
              </a:rPr>
              <a:t>→</a:t>
            </a:r>
            <a:r>
              <a:rPr lang="en-US" sz="1937" spc="160" strike="noStrike" u="none">
                <a:solidFill>
                  <a:srgbClr val="405449"/>
                </a:solidFill>
                <a:latin typeface="Arimo"/>
                <a:ea typeface="Arimo"/>
                <a:cs typeface="Arimo"/>
                <a:sym typeface="Arimo"/>
              </a:rPr>
              <a:t> join</a:t>
            </a:r>
            <a:r>
              <a:rPr lang="en-US" sz="1937" spc="160" strike="noStrike" u="none">
                <a:solidFill>
                  <a:srgbClr val="405449"/>
                </a:solidFill>
                <a:latin typeface="Arimo"/>
                <a:ea typeface="Arimo"/>
                <a:cs typeface="Arimo"/>
                <a:sym typeface="Arimo"/>
              </a:rPr>
              <a:t>Match() c</a:t>
            </a:r>
            <a:r>
              <a:rPr lang="en-US" sz="1937" spc="160" strike="noStrike" u="none">
                <a:solidFill>
                  <a:srgbClr val="405449"/>
                </a:solidFill>
                <a:latin typeface="Arimo"/>
                <a:ea typeface="Arimo"/>
                <a:cs typeface="Arimo"/>
                <a:sym typeface="Arimo"/>
              </a:rPr>
              <a:t>r</a:t>
            </a:r>
            <a:r>
              <a:rPr lang="en-US" sz="1937" spc="160" strike="noStrike" u="none">
                <a:solidFill>
                  <a:srgbClr val="405449"/>
                </a:solidFill>
                <a:latin typeface="Arimo"/>
                <a:ea typeface="Arimo"/>
                <a:cs typeface="Arimo"/>
                <a:sym typeface="Arimo"/>
              </a:rPr>
              <a:t>é</a:t>
            </a:r>
            <a:r>
              <a:rPr lang="en-US" sz="1937" spc="160" strike="noStrike" u="none">
                <a:solidFill>
                  <a:srgbClr val="405449"/>
                </a:solidFill>
                <a:latin typeface="Arimo"/>
                <a:ea typeface="Arimo"/>
                <a:cs typeface="Arimo"/>
                <a:sym typeface="Arimo"/>
              </a:rPr>
              <a:t>e </a:t>
            </a:r>
            <a:r>
              <a:rPr lang="en-US" sz="1937" spc="160" strike="noStrike" u="none">
                <a:solidFill>
                  <a:srgbClr val="405449"/>
                </a:solidFill>
                <a:latin typeface="Arimo"/>
                <a:ea typeface="Arimo"/>
                <a:cs typeface="Arimo"/>
                <a:sym typeface="Arimo"/>
              </a:rPr>
              <a:t>une participation </a:t>
            </a:r>
            <a:r>
              <a:rPr lang="en-US" sz="1937" spc="160" strike="noStrike" u="none">
                <a:solidFill>
                  <a:srgbClr val="405449"/>
                </a:solidFill>
                <a:latin typeface="Arimo"/>
                <a:ea typeface="Arimo"/>
                <a:cs typeface="Arimo"/>
                <a:sym typeface="Arimo"/>
              </a:rPr>
              <a:t>PENDING </a:t>
            </a:r>
            <a:r>
              <a:rPr lang="en-US" sz="1937" spc="160" strike="noStrike" u="none">
                <a:solidFill>
                  <a:srgbClr val="405449"/>
                </a:solidFill>
                <a:latin typeface="Arimo"/>
                <a:ea typeface="Arimo"/>
                <a:cs typeface="Arimo"/>
                <a:sym typeface="Arimo"/>
              </a:rPr>
              <a:t>v</a:t>
            </a:r>
            <a:r>
              <a:rPr lang="en-US" sz="1937" spc="160" strike="noStrike" u="none">
                <a:solidFill>
                  <a:srgbClr val="405449"/>
                </a:solidFill>
                <a:latin typeface="Arimo"/>
                <a:ea typeface="Arimo"/>
                <a:cs typeface="Arimo"/>
                <a:sym typeface="Arimo"/>
              </a:rPr>
              <a:t>i</a:t>
            </a:r>
            <a:r>
              <a:rPr lang="en-US" sz="1937" spc="160" strike="noStrike" u="none">
                <a:solidFill>
                  <a:srgbClr val="405449"/>
                </a:solidFill>
                <a:latin typeface="Arimo"/>
                <a:ea typeface="Arimo"/>
                <a:cs typeface="Arimo"/>
                <a:sym typeface="Arimo"/>
              </a:rPr>
              <a:t>a</a:t>
            </a:r>
            <a:r>
              <a:rPr lang="en-US" sz="1937" spc="160" strike="noStrike" u="none">
                <a:solidFill>
                  <a:srgbClr val="405449"/>
                </a:solidFill>
                <a:latin typeface="Arimo"/>
                <a:ea typeface="Arimo"/>
                <a:cs typeface="Arimo"/>
                <a:sym typeface="Arimo"/>
              </a:rPr>
              <a:t> trans</a:t>
            </a:r>
            <a:r>
              <a:rPr lang="en-US" sz="1937" spc="160" strike="noStrike" u="none">
                <a:solidFill>
                  <a:srgbClr val="405449"/>
                </a:solidFill>
                <a:latin typeface="Arimo"/>
                <a:ea typeface="Arimo"/>
                <a:cs typeface="Arimo"/>
                <a:sym typeface="Arimo"/>
              </a:rPr>
              <a:t>a</a:t>
            </a:r>
            <a:r>
              <a:rPr lang="en-US" sz="1937" spc="160" strike="noStrike" u="none">
                <a:solidFill>
                  <a:srgbClr val="405449"/>
                </a:solidFill>
                <a:latin typeface="Arimo"/>
                <a:ea typeface="Arimo"/>
                <a:cs typeface="Arimo"/>
                <a:sym typeface="Arimo"/>
              </a:rPr>
              <a:t>ction </a:t>
            </a:r>
            <a:r>
              <a:rPr lang="en-US" sz="1937" spc="160" strike="noStrike" u="none">
                <a:solidFill>
                  <a:srgbClr val="405449"/>
                </a:solidFill>
                <a:latin typeface="Arimo"/>
                <a:ea typeface="Arimo"/>
                <a:cs typeface="Arimo"/>
                <a:sym typeface="Arimo"/>
              </a:rPr>
              <a:t>Fi</a:t>
            </a:r>
            <a:r>
              <a:rPr lang="en-US" sz="1937" spc="160" strike="noStrike" u="none">
                <a:solidFill>
                  <a:srgbClr val="405449"/>
                </a:solidFill>
                <a:latin typeface="Arimo"/>
                <a:ea typeface="Arimo"/>
                <a:cs typeface="Arimo"/>
                <a:sym typeface="Arimo"/>
              </a:rPr>
              <a:t>res</a:t>
            </a:r>
            <a:r>
              <a:rPr lang="en-US" sz="1937" spc="160" strike="noStrike" u="none">
                <a:solidFill>
                  <a:srgbClr val="405449"/>
                </a:solidFill>
                <a:latin typeface="Arimo"/>
                <a:ea typeface="Arimo"/>
                <a:cs typeface="Arimo"/>
                <a:sym typeface="Arimo"/>
              </a:rPr>
              <a:t>t</a:t>
            </a:r>
            <a:r>
              <a:rPr lang="en-US" sz="1937" spc="160" strike="noStrike" u="none">
                <a:solidFill>
                  <a:srgbClr val="405449"/>
                </a:solidFill>
                <a:latin typeface="Arimo"/>
                <a:ea typeface="Arimo"/>
                <a:cs typeface="Arimo"/>
                <a:sym typeface="Arimo"/>
              </a:rPr>
              <a:t>o</a:t>
            </a:r>
            <a:r>
              <a:rPr lang="en-US" sz="1937" spc="160" strike="noStrike" u="none">
                <a:solidFill>
                  <a:srgbClr val="405449"/>
                </a:solidFill>
                <a:latin typeface="Arimo"/>
                <a:ea typeface="Arimo"/>
                <a:cs typeface="Arimo"/>
                <a:sym typeface="Arimo"/>
              </a:rPr>
              <a:t>re.</a:t>
            </a:r>
          </a:p>
          <a:p>
            <a:pPr algn="just" marL="418307" indent="-209154" lvl="1">
              <a:lnSpc>
                <a:spcPts val="3123"/>
              </a:lnSpc>
              <a:spcBef>
                <a:spcPct val="0"/>
              </a:spcBef>
              <a:buAutoNum type="arabicPeriod" startAt="1"/>
            </a:pPr>
            <a:r>
              <a:rPr lang="en-US" sz="1937" spc="160" strike="noStrike" u="none">
                <a:solidFill>
                  <a:srgbClr val="405449"/>
                </a:solidFill>
                <a:latin typeface="Arimo"/>
                <a:ea typeface="Arimo"/>
                <a:cs typeface="Arimo"/>
                <a:sym typeface="Arimo"/>
              </a:rPr>
              <a:t>Accept</a:t>
            </a:r>
            <a:r>
              <a:rPr lang="en-US" sz="1937" spc="160" strike="noStrike" u="none">
                <a:solidFill>
                  <a:srgbClr val="405449"/>
                </a:solidFill>
                <a:latin typeface="Arimo"/>
                <a:ea typeface="Arimo"/>
                <a:cs typeface="Arimo"/>
                <a:sym typeface="Arimo"/>
              </a:rPr>
              <a:t> p</a:t>
            </a:r>
            <a:r>
              <a:rPr lang="en-US" sz="1937" spc="160" strike="noStrike" u="none">
                <a:solidFill>
                  <a:srgbClr val="405449"/>
                </a:solidFill>
                <a:latin typeface="Arimo"/>
                <a:ea typeface="Arimo"/>
                <a:cs typeface="Arimo"/>
                <a:sym typeface="Arimo"/>
              </a:rPr>
              <a:t>laye</a:t>
            </a:r>
            <a:r>
              <a:rPr lang="en-US" sz="1937" spc="160" strike="noStrike" u="none">
                <a:solidFill>
                  <a:srgbClr val="405449"/>
                </a:solidFill>
                <a:latin typeface="Arimo"/>
                <a:ea typeface="Arimo"/>
                <a:cs typeface="Arimo"/>
                <a:sym typeface="Arimo"/>
              </a:rPr>
              <a:t>r</a:t>
            </a:r>
            <a:r>
              <a:rPr lang="en-US" sz="1937" spc="160" strike="noStrike" u="none">
                <a:solidFill>
                  <a:srgbClr val="405449"/>
                </a:solidFill>
                <a:latin typeface="Arimo"/>
                <a:ea typeface="Arimo"/>
                <a:cs typeface="Arimo"/>
                <a:sym typeface="Arimo"/>
              </a:rPr>
              <a:t> : l’</a:t>
            </a:r>
            <a:r>
              <a:rPr lang="en-US" sz="1937" spc="160" strike="noStrike" u="none">
                <a:solidFill>
                  <a:srgbClr val="405449"/>
                </a:solidFill>
                <a:latin typeface="Arimo"/>
                <a:ea typeface="Arimo"/>
                <a:cs typeface="Arimo"/>
                <a:sym typeface="Arimo"/>
              </a:rPr>
              <a:t>organisateur </a:t>
            </a:r>
            <a:r>
              <a:rPr lang="en-US" sz="1937" spc="160" strike="noStrike" u="none">
                <a:solidFill>
                  <a:srgbClr val="405449"/>
                </a:solidFill>
                <a:latin typeface="Arimo"/>
                <a:ea typeface="Arimo"/>
                <a:cs typeface="Arimo"/>
                <a:sym typeface="Arimo"/>
              </a:rPr>
              <a:t>clique</a:t>
            </a:r>
            <a:r>
              <a:rPr lang="en-US" sz="1937" spc="160" strike="noStrike" u="none">
                <a:solidFill>
                  <a:srgbClr val="405449"/>
                </a:solidFill>
                <a:latin typeface="Arimo"/>
                <a:ea typeface="Arimo"/>
                <a:cs typeface="Arimo"/>
                <a:sym typeface="Arimo"/>
              </a:rPr>
              <a:t> </a:t>
            </a:r>
            <a:r>
              <a:rPr lang="en-US" sz="1937" spc="160" strike="noStrike" u="none">
                <a:solidFill>
                  <a:srgbClr val="405449"/>
                </a:solidFill>
                <a:latin typeface="Arimo"/>
                <a:ea typeface="Arimo"/>
                <a:cs typeface="Arimo"/>
                <a:sym typeface="Arimo"/>
              </a:rPr>
              <a:t>“Ac</a:t>
            </a:r>
            <a:r>
              <a:rPr lang="en-US" sz="1937" spc="160" strike="noStrike" u="none">
                <a:solidFill>
                  <a:srgbClr val="405449"/>
                </a:solidFill>
                <a:latin typeface="Arimo"/>
                <a:ea typeface="Arimo"/>
                <a:cs typeface="Arimo"/>
                <a:sym typeface="Arimo"/>
              </a:rPr>
              <a:t>c</a:t>
            </a:r>
            <a:r>
              <a:rPr lang="en-US" sz="1937" spc="160" strike="noStrike" u="none">
                <a:solidFill>
                  <a:srgbClr val="405449"/>
                </a:solidFill>
                <a:latin typeface="Arimo"/>
                <a:ea typeface="Arimo"/>
                <a:cs typeface="Arimo"/>
                <a:sym typeface="Arimo"/>
              </a:rPr>
              <a:t>ept” → acceptPlay</a:t>
            </a:r>
            <a:r>
              <a:rPr lang="en-US" sz="1937" spc="160" strike="noStrike" u="none">
                <a:solidFill>
                  <a:srgbClr val="405449"/>
                </a:solidFill>
                <a:latin typeface="Arimo"/>
                <a:ea typeface="Arimo"/>
                <a:cs typeface="Arimo"/>
                <a:sym typeface="Arimo"/>
              </a:rPr>
              <a:t>er</a:t>
            </a:r>
            <a:r>
              <a:rPr lang="en-US" sz="1937" spc="160" strike="noStrike" u="none">
                <a:solidFill>
                  <a:srgbClr val="405449"/>
                </a:solidFill>
                <a:latin typeface="Arimo"/>
                <a:ea typeface="Arimo"/>
                <a:cs typeface="Arimo"/>
                <a:sym typeface="Arimo"/>
              </a:rPr>
              <a:t>() </a:t>
            </a:r>
            <a:r>
              <a:rPr lang="en-US" sz="1937" spc="160" strike="noStrike" u="none">
                <a:solidFill>
                  <a:srgbClr val="405449"/>
                </a:solidFill>
                <a:latin typeface="Arimo"/>
                <a:ea typeface="Arimo"/>
                <a:cs typeface="Arimo"/>
                <a:sym typeface="Arimo"/>
              </a:rPr>
              <a:t>m</a:t>
            </a:r>
            <a:r>
              <a:rPr lang="en-US" sz="1937" spc="160" strike="noStrike" u="none">
                <a:solidFill>
                  <a:srgbClr val="405449"/>
                </a:solidFill>
                <a:latin typeface="Arimo"/>
                <a:ea typeface="Arimo"/>
                <a:cs typeface="Arimo"/>
                <a:sym typeface="Arimo"/>
              </a:rPr>
              <a:t>et à j</a:t>
            </a:r>
            <a:r>
              <a:rPr lang="en-US" sz="1937" spc="160" strike="noStrike" u="none">
                <a:solidFill>
                  <a:srgbClr val="405449"/>
                </a:solidFill>
                <a:latin typeface="Arimo"/>
                <a:ea typeface="Arimo"/>
                <a:cs typeface="Arimo"/>
                <a:sym typeface="Arimo"/>
              </a:rPr>
              <a:t>o</a:t>
            </a:r>
            <a:r>
              <a:rPr lang="en-US" sz="1937" spc="160" strike="noStrike" u="none">
                <a:solidFill>
                  <a:srgbClr val="405449"/>
                </a:solidFill>
                <a:latin typeface="Arimo"/>
                <a:ea typeface="Arimo"/>
                <a:cs typeface="Arimo"/>
                <a:sym typeface="Arimo"/>
              </a:rPr>
              <a:t>ur l</a:t>
            </a:r>
            <a:r>
              <a:rPr lang="en-US" sz="1937" spc="160" strike="noStrike" u="none">
                <a:solidFill>
                  <a:srgbClr val="405449"/>
                </a:solidFill>
                <a:latin typeface="Arimo"/>
                <a:ea typeface="Arimo"/>
                <a:cs typeface="Arimo"/>
                <a:sym typeface="Arimo"/>
              </a:rPr>
              <a:t>e</a:t>
            </a:r>
            <a:r>
              <a:rPr lang="en-US" sz="1937" spc="160" strike="noStrike" u="none">
                <a:solidFill>
                  <a:srgbClr val="405449"/>
                </a:solidFill>
                <a:latin typeface="Arimo"/>
                <a:ea typeface="Arimo"/>
                <a:cs typeface="Arimo"/>
                <a:sym typeface="Arimo"/>
              </a:rPr>
              <a:t> </a:t>
            </a:r>
            <a:r>
              <a:rPr lang="en-US" sz="1937" spc="160" strike="noStrike" u="none">
                <a:solidFill>
                  <a:srgbClr val="405449"/>
                </a:solidFill>
                <a:latin typeface="Arimo"/>
                <a:ea typeface="Arimo"/>
                <a:cs typeface="Arimo"/>
                <a:sym typeface="Arimo"/>
              </a:rPr>
              <a:t>s</a:t>
            </a:r>
            <a:r>
              <a:rPr lang="en-US" sz="1937" spc="160" strike="noStrike" u="none">
                <a:solidFill>
                  <a:srgbClr val="405449"/>
                </a:solidFill>
                <a:latin typeface="Arimo"/>
                <a:ea typeface="Arimo"/>
                <a:cs typeface="Arimo"/>
                <a:sym typeface="Arimo"/>
              </a:rPr>
              <a:t>tat</a:t>
            </a:r>
            <a:r>
              <a:rPr lang="en-US" sz="1937" spc="160" strike="noStrike" u="none">
                <a:solidFill>
                  <a:srgbClr val="405449"/>
                </a:solidFill>
                <a:latin typeface="Arimo"/>
                <a:ea typeface="Arimo"/>
                <a:cs typeface="Arimo"/>
                <a:sym typeface="Arimo"/>
              </a:rPr>
              <a:t>u</a:t>
            </a:r>
            <a:r>
              <a:rPr lang="en-US" sz="1937" spc="160" strike="noStrike" u="none">
                <a:solidFill>
                  <a:srgbClr val="405449"/>
                </a:solidFill>
                <a:latin typeface="Arimo"/>
                <a:ea typeface="Arimo"/>
                <a:cs typeface="Arimo"/>
                <a:sym typeface="Arimo"/>
              </a:rPr>
              <a:t>t ACCEPTED et </a:t>
            </a:r>
            <a:r>
              <a:rPr lang="en-US" sz="1937" spc="160" strike="noStrike" u="none">
                <a:solidFill>
                  <a:srgbClr val="405449"/>
                </a:solidFill>
                <a:latin typeface="Arimo"/>
                <a:ea typeface="Arimo"/>
                <a:cs typeface="Arimo"/>
                <a:sym typeface="Arimo"/>
              </a:rPr>
              <a:t>i</a:t>
            </a:r>
            <a:r>
              <a:rPr lang="en-US" sz="1937" spc="160" strike="noStrike" u="none">
                <a:solidFill>
                  <a:srgbClr val="405449"/>
                </a:solidFill>
                <a:latin typeface="Arimo"/>
                <a:ea typeface="Arimo"/>
                <a:cs typeface="Arimo"/>
                <a:sym typeface="Arimo"/>
              </a:rPr>
              <a:t>ncré</a:t>
            </a:r>
            <a:r>
              <a:rPr lang="en-US" sz="1937" spc="160" strike="noStrike" u="none">
                <a:solidFill>
                  <a:srgbClr val="405449"/>
                </a:solidFill>
                <a:latin typeface="Arimo"/>
                <a:ea typeface="Arimo"/>
                <a:cs typeface="Arimo"/>
                <a:sym typeface="Arimo"/>
              </a:rPr>
              <a:t>ment</a:t>
            </a:r>
            <a:r>
              <a:rPr lang="en-US" sz="1937" spc="160" strike="noStrike" u="none">
                <a:solidFill>
                  <a:srgbClr val="405449"/>
                </a:solidFill>
                <a:latin typeface="Arimo"/>
                <a:ea typeface="Arimo"/>
                <a:cs typeface="Arimo"/>
                <a:sym typeface="Arimo"/>
              </a:rPr>
              <a:t>e</a:t>
            </a:r>
            <a:r>
              <a:rPr lang="en-US" sz="1937" spc="160" strike="noStrike" u="none">
                <a:solidFill>
                  <a:srgbClr val="405449"/>
                </a:solidFill>
                <a:latin typeface="Arimo"/>
                <a:ea typeface="Arimo"/>
                <a:cs typeface="Arimo"/>
                <a:sym typeface="Arimo"/>
              </a:rPr>
              <a:t> accepte</a:t>
            </a:r>
            <a:r>
              <a:rPr lang="en-US" sz="1937" spc="160" strike="noStrike" u="none">
                <a:solidFill>
                  <a:srgbClr val="405449"/>
                </a:solidFill>
                <a:latin typeface="Arimo"/>
                <a:ea typeface="Arimo"/>
                <a:cs typeface="Arimo"/>
                <a:sym typeface="Arimo"/>
              </a:rPr>
              <a:t>dCount (OPEN</a:t>
            </a:r>
            <a:r>
              <a:rPr lang="en-US" sz="1937" spc="160" strike="noStrike" u="none">
                <a:solidFill>
                  <a:srgbClr val="405449"/>
                </a:solidFill>
                <a:latin typeface="Arimo"/>
                <a:ea typeface="Arimo"/>
                <a:cs typeface="Arimo"/>
                <a:sym typeface="Arimo"/>
              </a:rPr>
              <a:t>/</a:t>
            </a:r>
            <a:r>
              <a:rPr lang="en-US" sz="1937" spc="160" strike="noStrike" u="none">
                <a:solidFill>
                  <a:srgbClr val="405449"/>
                </a:solidFill>
                <a:latin typeface="Arimo"/>
                <a:ea typeface="Arimo"/>
                <a:cs typeface="Arimo"/>
                <a:sym typeface="Arimo"/>
              </a:rPr>
              <a:t>FULL).</a:t>
            </a:r>
          </a:p>
          <a:p>
            <a:pPr algn="just" marL="418307" indent="-209154" lvl="1">
              <a:lnSpc>
                <a:spcPts val="3125"/>
              </a:lnSpc>
              <a:spcBef>
                <a:spcPct val="0"/>
              </a:spcBef>
              <a:buAutoNum type="arabicPeriod" startAt="1"/>
            </a:pPr>
            <a:r>
              <a:rPr lang="en-US" sz="1937" spc="160" strike="noStrike" u="none">
                <a:solidFill>
                  <a:srgbClr val="405449"/>
                </a:solidFill>
                <a:latin typeface="Arimo"/>
                <a:ea typeface="Arimo"/>
                <a:cs typeface="Arimo"/>
                <a:sym typeface="Arimo"/>
              </a:rPr>
              <a:t>Chat : sendM</a:t>
            </a:r>
            <a:r>
              <a:rPr lang="en-US" sz="1937" spc="160" strike="noStrike" u="none">
                <a:solidFill>
                  <a:srgbClr val="405449"/>
                </a:solidFill>
                <a:latin typeface="Arimo"/>
                <a:ea typeface="Arimo"/>
                <a:cs typeface="Arimo"/>
                <a:sym typeface="Arimo"/>
              </a:rPr>
              <a:t>e</a:t>
            </a:r>
            <a:r>
              <a:rPr lang="en-US" sz="1937" spc="160" strike="noStrike" u="none">
                <a:solidFill>
                  <a:srgbClr val="405449"/>
                </a:solidFill>
                <a:latin typeface="Arimo"/>
                <a:ea typeface="Arimo"/>
                <a:cs typeface="Arimo"/>
                <a:sym typeface="Arimo"/>
              </a:rPr>
              <a:t>ssag</a:t>
            </a:r>
            <a:r>
              <a:rPr lang="en-US" sz="1937" spc="160" strike="noStrike" u="none">
                <a:solidFill>
                  <a:srgbClr val="405449"/>
                </a:solidFill>
                <a:latin typeface="Arimo"/>
                <a:ea typeface="Arimo"/>
                <a:cs typeface="Arimo"/>
                <a:sym typeface="Arimo"/>
              </a:rPr>
              <a:t>e</a:t>
            </a:r>
            <a:r>
              <a:rPr lang="en-US" sz="1937" spc="160" strike="noStrike" u="none">
                <a:solidFill>
                  <a:srgbClr val="405449"/>
                </a:solidFill>
                <a:latin typeface="Arimo"/>
                <a:ea typeface="Arimo"/>
                <a:cs typeface="Arimo"/>
                <a:sym typeface="Arimo"/>
              </a:rPr>
              <a:t>() </a:t>
            </a:r>
            <a:r>
              <a:rPr lang="en-US" sz="1937" spc="160" strike="noStrike" u="none">
                <a:solidFill>
                  <a:srgbClr val="405449"/>
                </a:solidFill>
                <a:latin typeface="Arimo"/>
                <a:ea typeface="Arimo"/>
                <a:cs typeface="Arimo"/>
                <a:sym typeface="Arimo"/>
              </a:rPr>
              <a:t>e</a:t>
            </a:r>
            <a:r>
              <a:rPr lang="en-US" sz="1937" spc="160" strike="noStrike" u="none">
                <a:solidFill>
                  <a:srgbClr val="405449"/>
                </a:solidFill>
                <a:latin typeface="Arimo"/>
                <a:ea typeface="Arimo"/>
                <a:cs typeface="Arimo"/>
                <a:sym typeface="Arimo"/>
              </a:rPr>
              <a:t>n</a:t>
            </a:r>
            <a:r>
              <a:rPr lang="en-US" sz="1937" spc="160" strike="noStrike" u="none">
                <a:solidFill>
                  <a:srgbClr val="405449"/>
                </a:solidFill>
                <a:latin typeface="Arimo"/>
                <a:ea typeface="Arimo"/>
                <a:cs typeface="Arimo"/>
                <a:sym typeface="Arimo"/>
              </a:rPr>
              <a:t>r</a:t>
            </a:r>
            <a:r>
              <a:rPr lang="en-US" sz="1937" spc="160" strike="noStrike" u="none">
                <a:solidFill>
                  <a:srgbClr val="405449"/>
                </a:solidFill>
                <a:latin typeface="Arimo"/>
                <a:ea typeface="Arimo"/>
                <a:cs typeface="Arimo"/>
                <a:sym typeface="Arimo"/>
              </a:rPr>
              <a:t>eg</a:t>
            </a:r>
            <a:r>
              <a:rPr lang="en-US" sz="1937" spc="160" strike="noStrike" u="none">
                <a:solidFill>
                  <a:srgbClr val="405449"/>
                </a:solidFill>
                <a:latin typeface="Arimo"/>
                <a:ea typeface="Arimo"/>
                <a:cs typeface="Arimo"/>
                <a:sym typeface="Arimo"/>
              </a:rPr>
              <a:t>i</a:t>
            </a:r>
            <a:r>
              <a:rPr lang="en-US" sz="1937" spc="160" strike="noStrike" u="none">
                <a:solidFill>
                  <a:srgbClr val="405449"/>
                </a:solidFill>
                <a:latin typeface="Arimo"/>
                <a:ea typeface="Arimo"/>
                <a:cs typeface="Arimo"/>
                <a:sym typeface="Arimo"/>
              </a:rPr>
              <a:t>str</a:t>
            </a:r>
            <a:r>
              <a:rPr lang="en-US" sz="1937" spc="160" strike="noStrike" u="none">
                <a:solidFill>
                  <a:srgbClr val="405449"/>
                </a:solidFill>
                <a:latin typeface="Arimo"/>
                <a:ea typeface="Arimo"/>
                <a:cs typeface="Arimo"/>
                <a:sym typeface="Arimo"/>
              </a:rPr>
              <a:t>e </a:t>
            </a:r>
            <a:r>
              <a:rPr lang="en-US" sz="1937" spc="160" strike="noStrike" u="none">
                <a:solidFill>
                  <a:srgbClr val="405449"/>
                </a:solidFill>
                <a:latin typeface="Arimo"/>
                <a:ea typeface="Arimo"/>
                <a:cs typeface="Arimo"/>
                <a:sym typeface="Arimo"/>
              </a:rPr>
              <a:t>l</a:t>
            </a:r>
            <a:r>
              <a:rPr lang="en-US" sz="1937" spc="160" strike="noStrike" u="none">
                <a:solidFill>
                  <a:srgbClr val="405449"/>
                </a:solidFill>
                <a:latin typeface="Arimo"/>
                <a:ea typeface="Arimo"/>
                <a:cs typeface="Arimo"/>
                <a:sym typeface="Arimo"/>
              </a:rPr>
              <a:t>e </a:t>
            </a:r>
            <a:r>
              <a:rPr lang="en-US" sz="1937" spc="160" strike="noStrike" u="none">
                <a:solidFill>
                  <a:srgbClr val="405449"/>
                </a:solidFill>
                <a:latin typeface="Arimo"/>
                <a:ea typeface="Arimo"/>
                <a:cs typeface="Arimo"/>
                <a:sym typeface="Arimo"/>
              </a:rPr>
              <a:t>m</a:t>
            </a:r>
            <a:r>
              <a:rPr lang="en-US" sz="1937" spc="160" strike="noStrike" u="none">
                <a:solidFill>
                  <a:srgbClr val="405449"/>
                </a:solidFill>
                <a:latin typeface="Arimo"/>
                <a:ea typeface="Arimo"/>
                <a:cs typeface="Arimo"/>
                <a:sym typeface="Arimo"/>
              </a:rPr>
              <a:t>e</a:t>
            </a:r>
            <a:r>
              <a:rPr lang="en-US" sz="1937" spc="160" strike="noStrike" u="none">
                <a:solidFill>
                  <a:srgbClr val="405449"/>
                </a:solidFill>
                <a:latin typeface="Arimo"/>
                <a:ea typeface="Arimo"/>
                <a:cs typeface="Arimo"/>
                <a:sym typeface="Arimo"/>
              </a:rPr>
              <a:t>s</a:t>
            </a:r>
            <a:r>
              <a:rPr lang="en-US" sz="1937" spc="160" strike="noStrike" u="none">
                <a:solidFill>
                  <a:srgbClr val="405449"/>
                </a:solidFill>
                <a:latin typeface="Arimo"/>
                <a:ea typeface="Arimo"/>
                <a:cs typeface="Arimo"/>
                <a:sym typeface="Arimo"/>
              </a:rPr>
              <a:t>s</a:t>
            </a:r>
            <a:r>
              <a:rPr lang="en-US" sz="1937" spc="160" strike="noStrike" u="none">
                <a:solidFill>
                  <a:srgbClr val="405449"/>
                </a:solidFill>
                <a:latin typeface="Arimo"/>
                <a:ea typeface="Arimo"/>
                <a:cs typeface="Arimo"/>
                <a:sym typeface="Arimo"/>
              </a:rPr>
              <a:t>age</a:t>
            </a:r>
            <a:r>
              <a:rPr lang="en-US" sz="1937" spc="160" strike="noStrike" u="none">
                <a:solidFill>
                  <a:srgbClr val="405449"/>
                </a:solidFill>
                <a:latin typeface="Arimo"/>
                <a:ea typeface="Arimo"/>
                <a:cs typeface="Arimo"/>
                <a:sym typeface="Arimo"/>
              </a:rPr>
              <a:t> s</a:t>
            </a:r>
            <a:r>
              <a:rPr lang="en-US" sz="1937" spc="160" strike="noStrike" u="none">
                <a:solidFill>
                  <a:srgbClr val="405449"/>
                </a:solidFill>
                <a:latin typeface="Arimo"/>
                <a:ea typeface="Arimo"/>
                <a:cs typeface="Arimo"/>
                <a:sym typeface="Arimo"/>
              </a:rPr>
              <a:t>i l’</a:t>
            </a:r>
            <a:r>
              <a:rPr lang="en-US" sz="1937" spc="160" strike="noStrike" u="none">
                <a:solidFill>
                  <a:srgbClr val="405449"/>
                </a:solidFill>
                <a:latin typeface="Arimo"/>
                <a:ea typeface="Arimo"/>
                <a:cs typeface="Arimo"/>
                <a:sym typeface="Arimo"/>
              </a:rPr>
              <a:t>u</a:t>
            </a:r>
            <a:r>
              <a:rPr lang="en-US" sz="1937" spc="160" strike="noStrike" u="none">
                <a:solidFill>
                  <a:srgbClr val="405449"/>
                </a:solidFill>
                <a:latin typeface="Arimo"/>
                <a:ea typeface="Arimo"/>
                <a:cs typeface="Arimo"/>
                <a:sym typeface="Arimo"/>
              </a:rPr>
              <a:t>ti</a:t>
            </a:r>
            <a:r>
              <a:rPr lang="en-US" sz="1937" spc="160" strike="noStrike" u="none">
                <a:solidFill>
                  <a:srgbClr val="405449"/>
                </a:solidFill>
                <a:latin typeface="Arimo"/>
                <a:ea typeface="Arimo"/>
                <a:cs typeface="Arimo"/>
                <a:sym typeface="Arimo"/>
              </a:rPr>
              <a:t>l</a:t>
            </a:r>
            <a:r>
              <a:rPr lang="en-US" sz="1937" spc="160" strike="noStrike" u="none">
                <a:solidFill>
                  <a:srgbClr val="405449"/>
                </a:solidFill>
                <a:latin typeface="Arimo"/>
                <a:ea typeface="Arimo"/>
                <a:cs typeface="Arimo"/>
                <a:sym typeface="Arimo"/>
              </a:rPr>
              <a:t>isa</a:t>
            </a:r>
            <a:r>
              <a:rPr lang="en-US" sz="1937" spc="160" strike="noStrike" u="none">
                <a:solidFill>
                  <a:srgbClr val="405449"/>
                </a:solidFill>
                <a:latin typeface="Arimo"/>
                <a:ea typeface="Arimo"/>
                <a:cs typeface="Arimo"/>
                <a:sym typeface="Arimo"/>
              </a:rPr>
              <a:t>te</a:t>
            </a:r>
            <a:r>
              <a:rPr lang="en-US" sz="1937" spc="160" strike="noStrike" u="none">
                <a:solidFill>
                  <a:srgbClr val="405449"/>
                </a:solidFill>
                <a:latin typeface="Arimo"/>
                <a:ea typeface="Arimo"/>
                <a:cs typeface="Arimo"/>
                <a:sym typeface="Arimo"/>
              </a:rPr>
              <a:t>u</a:t>
            </a:r>
            <a:r>
              <a:rPr lang="en-US" sz="1937" spc="160" strike="noStrike" u="none">
                <a:solidFill>
                  <a:srgbClr val="405449"/>
                </a:solidFill>
                <a:latin typeface="Arimo"/>
                <a:ea typeface="Arimo"/>
                <a:cs typeface="Arimo"/>
                <a:sym typeface="Arimo"/>
              </a:rPr>
              <a:t>r es</a:t>
            </a:r>
            <a:r>
              <a:rPr lang="en-US" sz="1937" spc="160" strike="noStrike" u="none">
                <a:solidFill>
                  <a:srgbClr val="405449"/>
                </a:solidFill>
                <a:latin typeface="Arimo"/>
                <a:ea typeface="Arimo"/>
                <a:cs typeface="Arimo"/>
                <a:sym typeface="Arimo"/>
              </a:rPr>
              <a:t>t</a:t>
            </a:r>
            <a:r>
              <a:rPr lang="en-US" sz="1937" spc="160" strike="noStrike" u="none">
                <a:solidFill>
                  <a:srgbClr val="405449"/>
                </a:solidFill>
                <a:latin typeface="Arimo"/>
                <a:ea typeface="Arimo"/>
                <a:cs typeface="Arimo"/>
                <a:sym typeface="Arimo"/>
              </a:rPr>
              <a:t> or</a:t>
            </a:r>
            <a:r>
              <a:rPr lang="en-US" sz="1937" spc="160" strike="noStrike" u="none">
                <a:solidFill>
                  <a:srgbClr val="405449"/>
                </a:solidFill>
                <a:latin typeface="Arimo"/>
                <a:ea typeface="Arimo"/>
                <a:cs typeface="Arimo"/>
                <a:sym typeface="Arimo"/>
              </a:rPr>
              <a:t>g</a:t>
            </a:r>
            <a:r>
              <a:rPr lang="en-US" sz="1937" spc="160" strike="noStrike" u="none">
                <a:solidFill>
                  <a:srgbClr val="405449"/>
                </a:solidFill>
                <a:latin typeface="Arimo"/>
                <a:ea typeface="Arimo"/>
                <a:cs typeface="Arimo"/>
                <a:sym typeface="Arimo"/>
              </a:rPr>
              <a:t>an</a:t>
            </a:r>
            <a:r>
              <a:rPr lang="en-US" sz="1937" spc="160" strike="noStrike" u="none">
                <a:solidFill>
                  <a:srgbClr val="405449"/>
                </a:solidFill>
                <a:latin typeface="Arimo"/>
                <a:ea typeface="Arimo"/>
                <a:cs typeface="Arimo"/>
                <a:sym typeface="Arimo"/>
              </a:rPr>
              <a:t>i</a:t>
            </a:r>
            <a:r>
              <a:rPr lang="en-US" sz="1937" spc="160" strike="noStrike" u="none">
                <a:solidFill>
                  <a:srgbClr val="405449"/>
                </a:solidFill>
                <a:latin typeface="Arimo"/>
                <a:ea typeface="Arimo"/>
                <a:cs typeface="Arimo"/>
                <a:sym typeface="Arimo"/>
              </a:rPr>
              <a:t>s</a:t>
            </a:r>
            <a:r>
              <a:rPr lang="en-US" sz="1937" spc="160" strike="noStrike" u="none">
                <a:solidFill>
                  <a:srgbClr val="405449"/>
                </a:solidFill>
                <a:latin typeface="Arimo"/>
                <a:ea typeface="Arimo"/>
                <a:cs typeface="Arimo"/>
                <a:sym typeface="Arimo"/>
              </a:rPr>
              <a:t>at</a:t>
            </a:r>
            <a:r>
              <a:rPr lang="en-US" sz="1937" spc="160" strike="noStrike" u="none">
                <a:solidFill>
                  <a:srgbClr val="405449"/>
                </a:solidFill>
                <a:latin typeface="Arimo"/>
                <a:ea typeface="Arimo"/>
                <a:cs typeface="Arimo"/>
                <a:sym typeface="Arimo"/>
              </a:rPr>
              <a:t>e</a:t>
            </a:r>
            <a:r>
              <a:rPr lang="en-US" sz="1937" spc="160" strike="noStrike" u="none">
                <a:solidFill>
                  <a:srgbClr val="405449"/>
                </a:solidFill>
                <a:latin typeface="Arimo"/>
                <a:ea typeface="Arimo"/>
                <a:cs typeface="Arimo"/>
                <a:sym typeface="Arimo"/>
              </a:rPr>
              <a:t>ur</a:t>
            </a:r>
            <a:r>
              <a:rPr lang="en-US" sz="1937" spc="160" strike="noStrike" u="none">
                <a:solidFill>
                  <a:srgbClr val="405449"/>
                </a:solidFill>
                <a:latin typeface="Arimo"/>
                <a:ea typeface="Arimo"/>
                <a:cs typeface="Arimo"/>
                <a:sym typeface="Arimo"/>
              </a:rPr>
              <a:t> </a:t>
            </a:r>
            <a:r>
              <a:rPr lang="en-US" sz="1937" spc="160" strike="noStrike" u="none">
                <a:solidFill>
                  <a:srgbClr val="405449"/>
                </a:solidFill>
                <a:latin typeface="Arimo"/>
                <a:ea typeface="Arimo"/>
                <a:cs typeface="Arimo"/>
                <a:sym typeface="Arimo"/>
              </a:rPr>
              <a:t>ou</a:t>
            </a:r>
            <a:r>
              <a:rPr lang="en-US" sz="1937" spc="160" strike="noStrike" u="none">
                <a:solidFill>
                  <a:srgbClr val="405449"/>
                </a:solidFill>
                <a:latin typeface="Arimo"/>
                <a:ea typeface="Arimo"/>
                <a:cs typeface="Arimo"/>
                <a:sym typeface="Arimo"/>
              </a:rPr>
              <a:t> </a:t>
            </a:r>
            <a:r>
              <a:rPr lang="en-US" sz="1937" spc="160" strike="noStrike" u="none">
                <a:solidFill>
                  <a:srgbClr val="405449"/>
                </a:solidFill>
                <a:latin typeface="Arimo"/>
                <a:ea typeface="Arimo"/>
                <a:cs typeface="Arimo"/>
                <a:sym typeface="Arimo"/>
              </a:rPr>
              <a:t>par</a:t>
            </a:r>
            <a:r>
              <a:rPr lang="en-US" sz="1937" spc="160" strike="noStrike" u="none">
                <a:solidFill>
                  <a:srgbClr val="405449"/>
                </a:solidFill>
                <a:latin typeface="Arimo"/>
                <a:ea typeface="Arimo"/>
                <a:cs typeface="Arimo"/>
                <a:sym typeface="Arimo"/>
              </a:rPr>
              <a:t>t</a:t>
            </a:r>
            <a:r>
              <a:rPr lang="en-US" sz="1937" spc="160" strike="noStrike" u="none">
                <a:solidFill>
                  <a:srgbClr val="405449"/>
                </a:solidFill>
                <a:latin typeface="Arimo"/>
                <a:ea typeface="Arimo"/>
                <a:cs typeface="Arimo"/>
                <a:sym typeface="Arimo"/>
              </a:rPr>
              <a:t>ici</a:t>
            </a:r>
            <a:r>
              <a:rPr lang="en-US" sz="1937" spc="160" strike="noStrike" u="none">
                <a:solidFill>
                  <a:srgbClr val="405449"/>
                </a:solidFill>
                <a:latin typeface="Arimo"/>
                <a:ea typeface="Arimo"/>
                <a:cs typeface="Arimo"/>
                <a:sym typeface="Arimo"/>
              </a:rPr>
              <a:t>p</a:t>
            </a:r>
            <a:r>
              <a:rPr lang="en-US" sz="1937" spc="160" strike="noStrike" u="none">
                <a:solidFill>
                  <a:srgbClr val="405449"/>
                </a:solidFill>
                <a:latin typeface="Arimo"/>
                <a:ea typeface="Arimo"/>
                <a:cs typeface="Arimo"/>
                <a:sym typeface="Arimo"/>
              </a:rPr>
              <a:t>ant n</a:t>
            </a:r>
            <a:r>
              <a:rPr lang="en-US" sz="1937" spc="160" strike="noStrike" u="none">
                <a:solidFill>
                  <a:srgbClr val="405449"/>
                </a:solidFill>
                <a:latin typeface="Arimo"/>
                <a:ea typeface="Arimo"/>
                <a:cs typeface="Arimo"/>
                <a:sym typeface="Arimo"/>
              </a:rPr>
              <a:t>on</a:t>
            </a:r>
            <a:r>
              <a:rPr lang="en-US" sz="1937" spc="160" strike="noStrike" u="none">
                <a:solidFill>
                  <a:srgbClr val="405449"/>
                </a:solidFill>
                <a:latin typeface="Arimo"/>
                <a:ea typeface="Arimo"/>
                <a:cs typeface="Arimo"/>
                <a:sym typeface="Arimo"/>
              </a:rPr>
              <a:t> KICKED</a:t>
            </a:r>
            <a:r>
              <a:rPr lang="en-US" sz="1937" spc="160" strike="noStrike" u="none">
                <a:solidFill>
                  <a:srgbClr val="405449"/>
                </a:solidFill>
                <a:latin typeface="Arimo"/>
                <a:ea typeface="Arimo"/>
                <a:cs typeface="Arimo"/>
                <a:sym typeface="Arimo"/>
              </a:rPr>
              <a:t>.</a:t>
            </a:r>
          </a:p>
          <a:p>
            <a:pPr algn="just" marL="0" indent="0" lvl="0">
              <a:lnSpc>
                <a:spcPts val="3123"/>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DAG8mhTD29s</dc:identifier>
  <dcterms:modified xsi:type="dcterms:W3CDTF">2011-08-01T06:04:30Z</dcterms:modified>
  <cp:revision>1</cp:revision>
  <dc:title>MatchUp-Optimisation-de-la-Gestion-des-Matchs-de-Football (1).pptx</dc:title>
</cp:coreProperties>
</file>