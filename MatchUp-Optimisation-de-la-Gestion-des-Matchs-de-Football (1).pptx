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Fraunces Extra Bold"/>
      <p:regular r:id="rId17"/>
    </p:embeddedFont>
    <p:embeddedFont>
      <p:font typeface="Fraunces Extra Bold"/>
      <p:regular r:id="rId18"/>
    </p:embeddedFont>
    <p:embeddedFont>
      <p:font typeface="Nobile"/>
      <p:regular r:id="rId19"/>
    </p:embeddedFont>
    <p:embeddedFont>
      <p:font typeface="Nobile"/>
      <p:regular r:id="rId20"/>
    </p:embeddedFont>
    <p:embeddedFont>
      <p:font typeface="Nobile"/>
      <p:regular r:id="rId21"/>
    </p:embeddedFont>
    <p:embeddedFont>
      <p:font typeface="Nobile"/>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sv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sv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svg"/><Relationship Id="rId19" Type="http://schemas.openxmlformats.org/officeDocument/2006/relationships/slideLayout" Target="../slideLayouts/slideLayout6.xml"/><Relationship Id="rId2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0.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slideLayout" Target="../slideLayouts/slideLayout1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224915"/>
            <a:ext cx="7556421" cy="1860233"/>
          </a:xfrm>
          <a:prstGeom prst="rect">
            <a:avLst/>
          </a:prstGeom>
          <a:noFill/>
          <a:ln/>
        </p:spPr>
        <p:txBody>
          <a:bodyPr wrap="squar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MatchUp: Optimisation de la Gestion des Matchs de Football</a:t>
            </a:r>
            <a:endParaRPr lang="en-US" sz="3900" dirty="0"/>
          </a:p>
        </p:txBody>
      </p:sp>
      <p:sp>
        <p:nvSpPr>
          <p:cNvPr id="4" name="Text 1"/>
          <p:cNvSpPr/>
          <p:nvPr/>
        </p:nvSpPr>
        <p:spPr>
          <a:xfrm>
            <a:off x="6280190" y="3382804"/>
            <a:ext cx="7556421" cy="317540"/>
          </a:xfrm>
          <a:prstGeom prst="rect">
            <a:avLst/>
          </a:prstGeom>
          <a:noFill/>
          <a:ln/>
        </p:spPr>
        <p:txBody>
          <a:bodyPr wrap="non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Présenté par Asaad Azaroual</a:t>
            </a:r>
            <a:endParaRPr lang="en-US" sz="1550" dirty="0"/>
          </a:p>
        </p:txBody>
      </p:sp>
      <p:sp>
        <p:nvSpPr>
          <p:cNvPr id="5" name="Text 2"/>
          <p:cNvSpPr/>
          <p:nvPr/>
        </p:nvSpPr>
        <p:spPr>
          <a:xfrm>
            <a:off x="6280190" y="3923586"/>
            <a:ext cx="7556421" cy="127015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Cette présentation explorera </a:t>
            </a:r>
            <a:pPr algn="l" indent="0" marL="0">
              <a:lnSpc>
                <a:spcPts val="2500"/>
              </a:lnSpc>
              <a:buNone/>
            </a:pPr>
            <a:r>
              <a:rPr lang="en-US" sz="1550" b="1" dirty="0">
                <a:solidFill>
                  <a:srgbClr val="405449"/>
                </a:solidFill>
                <a:latin typeface="Nobile" pitchFamily="34" charset="0"/>
                <a:ea typeface="Nobile" pitchFamily="34" charset="-122"/>
                <a:cs typeface="Nobile" pitchFamily="34" charset="-120"/>
              </a:rPr>
              <a:t>MatchUp</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une application mobile et web innovante conçue pour simplifier l'organisation et la participation aux matchs de football. Nous détaillerons l'architecture technique, les fonctionnalités clés et les modèles de données qui sous-tendent cette plateforme.</a:t>
            </a:r>
            <a:endParaRPr lang="en-US" sz="1550" dirty="0"/>
          </a:p>
        </p:txBody>
      </p:sp>
      <p:sp>
        <p:nvSpPr>
          <p:cNvPr id="6" name="Text 3"/>
          <p:cNvSpPr/>
          <p:nvPr/>
        </p:nvSpPr>
        <p:spPr>
          <a:xfrm>
            <a:off x="6280190" y="5416987"/>
            <a:ext cx="7556421" cy="1587698"/>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La technologie au cœur de MatchUp repose sur une pile robuste et moderne: </a:t>
            </a:r>
            <a:pPr algn="l" indent="0" marL="0">
              <a:lnSpc>
                <a:spcPts val="2500"/>
              </a:lnSpc>
              <a:buNone/>
            </a:pPr>
            <a:r>
              <a:rPr lang="en-US" sz="1550" b="1" dirty="0">
                <a:solidFill>
                  <a:srgbClr val="405449"/>
                </a:solidFill>
                <a:latin typeface="Nobile" pitchFamily="34" charset="0"/>
                <a:ea typeface="Nobile" pitchFamily="34" charset="-122"/>
                <a:cs typeface="Nobile" pitchFamily="34" charset="-120"/>
              </a:rPr>
              <a:t>Flutter</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pour une interface utilisateur réactive et multiplateforme, </a:t>
            </a:r>
            <a:pPr algn="l" indent="0" marL="0">
              <a:lnSpc>
                <a:spcPts val="2500"/>
              </a:lnSpc>
              <a:buNone/>
            </a:pPr>
            <a:r>
              <a:rPr lang="en-US" sz="1550" b="1" dirty="0">
                <a:solidFill>
                  <a:srgbClr val="405449"/>
                </a:solidFill>
                <a:latin typeface="Nobile" pitchFamily="34" charset="0"/>
                <a:ea typeface="Nobile" pitchFamily="34" charset="-122"/>
                <a:cs typeface="Nobile" pitchFamily="34" charset="-120"/>
              </a:rPr>
              <a:t>Riverpod</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pour une gestion d'état efficace et prévisible, et </a:t>
            </a:r>
            <a:pPr algn="l" indent="0" marL="0">
              <a:lnSpc>
                <a:spcPts val="2500"/>
              </a:lnSpc>
              <a:buNone/>
            </a:pPr>
            <a:r>
              <a:rPr lang="en-US" sz="1550" b="1" dirty="0">
                <a:solidFill>
                  <a:srgbClr val="405449"/>
                </a:solidFill>
                <a:latin typeface="Nobile" pitchFamily="34" charset="0"/>
                <a:ea typeface="Nobile" pitchFamily="34" charset="-122"/>
                <a:cs typeface="Nobile" pitchFamily="34" charset="-120"/>
              </a:rPr>
              <a:t>Firebase</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(Authentication, Firestore) pour une infrastructure backend scalable et sécurisée, complétée par </a:t>
            </a:r>
            <a:pPr algn="l" indent="0" marL="0">
              <a:lnSpc>
                <a:spcPts val="2500"/>
              </a:lnSpc>
              <a:buNone/>
            </a:pPr>
            <a:r>
              <a:rPr lang="en-US" sz="1550" b="1" dirty="0">
                <a:solidFill>
                  <a:srgbClr val="405449"/>
                </a:solidFill>
                <a:latin typeface="Nobile" pitchFamily="34" charset="0"/>
                <a:ea typeface="Nobile" pitchFamily="34" charset="-122"/>
                <a:cs typeface="Nobile" pitchFamily="34" charset="-120"/>
              </a:rPr>
              <a:t>Cloudinary</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pour la gestion des médias.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91314"/>
            <a:ext cx="13042821" cy="1240155"/>
          </a:xfrm>
          <a:prstGeom prst="rect">
            <a:avLst/>
          </a:prstGeom>
          <a:noFill/>
          <a:ln/>
        </p:spPr>
        <p:txBody>
          <a:bodyPr wrap="squar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La Problématique: Les Défis de l'Organisation de Matchs</a:t>
            </a:r>
            <a:endParaRPr lang="en-US" sz="3900" dirty="0"/>
          </a:p>
        </p:txBody>
      </p:sp>
      <p:sp>
        <p:nvSpPr>
          <p:cNvPr id="3" name="Text 1"/>
          <p:cNvSpPr/>
          <p:nvPr/>
        </p:nvSpPr>
        <p:spPr>
          <a:xfrm>
            <a:off x="793790" y="262830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L'organisation de matchs de football entre amis ou collègues est souvent semée d'embûches, transformant ce qui devrait être un moment de plaisir en une corvée logistique. MatchUp répond à ces frustrations en offrant une solution centralisée et automatisée.</a:t>
            </a:r>
            <a:endParaRPr lang="en-US" sz="1550" dirty="0"/>
          </a:p>
        </p:txBody>
      </p:sp>
      <p:sp>
        <p:nvSpPr>
          <p:cNvPr id="4" name="Shape 2"/>
          <p:cNvSpPr/>
          <p:nvPr/>
        </p:nvSpPr>
        <p:spPr>
          <a:xfrm>
            <a:off x="793790" y="3486626"/>
            <a:ext cx="4215289" cy="2893338"/>
          </a:xfrm>
          <a:prstGeom prst="roundRect">
            <a:avLst>
              <a:gd name="adj" fmla="val 3792"/>
            </a:avLst>
          </a:prstGeom>
          <a:solidFill>
            <a:srgbClr val="FAFFFA"/>
          </a:solidFill>
          <a:ln w="22860">
            <a:solidFill>
              <a:srgbClr val="CED9CE"/>
            </a:solidFill>
            <a:prstDash val="solid"/>
          </a:ln>
        </p:spPr>
      </p:sp>
      <p:sp>
        <p:nvSpPr>
          <p:cNvPr id="5" name="Shape 3"/>
          <p:cNvSpPr/>
          <p:nvPr/>
        </p:nvSpPr>
        <p:spPr>
          <a:xfrm>
            <a:off x="770930" y="3486626"/>
            <a:ext cx="91440" cy="2893338"/>
          </a:xfrm>
          <a:prstGeom prst="roundRect">
            <a:avLst>
              <a:gd name="adj" fmla="val 195349"/>
            </a:avLst>
          </a:prstGeom>
          <a:solidFill>
            <a:srgbClr val="438951"/>
          </a:solidFill>
          <a:ln/>
        </p:spPr>
      </p:sp>
      <p:sp>
        <p:nvSpPr>
          <p:cNvPr id="6" name="Text 4"/>
          <p:cNvSpPr/>
          <p:nvPr/>
        </p:nvSpPr>
        <p:spPr>
          <a:xfrm>
            <a:off x="1083588" y="3707844"/>
            <a:ext cx="3704273" cy="744141"/>
          </a:xfrm>
          <a:prstGeom prst="rect">
            <a:avLst/>
          </a:prstGeom>
          <a:noFill/>
          <a:ln/>
        </p:spPr>
        <p:txBody>
          <a:bodyPr wrap="square" lIns="0" tIns="0" rIns="0" bIns="0" rtlCol="0" anchor="t"/>
          <a:lstStyle/>
          <a:p>
            <a:pPr algn="l" indent="0" marL="0">
              <a:lnSpc>
                <a:spcPts val="2900"/>
              </a:lnSpc>
              <a:buNone/>
            </a:pPr>
            <a:r>
              <a:rPr lang="en-US" sz="2300" b="1" dirty="0">
                <a:solidFill>
                  <a:srgbClr val="405449"/>
                </a:solidFill>
                <a:latin typeface="Fraunces Extra Bold" pitchFamily="34" charset="0"/>
                <a:ea typeface="Fraunces Extra Bold" pitchFamily="34" charset="-122"/>
                <a:cs typeface="Fraunces Extra Bold" pitchFamily="34" charset="-120"/>
              </a:rPr>
              <a:t>Difficulté à réunir les joueurs</a:t>
            </a:r>
            <a:endParaRPr lang="en-US" sz="2300" dirty="0"/>
          </a:p>
        </p:txBody>
      </p:sp>
      <p:sp>
        <p:nvSpPr>
          <p:cNvPr id="7" name="Text 5"/>
          <p:cNvSpPr/>
          <p:nvPr/>
        </p:nvSpPr>
        <p:spPr>
          <a:xfrm>
            <a:off x="1083588" y="4571048"/>
            <a:ext cx="3704273" cy="127015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Trouver suffisamment de participants et s'assurer de leur disponibilité est un processus laborieux, souvent via de multiples canaux de communication.</a:t>
            </a:r>
            <a:endParaRPr lang="en-US" sz="1550" dirty="0"/>
          </a:p>
        </p:txBody>
      </p:sp>
      <p:sp>
        <p:nvSpPr>
          <p:cNvPr id="8" name="Shape 6"/>
          <p:cNvSpPr/>
          <p:nvPr/>
        </p:nvSpPr>
        <p:spPr>
          <a:xfrm>
            <a:off x="5207437" y="3486626"/>
            <a:ext cx="4215408" cy="2893338"/>
          </a:xfrm>
          <a:prstGeom prst="roundRect">
            <a:avLst>
              <a:gd name="adj" fmla="val 3792"/>
            </a:avLst>
          </a:prstGeom>
          <a:solidFill>
            <a:srgbClr val="FAFFFA"/>
          </a:solidFill>
          <a:ln w="22860">
            <a:solidFill>
              <a:srgbClr val="CED9CE"/>
            </a:solidFill>
            <a:prstDash val="solid"/>
          </a:ln>
        </p:spPr>
      </p:sp>
      <p:sp>
        <p:nvSpPr>
          <p:cNvPr id="9" name="Shape 7"/>
          <p:cNvSpPr/>
          <p:nvPr/>
        </p:nvSpPr>
        <p:spPr>
          <a:xfrm>
            <a:off x="5184577" y="3486626"/>
            <a:ext cx="91440" cy="2893338"/>
          </a:xfrm>
          <a:prstGeom prst="roundRect">
            <a:avLst>
              <a:gd name="adj" fmla="val 195349"/>
            </a:avLst>
          </a:prstGeom>
          <a:solidFill>
            <a:srgbClr val="438951"/>
          </a:solidFill>
          <a:ln/>
        </p:spPr>
      </p:sp>
      <p:sp>
        <p:nvSpPr>
          <p:cNvPr id="10" name="Text 8"/>
          <p:cNvSpPr/>
          <p:nvPr/>
        </p:nvSpPr>
        <p:spPr>
          <a:xfrm>
            <a:off x="5497235" y="3707844"/>
            <a:ext cx="3704392" cy="744141"/>
          </a:xfrm>
          <a:prstGeom prst="rect">
            <a:avLst/>
          </a:prstGeom>
          <a:noFill/>
          <a:ln/>
        </p:spPr>
        <p:txBody>
          <a:bodyPr wrap="square" lIns="0" tIns="0" rIns="0" bIns="0" rtlCol="0" anchor="t"/>
          <a:lstStyle/>
          <a:p>
            <a:pPr algn="l" indent="0" marL="0">
              <a:lnSpc>
                <a:spcPts val="2900"/>
              </a:lnSpc>
              <a:buNone/>
            </a:pPr>
            <a:r>
              <a:rPr lang="en-US" sz="2300" b="1" dirty="0">
                <a:solidFill>
                  <a:srgbClr val="405449"/>
                </a:solidFill>
                <a:latin typeface="Fraunces Extra Bold" pitchFamily="34" charset="0"/>
                <a:ea typeface="Fraunces Extra Bold" pitchFamily="34" charset="-122"/>
                <a:cs typeface="Fraunces Extra Bold" pitchFamily="34" charset="-120"/>
              </a:rPr>
              <a:t>Coordination manuelle fastidieuse</a:t>
            </a:r>
            <a:endParaRPr lang="en-US" sz="2300" dirty="0"/>
          </a:p>
        </p:txBody>
      </p:sp>
      <p:sp>
        <p:nvSpPr>
          <p:cNvPr id="11" name="Text 9"/>
          <p:cNvSpPr/>
          <p:nvPr/>
        </p:nvSpPr>
        <p:spPr>
          <a:xfrm>
            <a:off x="5497235" y="4571048"/>
            <a:ext cx="3704392" cy="1587698"/>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La gestion des confirmations, des désistements et des remplacements demande un temps considérable et une attention constante de la part de l'organisateur.</a:t>
            </a:r>
            <a:endParaRPr lang="en-US" sz="1550" dirty="0"/>
          </a:p>
        </p:txBody>
      </p:sp>
      <p:sp>
        <p:nvSpPr>
          <p:cNvPr id="12" name="Shape 10"/>
          <p:cNvSpPr/>
          <p:nvPr/>
        </p:nvSpPr>
        <p:spPr>
          <a:xfrm>
            <a:off x="9621203" y="3486626"/>
            <a:ext cx="4215289" cy="2893338"/>
          </a:xfrm>
          <a:prstGeom prst="roundRect">
            <a:avLst>
              <a:gd name="adj" fmla="val 3792"/>
            </a:avLst>
          </a:prstGeom>
          <a:solidFill>
            <a:srgbClr val="FAFFFA"/>
          </a:solidFill>
          <a:ln w="22860">
            <a:solidFill>
              <a:srgbClr val="CED9CE"/>
            </a:solidFill>
            <a:prstDash val="solid"/>
          </a:ln>
        </p:spPr>
      </p:sp>
      <p:sp>
        <p:nvSpPr>
          <p:cNvPr id="13" name="Shape 11"/>
          <p:cNvSpPr/>
          <p:nvPr/>
        </p:nvSpPr>
        <p:spPr>
          <a:xfrm>
            <a:off x="9598343" y="3486626"/>
            <a:ext cx="91440" cy="2893338"/>
          </a:xfrm>
          <a:prstGeom prst="roundRect">
            <a:avLst>
              <a:gd name="adj" fmla="val 195349"/>
            </a:avLst>
          </a:prstGeom>
          <a:solidFill>
            <a:srgbClr val="438951"/>
          </a:solidFill>
          <a:ln/>
        </p:spPr>
      </p:sp>
      <p:sp>
        <p:nvSpPr>
          <p:cNvPr id="14" name="Text 12"/>
          <p:cNvSpPr/>
          <p:nvPr/>
        </p:nvSpPr>
        <p:spPr>
          <a:xfrm>
            <a:off x="9911001" y="3707844"/>
            <a:ext cx="3704273" cy="744141"/>
          </a:xfrm>
          <a:prstGeom prst="rect">
            <a:avLst/>
          </a:prstGeom>
          <a:noFill/>
          <a:ln/>
        </p:spPr>
        <p:txBody>
          <a:bodyPr wrap="square" lIns="0" tIns="0" rIns="0" bIns="0" rtlCol="0" anchor="t"/>
          <a:lstStyle/>
          <a:p>
            <a:pPr algn="l" indent="0" marL="0">
              <a:lnSpc>
                <a:spcPts val="2900"/>
              </a:lnSpc>
              <a:buNone/>
            </a:pPr>
            <a:r>
              <a:rPr lang="en-US" sz="2300" b="1" dirty="0">
                <a:solidFill>
                  <a:srgbClr val="405449"/>
                </a:solidFill>
                <a:latin typeface="Fraunces Extra Bold" pitchFamily="34" charset="0"/>
                <a:ea typeface="Fraunces Extra Bold" pitchFamily="34" charset="-122"/>
                <a:cs typeface="Fraunces Extra Bold" pitchFamily="34" charset="-120"/>
              </a:rPr>
              <a:t>Manque de contrôle et de visibilité</a:t>
            </a:r>
            <a:endParaRPr lang="en-US" sz="2300" dirty="0"/>
          </a:p>
        </p:txBody>
      </p:sp>
      <p:sp>
        <p:nvSpPr>
          <p:cNvPr id="15" name="Text 13"/>
          <p:cNvSpPr/>
          <p:nvPr/>
        </p:nvSpPr>
        <p:spPr>
          <a:xfrm>
            <a:off x="9911001" y="4571048"/>
            <a:ext cx="3704273" cy="1587698"/>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Les organisateurs ont souvent du mal à suivre qui a confirmé, qui est en attente, et à communiquer efficacement les mises à jour à l'ensemble du groupe.</a:t>
            </a:r>
            <a:endParaRPr lang="en-US" sz="1550" dirty="0"/>
          </a:p>
        </p:txBody>
      </p:sp>
      <p:sp>
        <p:nvSpPr>
          <p:cNvPr id="16" name="Text 14"/>
          <p:cNvSpPr/>
          <p:nvPr/>
        </p:nvSpPr>
        <p:spPr>
          <a:xfrm>
            <a:off x="793790" y="660320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Ces défis entraînent une démotivation et peuvent nuire à la régularité des matchs. MatchUp vise à éliminer ces frictions en digitalisant et en simplifiant chaque étape du processus d'organisation.</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74263"/>
            <a:ext cx="9841111" cy="620078"/>
          </a:xfrm>
          <a:prstGeom prst="rect">
            <a:avLst/>
          </a:prstGeom>
          <a:noFill/>
          <a:ln/>
        </p:spPr>
        <p:txBody>
          <a:bodyPr wrap="non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Objectifs Clés de l'Application MatchUp</a:t>
            </a:r>
            <a:endParaRPr lang="en-US" sz="3900" dirty="0"/>
          </a:p>
        </p:txBody>
      </p:sp>
      <p:sp>
        <p:nvSpPr>
          <p:cNvPr id="3" name="Text 1"/>
          <p:cNvSpPr/>
          <p:nvPr/>
        </p:nvSpPr>
        <p:spPr>
          <a:xfrm>
            <a:off x="793790" y="179117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MatchUp a été conçu avec des objectifs clairs pour résoudre les problématiques identifiées et offrir une expérience utilisateur fluide et efficace pour tous les participants, qu'ils soient joueurs ou organisateurs.</a:t>
            </a:r>
            <a:endParaRPr lang="en-US" sz="1550" dirty="0"/>
          </a:p>
        </p:txBody>
      </p:sp>
      <p:sp>
        <p:nvSpPr>
          <p:cNvPr id="4" name="Text 2"/>
          <p:cNvSpPr/>
          <p:nvPr/>
        </p:nvSpPr>
        <p:spPr>
          <a:xfrm>
            <a:off x="793790" y="2649498"/>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01</a:t>
            </a:r>
            <a:endParaRPr lang="en-US" sz="1550" dirty="0"/>
          </a:p>
        </p:txBody>
      </p:sp>
      <p:sp>
        <p:nvSpPr>
          <p:cNvPr id="5" name="Shape 3"/>
          <p:cNvSpPr/>
          <p:nvPr/>
        </p:nvSpPr>
        <p:spPr>
          <a:xfrm>
            <a:off x="793790" y="2963823"/>
            <a:ext cx="4215289" cy="22860"/>
          </a:xfrm>
          <a:prstGeom prst="rect">
            <a:avLst/>
          </a:prstGeom>
          <a:solidFill>
            <a:srgbClr val="438951"/>
          </a:solidFill>
          <a:ln/>
        </p:spPr>
      </p:sp>
      <p:sp>
        <p:nvSpPr>
          <p:cNvPr id="6" name="Text 4"/>
          <p:cNvSpPr/>
          <p:nvPr/>
        </p:nvSpPr>
        <p:spPr>
          <a:xfrm>
            <a:off x="793790" y="3108722"/>
            <a:ext cx="3634026"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Création de Match Simplifiée</a:t>
            </a:r>
            <a:endParaRPr lang="en-US" sz="1950" dirty="0"/>
          </a:p>
        </p:txBody>
      </p:sp>
      <p:sp>
        <p:nvSpPr>
          <p:cNvPr id="7" name="Text 5"/>
          <p:cNvSpPr/>
          <p:nvPr/>
        </p:nvSpPr>
        <p:spPr>
          <a:xfrm>
            <a:off x="793790" y="3537942"/>
            <a:ext cx="4215289" cy="127015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Permettre aux utilisateurs de créer facilement de nouveaux matchs, en spécifiant les détails comme la date, l'heure, le lieu et la capacité maximale.</a:t>
            </a:r>
            <a:endParaRPr lang="en-US" sz="1550" dirty="0"/>
          </a:p>
        </p:txBody>
      </p:sp>
      <p:sp>
        <p:nvSpPr>
          <p:cNvPr id="8" name="Text 6"/>
          <p:cNvSpPr/>
          <p:nvPr/>
        </p:nvSpPr>
        <p:spPr>
          <a:xfrm>
            <a:off x="5207437" y="2649498"/>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02</a:t>
            </a:r>
            <a:endParaRPr lang="en-US" sz="1550" dirty="0"/>
          </a:p>
        </p:txBody>
      </p:sp>
      <p:sp>
        <p:nvSpPr>
          <p:cNvPr id="9" name="Shape 7"/>
          <p:cNvSpPr/>
          <p:nvPr/>
        </p:nvSpPr>
        <p:spPr>
          <a:xfrm>
            <a:off x="5207437" y="2963823"/>
            <a:ext cx="4215408" cy="22860"/>
          </a:xfrm>
          <a:prstGeom prst="rect">
            <a:avLst/>
          </a:prstGeom>
          <a:solidFill>
            <a:srgbClr val="438951"/>
          </a:solidFill>
          <a:ln/>
        </p:spPr>
      </p:sp>
      <p:sp>
        <p:nvSpPr>
          <p:cNvPr id="10" name="Text 8"/>
          <p:cNvSpPr/>
          <p:nvPr/>
        </p:nvSpPr>
        <p:spPr>
          <a:xfrm>
            <a:off x="5207437" y="3108722"/>
            <a:ext cx="4215408" cy="620316"/>
          </a:xfrm>
          <a:prstGeom prst="rect">
            <a:avLst/>
          </a:prstGeom>
          <a:noFill/>
          <a:ln/>
        </p:spPr>
        <p:txBody>
          <a:bodyPr wrap="squar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Gestion des Demandes de Participation</a:t>
            </a:r>
            <a:endParaRPr lang="en-US" sz="1950" dirty="0"/>
          </a:p>
        </p:txBody>
      </p:sp>
      <p:sp>
        <p:nvSpPr>
          <p:cNvPr id="11" name="Text 9"/>
          <p:cNvSpPr/>
          <p:nvPr/>
        </p:nvSpPr>
        <p:spPr>
          <a:xfrm>
            <a:off x="5207437" y="3848100"/>
            <a:ext cx="4215408"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Offrir aux joueurs la possibilité de s'inscrire à des matchs et aux organisateurs de visualiser et gérer ces demandes.</a:t>
            </a:r>
            <a:endParaRPr lang="en-US" sz="1550" dirty="0"/>
          </a:p>
        </p:txBody>
      </p:sp>
      <p:sp>
        <p:nvSpPr>
          <p:cNvPr id="12" name="Text 10"/>
          <p:cNvSpPr/>
          <p:nvPr/>
        </p:nvSpPr>
        <p:spPr>
          <a:xfrm>
            <a:off x="9621203" y="2649498"/>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03</a:t>
            </a:r>
            <a:endParaRPr lang="en-US" sz="1550" dirty="0"/>
          </a:p>
        </p:txBody>
      </p:sp>
      <p:sp>
        <p:nvSpPr>
          <p:cNvPr id="13" name="Shape 11"/>
          <p:cNvSpPr/>
          <p:nvPr/>
        </p:nvSpPr>
        <p:spPr>
          <a:xfrm>
            <a:off x="9621203" y="2963823"/>
            <a:ext cx="4215289" cy="22860"/>
          </a:xfrm>
          <a:prstGeom prst="rect">
            <a:avLst/>
          </a:prstGeom>
          <a:solidFill>
            <a:srgbClr val="438951"/>
          </a:solidFill>
          <a:ln/>
        </p:spPr>
      </p:sp>
      <p:sp>
        <p:nvSpPr>
          <p:cNvPr id="14" name="Text 12"/>
          <p:cNvSpPr/>
          <p:nvPr/>
        </p:nvSpPr>
        <p:spPr>
          <a:xfrm>
            <a:off x="9621203" y="3108722"/>
            <a:ext cx="4215289" cy="620316"/>
          </a:xfrm>
          <a:prstGeom prst="rect">
            <a:avLst/>
          </a:prstGeom>
          <a:noFill/>
          <a:ln/>
        </p:spPr>
        <p:txBody>
          <a:bodyPr wrap="squar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Validation des Participants par l'Organisateur</a:t>
            </a:r>
            <a:endParaRPr lang="en-US" sz="1950" dirty="0"/>
          </a:p>
        </p:txBody>
      </p:sp>
      <p:sp>
        <p:nvSpPr>
          <p:cNvPr id="15" name="Text 13"/>
          <p:cNvSpPr/>
          <p:nvPr/>
        </p:nvSpPr>
        <p:spPr>
          <a:xfrm>
            <a:off x="9621203" y="3848100"/>
            <a:ext cx="4215289" cy="127015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Donner à l'organisateur le contrôle total sur la liste des joueurs, avec des options pour accepter, refuser ou exclure des participants.</a:t>
            </a:r>
            <a:endParaRPr lang="en-US" sz="1550" dirty="0"/>
          </a:p>
        </p:txBody>
      </p:sp>
      <p:sp>
        <p:nvSpPr>
          <p:cNvPr id="16" name="Text 14"/>
          <p:cNvSpPr/>
          <p:nvPr/>
        </p:nvSpPr>
        <p:spPr>
          <a:xfrm>
            <a:off x="793790" y="5465445"/>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04</a:t>
            </a:r>
            <a:endParaRPr lang="en-US" sz="1550" dirty="0"/>
          </a:p>
        </p:txBody>
      </p:sp>
      <p:sp>
        <p:nvSpPr>
          <p:cNvPr id="17" name="Shape 15"/>
          <p:cNvSpPr/>
          <p:nvPr/>
        </p:nvSpPr>
        <p:spPr>
          <a:xfrm>
            <a:off x="793790" y="5779770"/>
            <a:ext cx="6422112" cy="22860"/>
          </a:xfrm>
          <a:prstGeom prst="rect">
            <a:avLst/>
          </a:prstGeom>
          <a:solidFill>
            <a:srgbClr val="438951"/>
          </a:solidFill>
          <a:ln/>
        </p:spPr>
      </p:sp>
      <p:sp>
        <p:nvSpPr>
          <p:cNvPr id="18" name="Text 16"/>
          <p:cNvSpPr/>
          <p:nvPr/>
        </p:nvSpPr>
        <p:spPr>
          <a:xfrm>
            <a:off x="793790" y="5924669"/>
            <a:ext cx="4672251"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Communication Instantanée via Chat</a:t>
            </a:r>
            <a:endParaRPr lang="en-US" sz="1950" dirty="0"/>
          </a:p>
        </p:txBody>
      </p:sp>
      <p:sp>
        <p:nvSpPr>
          <p:cNvPr id="19" name="Text 17"/>
          <p:cNvSpPr/>
          <p:nvPr/>
        </p:nvSpPr>
        <p:spPr>
          <a:xfrm>
            <a:off x="793790" y="6353889"/>
            <a:ext cx="6422112" cy="63507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Intégrer un système de chat dédié à chaque match pour faciliter la communication entre les participants et l'organisateur.</a:t>
            </a:r>
            <a:endParaRPr lang="en-US" sz="1550" dirty="0"/>
          </a:p>
        </p:txBody>
      </p:sp>
      <p:sp>
        <p:nvSpPr>
          <p:cNvPr id="20" name="Text 18"/>
          <p:cNvSpPr/>
          <p:nvPr/>
        </p:nvSpPr>
        <p:spPr>
          <a:xfrm>
            <a:off x="7414260" y="5465445"/>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05</a:t>
            </a:r>
            <a:endParaRPr lang="en-US" sz="1550" dirty="0"/>
          </a:p>
        </p:txBody>
      </p:sp>
      <p:sp>
        <p:nvSpPr>
          <p:cNvPr id="21" name="Shape 19"/>
          <p:cNvSpPr/>
          <p:nvPr/>
        </p:nvSpPr>
        <p:spPr>
          <a:xfrm>
            <a:off x="7414260" y="5779770"/>
            <a:ext cx="6422231" cy="22860"/>
          </a:xfrm>
          <a:prstGeom prst="rect">
            <a:avLst/>
          </a:prstGeom>
          <a:solidFill>
            <a:srgbClr val="438951"/>
          </a:solidFill>
          <a:ln/>
        </p:spPr>
      </p:sp>
      <p:sp>
        <p:nvSpPr>
          <p:cNvPr id="22" name="Text 20"/>
          <p:cNvSpPr/>
          <p:nvPr/>
        </p:nvSpPr>
        <p:spPr>
          <a:xfrm>
            <a:off x="7414260" y="5924669"/>
            <a:ext cx="3273623"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Profil Utilisateur Complet</a:t>
            </a:r>
            <a:endParaRPr lang="en-US" sz="1950" dirty="0"/>
          </a:p>
        </p:txBody>
      </p:sp>
      <p:sp>
        <p:nvSpPr>
          <p:cNvPr id="23" name="Text 21"/>
          <p:cNvSpPr/>
          <p:nvPr/>
        </p:nvSpPr>
        <p:spPr>
          <a:xfrm>
            <a:off x="7414260" y="6353889"/>
            <a:ext cx="6422231"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Proposer un profil utilisateur enrichi avec des informations pertinentes (date de naissance, âge, ville, numéro de téléphone) pour une meilleure connaissance des joueurs.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618" y="472202"/>
            <a:ext cx="6263997" cy="442674"/>
          </a:xfrm>
          <a:prstGeom prst="rect">
            <a:avLst/>
          </a:prstGeom>
          <a:noFill/>
          <a:ln/>
        </p:spPr>
        <p:txBody>
          <a:bodyPr wrap="none" lIns="0" tIns="0" rIns="0" bIns="0" rtlCol="0" anchor="t"/>
          <a:lstStyle/>
          <a:p>
            <a:pPr algn="l" indent="0" marL="0">
              <a:lnSpc>
                <a:spcPts val="3450"/>
              </a:lnSpc>
              <a:buNone/>
            </a:pPr>
            <a:r>
              <a:rPr lang="en-US" sz="2750" b="1" dirty="0">
                <a:solidFill>
                  <a:srgbClr val="3B4540"/>
                </a:solidFill>
                <a:latin typeface="Fraunces Extra Bold" pitchFamily="34" charset="0"/>
                <a:ea typeface="Fraunces Extra Bold" pitchFamily="34" charset="-122"/>
                <a:cs typeface="Fraunces Extra Bold" pitchFamily="34" charset="-120"/>
              </a:rPr>
              <a:t>Fonctionnalités Détaillées par Rôle</a:t>
            </a:r>
            <a:endParaRPr lang="en-US" sz="2750" dirty="0"/>
          </a:p>
        </p:txBody>
      </p:sp>
      <p:sp>
        <p:nvSpPr>
          <p:cNvPr id="3" name="Text 1"/>
          <p:cNvSpPr/>
          <p:nvPr/>
        </p:nvSpPr>
        <p:spPr>
          <a:xfrm>
            <a:off x="566618" y="1198126"/>
            <a:ext cx="13497163" cy="453390"/>
          </a:xfrm>
          <a:prstGeom prst="rect">
            <a:avLst/>
          </a:prstGeom>
          <a:noFill/>
          <a:ln/>
        </p:spPr>
        <p:txBody>
          <a:bodyPr wrap="square" lIns="0" tIns="0" rIns="0" bIns="0" rtlCol="0" anchor="t"/>
          <a:lstStyle/>
          <a:p>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L'application MatchUp se distingue par des fonctionnalités distinctes adaptées aux besoins spécifiques de chaque type d'utilisateur: le joueur et l'organisateur. Cette différenciation assure une expérience pertinente et optimisée pour chacun.</a:t>
            </a:r>
            <a:endParaRPr lang="en-US" sz="1100" dirty="0"/>
          </a:p>
        </p:txBody>
      </p:sp>
      <p:pic>
        <p:nvPicPr>
          <p:cNvPr id="4" name="Image 0" descr="preencoded.png">    </p:cNvPr>
          <p:cNvPicPr>
            <a:picLocks noChangeAspect="1"/>
          </p:cNvPicPr>
          <p:nvPr/>
        </p:nvPicPr>
        <p:blipFill>
          <a:blip r:embed="rId1"/>
          <a:stretch>
            <a:fillRect/>
          </a:stretch>
        </p:blipFill>
        <p:spPr>
          <a:xfrm>
            <a:off x="566618" y="1970127"/>
            <a:ext cx="2779276" cy="2779276"/>
          </a:xfrm>
          <a:prstGeom prst="rect">
            <a:avLst/>
          </a:prstGeom>
        </p:spPr>
      </p:pic>
      <p:sp>
        <p:nvSpPr>
          <p:cNvPr id="5" name="Text 2"/>
          <p:cNvSpPr/>
          <p:nvPr/>
        </p:nvSpPr>
        <p:spPr>
          <a:xfrm>
            <a:off x="566618" y="4908709"/>
            <a:ext cx="2833330" cy="354211"/>
          </a:xfrm>
          <a:prstGeom prst="rect">
            <a:avLst/>
          </a:prstGeom>
          <a:noFill/>
          <a:ln/>
        </p:spPr>
        <p:txBody>
          <a:bodyPr wrap="none" lIns="0" tIns="0" rIns="0" bIns="0" rtlCol="0" anchor="t"/>
          <a:lstStyle/>
          <a:p>
            <a:pPr algn="l" indent="0" marL="0">
              <a:lnSpc>
                <a:spcPts val="2750"/>
              </a:lnSpc>
              <a:buNone/>
            </a:pPr>
            <a:r>
              <a:rPr lang="en-US" sz="2200" b="1" dirty="0">
                <a:solidFill>
                  <a:srgbClr val="3B4540"/>
                </a:solidFill>
                <a:latin typeface="Fraunces Extra Bold" pitchFamily="34" charset="0"/>
                <a:ea typeface="Fraunces Extra Bold" pitchFamily="34" charset="-122"/>
                <a:cs typeface="Fraunces Extra Bold" pitchFamily="34" charset="-120"/>
              </a:rPr>
              <a:t>Rôle du Joueur</a:t>
            </a:r>
            <a:endParaRPr lang="en-US" sz="2200" dirty="0"/>
          </a:p>
        </p:txBody>
      </p:sp>
      <p:sp>
        <p:nvSpPr>
          <p:cNvPr id="6" name="Text 3"/>
          <p:cNvSpPr/>
          <p:nvPr/>
        </p:nvSpPr>
        <p:spPr>
          <a:xfrm>
            <a:off x="566618" y="5404485"/>
            <a:ext cx="6575822" cy="453390"/>
          </a:xfrm>
          <a:prstGeom prst="rect">
            <a:avLst/>
          </a:prstGeom>
          <a:noFill/>
          <a:ln/>
        </p:spPr>
        <p:txBody>
          <a:bodyPr wrap="square" lIns="0" tIns="0" rIns="0" bIns="0" rtlCol="0" anchor="t"/>
          <a:lstStyle/>
          <a:p>
            <a:pPr algn="l" marL="342900" indent="-342900">
              <a:lnSpc>
                <a:spcPts val="1750"/>
              </a:lnSpc>
              <a:buSzPct val="100000"/>
              <a:buChar char="•"/>
            </a:pPr>
            <a:r>
              <a:rPr lang="en-US" sz="1100" b="1" dirty="0">
                <a:solidFill>
                  <a:srgbClr val="405449"/>
                </a:solidFill>
                <a:latin typeface="Nobile" pitchFamily="34" charset="0"/>
                <a:ea typeface="Nobile" pitchFamily="34" charset="-122"/>
                <a:cs typeface="Nobile" pitchFamily="34" charset="-120"/>
              </a:rPr>
              <a:t>Recherche et Consultation de Matchs:</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Naviguer dans une liste de matchs disponibles, filtrer par date, lieu, etc.</a:t>
            </a:r>
            <a:endParaRPr lang="en-US" sz="1100" dirty="0"/>
          </a:p>
        </p:txBody>
      </p:sp>
      <p:sp>
        <p:nvSpPr>
          <p:cNvPr id="7" name="Text 4"/>
          <p:cNvSpPr/>
          <p:nvPr/>
        </p:nvSpPr>
        <p:spPr>
          <a:xfrm>
            <a:off x="566618" y="5907405"/>
            <a:ext cx="6575822" cy="453390"/>
          </a:xfrm>
          <a:prstGeom prst="rect">
            <a:avLst/>
          </a:prstGeom>
          <a:noFill/>
          <a:ln/>
        </p:spPr>
        <p:txBody>
          <a:bodyPr wrap="square" lIns="0" tIns="0" rIns="0" bIns="0" rtlCol="0" anchor="t"/>
          <a:lstStyle/>
          <a:p>
            <a:pPr algn="l" marL="342900" indent="-342900">
              <a:lnSpc>
                <a:spcPts val="1750"/>
              </a:lnSpc>
              <a:buSzPct val="100000"/>
              <a:buChar char="•"/>
            </a:pPr>
            <a:r>
              <a:rPr lang="en-US" sz="1100" b="1" dirty="0">
                <a:solidFill>
                  <a:srgbClr val="405449"/>
                </a:solidFill>
                <a:latin typeface="Nobile" pitchFamily="34" charset="0"/>
                <a:ea typeface="Nobile" pitchFamily="34" charset="-122"/>
                <a:cs typeface="Nobile" pitchFamily="34" charset="-120"/>
              </a:rPr>
              <a:t>Demande de Participation:</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Envoyer une demande pour rejoindre un match avec la possibilité de suivre le statut (en attente, accepté, refusé).</a:t>
            </a:r>
            <a:endParaRPr lang="en-US" sz="1100" dirty="0"/>
          </a:p>
        </p:txBody>
      </p:sp>
      <p:sp>
        <p:nvSpPr>
          <p:cNvPr id="8" name="Text 5"/>
          <p:cNvSpPr/>
          <p:nvPr/>
        </p:nvSpPr>
        <p:spPr>
          <a:xfrm>
            <a:off x="566618" y="6410325"/>
            <a:ext cx="6575822" cy="226695"/>
          </a:xfrm>
          <a:prstGeom prst="rect">
            <a:avLst/>
          </a:prstGeom>
          <a:noFill/>
          <a:ln/>
        </p:spPr>
        <p:txBody>
          <a:bodyPr wrap="none" lIns="0" tIns="0" rIns="0" bIns="0" rtlCol="0" anchor="t"/>
          <a:lstStyle/>
          <a:p>
            <a:pPr algn="l" marL="342900" indent="-342900">
              <a:lnSpc>
                <a:spcPts val="1750"/>
              </a:lnSpc>
              <a:buSzPct val="100000"/>
              <a:buChar char="•"/>
            </a:pPr>
            <a:r>
              <a:rPr lang="en-US" sz="1100" b="1" dirty="0">
                <a:solidFill>
                  <a:srgbClr val="405449"/>
                </a:solidFill>
                <a:latin typeface="Nobile" pitchFamily="34" charset="0"/>
                <a:ea typeface="Nobile" pitchFamily="34" charset="-122"/>
                <a:cs typeface="Nobile" pitchFamily="34" charset="-120"/>
              </a:rPr>
              <a:t>Accès au Chat du Match:</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Participer aux discussions une fois la participation acceptée.</a:t>
            </a:r>
            <a:endParaRPr lang="en-US" sz="1100" dirty="0"/>
          </a:p>
        </p:txBody>
      </p:sp>
      <p:sp>
        <p:nvSpPr>
          <p:cNvPr id="9" name="Text 6"/>
          <p:cNvSpPr/>
          <p:nvPr/>
        </p:nvSpPr>
        <p:spPr>
          <a:xfrm>
            <a:off x="566618" y="6686550"/>
            <a:ext cx="6575822" cy="453390"/>
          </a:xfrm>
          <a:prstGeom prst="rect">
            <a:avLst/>
          </a:prstGeom>
          <a:noFill/>
          <a:ln/>
        </p:spPr>
        <p:txBody>
          <a:bodyPr wrap="square" lIns="0" tIns="0" rIns="0" bIns="0" rtlCol="0" anchor="t"/>
          <a:lstStyle/>
          <a:p>
            <a:pPr algn="l" marL="342900" indent="-342900">
              <a:lnSpc>
                <a:spcPts val="1750"/>
              </a:lnSpc>
              <a:buSzPct val="100000"/>
              <a:buChar char="•"/>
            </a:pPr>
            <a:r>
              <a:rPr lang="en-US" sz="1100" b="1" dirty="0">
                <a:solidFill>
                  <a:srgbClr val="405449"/>
                </a:solidFill>
                <a:latin typeface="Nobile" pitchFamily="34" charset="0"/>
                <a:ea typeface="Nobile" pitchFamily="34" charset="-122"/>
                <a:cs typeface="Nobile" pitchFamily="34" charset="-120"/>
              </a:rPr>
              <a:t>Gestion du Profil:</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Mettre à jour les informations personnelles, y compris la photo de profil, la ville, et le numéro de téléphone.</a:t>
            </a:r>
            <a:endParaRPr lang="en-US" sz="1100" dirty="0"/>
          </a:p>
        </p:txBody>
      </p:sp>
      <p:sp>
        <p:nvSpPr>
          <p:cNvPr id="10" name="Text 7"/>
          <p:cNvSpPr/>
          <p:nvPr/>
        </p:nvSpPr>
        <p:spPr>
          <a:xfrm>
            <a:off x="566618" y="7189470"/>
            <a:ext cx="6575822" cy="453390"/>
          </a:xfrm>
          <a:prstGeom prst="rect">
            <a:avLst/>
          </a:prstGeom>
          <a:noFill/>
          <a:ln/>
        </p:spPr>
        <p:txBody>
          <a:bodyPr wrap="square" lIns="0" tIns="0" rIns="0" bIns="0" rtlCol="0" anchor="t"/>
          <a:lstStyle/>
          <a:p>
            <a:pPr algn="l" marL="342900" indent="-342900">
              <a:lnSpc>
                <a:spcPts val="1750"/>
              </a:lnSpc>
              <a:buSzPct val="100000"/>
              <a:buChar char="•"/>
            </a:pPr>
            <a:r>
              <a:rPr lang="en-US" sz="1100" b="1" dirty="0">
                <a:solidFill>
                  <a:srgbClr val="405449"/>
                </a:solidFill>
                <a:latin typeface="Nobile" pitchFamily="34" charset="0"/>
                <a:ea typeface="Nobile" pitchFamily="34" charset="-122"/>
                <a:cs typeface="Nobile" pitchFamily="34" charset="-120"/>
              </a:rPr>
              <a:t>Historique des Matchs:</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Visualiser les matchs passés et futurs auxquels le joueur a participé ou est inscrit.</a:t>
            </a:r>
            <a:endParaRPr lang="en-US" sz="1100" dirty="0"/>
          </a:p>
        </p:txBody>
      </p:sp>
      <p:pic>
        <p:nvPicPr>
          <p:cNvPr id="11" name="Image 1" descr="preencoded.png">    </p:cNvPr>
          <p:cNvPicPr>
            <a:picLocks noChangeAspect="1"/>
          </p:cNvPicPr>
          <p:nvPr/>
        </p:nvPicPr>
        <p:blipFill>
          <a:blip r:embed="rId2"/>
          <a:stretch>
            <a:fillRect/>
          </a:stretch>
        </p:blipFill>
        <p:spPr>
          <a:xfrm>
            <a:off x="7495580" y="1970127"/>
            <a:ext cx="2617470" cy="2617470"/>
          </a:xfrm>
          <a:prstGeom prst="rect">
            <a:avLst/>
          </a:prstGeom>
        </p:spPr>
      </p:pic>
      <p:sp>
        <p:nvSpPr>
          <p:cNvPr id="12" name="Text 8"/>
          <p:cNvSpPr/>
          <p:nvPr/>
        </p:nvSpPr>
        <p:spPr>
          <a:xfrm>
            <a:off x="7495580" y="4746903"/>
            <a:ext cx="3193733" cy="354211"/>
          </a:xfrm>
          <a:prstGeom prst="rect">
            <a:avLst/>
          </a:prstGeom>
          <a:noFill/>
          <a:ln/>
        </p:spPr>
        <p:txBody>
          <a:bodyPr wrap="none" lIns="0" tIns="0" rIns="0" bIns="0" rtlCol="0" anchor="t"/>
          <a:lstStyle/>
          <a:p>
            <a:pPr algn="l" indent="0" marL="0">
              <a:lnSpc>
                <a:spcPts val="2750"/>
              </a:lnSpc>
              <a:buNone/>
            </a:pPr>
            <a:r>
              <a:rPr lang="en-US" sz="2200" b="1" dirty="0">
                <a:solidFill>
                  <a:srgbClr val="3B4540"/>
                </a:solidFill>
                <a:latin typeface="Fraunces Extra Bold" pitchFamily="34" charset="0"/>
                <a:ea typeface="Fraunces Extra Bold" pitchFamily="34" charset="-122"/>
                <a:cs typeface="Fraunces Extra Bold" pitchFamily="34" charset="-120"/>
              </a:rPr>
              <a:t>Rôle de l'Organisateur</a:t>
            </a:r>
            <a:endParaRPr lang="en-US" sz="2200" dirty="0"/>
          </a:p>
        </p:txBody>
      </p:sp>
      <p:sp>
        <p:nvSpPr>
          <p:cNvPr id="13" name="Text 9"/>
          <p:cNvSpPr/>
          <p:nvPr/>
        </p:nvSpPr>
        <p:spPr>
          <a:xfrm>
            <a:off x="7495580" y="5242679"/>
            <a:ext cx="6575822" cy="453390"/>
          </a:xfrm>
          <a:prstGeom prst="rect">
            <a:avLst/>
          </a:prstGeom>
          <a:noFill/>
          <a:ln/>
        </p:spPr>
        <p:txBody>
          <a:bodyPr wrap="square" lIns="0" tIns="0" rIns="0" bIns="0" rtlCol="0" anchor="t"/>
          <a:lstStyle/>
          <a:p>
            <a:pPr algn="l" marL="342900" indent="-342900">
              <a:lnSpc>
                <a:spcPts val="1750"/>
              </a:lnSpc>
              <a:buSzPct val="100000"/>
              <a:buChar char="•"/>
            </a:pPr>
            <a:r>
              <a:rPr lang="en-US" sz="1100" b="1" dirty="0">
                <a:solidFill>
                  <a:srgbClr val="405449"/>
                </a:solidFill>
                <a:latin typeface="Nobile" pitchFamily="34" charset="0"/>
                <a:ea typeface="Nobile" pitchFamily="34" charset="-122"/>
                <a:cs typeface="Nobile" pitchFamily="34" charset="-120"/>
              </a:rPr>
              <a:t>Création de Matchs:</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Définir tous les paramètres d'un nouveau match (date, heure, lieu, nombre de joueurs, description).</a:t>
            </a:r>
            <a:endParaRPr lang="en-US" sz="1100" dirty="0"/>
          </a:p>
        </p:txBody>
      </p:sp>
      <p:sp>
        <p:nvSpPr>
          <p:cNvPr id="14" name="Text 10"/>
          <p:cNvSpPr/>
          <p:nvPr/>
        </p:nvSpPr>
        <p:spPr>
          <a:xfrm>
            <a:off x="7495580" y="5745599"/>
            <a:ext cx="6575822" cy="453390"/>
          </a:xfrm>
          <a:prstGeom prst="rect">
            <a:avLst/>
          </a:prstGeom>
          <a:noFill/>
          <a:ln/>
        </p:spPr>
        <p:txBody>
          <a:bodyPr wrap="square" lIns="0" tIns="0" rIns="0" bIns="0" rtlCol="0" anchor="t"/>
          <a:lstStyle/>
          <a:p>
            <a:pPr algn="l" marL="342900" indent="-342900">
              <a:lnSpc>
                <a:spcPts val="1750"/>
              </a:lnSpc>
              <a:buSzPct val="100000"/>
              <a:buChar char="•"/>
            </a:pPr>
            <a:r>
              <a:rPr lang="en-US" sz="1100" b="1" dirty="0">
                <a:solidFill>
                  <a:srgbClr val="405449"/>
                </a:solidFill>
                <a:latin typeface="Nobile" pitchFamily="34" charset="0"/>
                <a:ea typeface="Nobile" pitchFamily="34" charset="-122"/>
                <a:cs typeface="Nobile" pitchFamily="34" charset="-120"/>
              </a:rPr>
              <a:t>Gestion des Demandes:</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Recevoir et traiter les demandes de participation (accepter, refuser) et gérer la liste d'attente.</a:t>
            </a:r>
            <a:endParaRPr lang="en-US" sz="1100" dirty="0"/>
          </a:p>
        </p:txBody>
      </p:sp>
      <p:sp>
        <p:nvSpPr>
          <p:cNvPr id="15" name="Text 11"/>
          <p:cNvSpPr/>
          <p:nvPr/>
        </p:nvSpPr>
        <p:spPr>
          <a:xfrm>
            <a:off x="7495580" y="6248519"/>
            <a:ext cx="6575822" cy="453390"/>
          </a:xfrm>
          <a:prstGeom prst="rect">
            <a:avLst/>
          </a:prstGeom>
          <a:noFill/>
          <a:ln/>
        </p:spPr>
        <p:txBody>
          <a:bodyPr wrap="square" lIns="0" tIns="0" rIns="0" bIns="0" rtlCol="0" anchor="t"/>
          <a:lstStyle/>
          <a:p>
            <a:pPr algn="l" marL="342900" indent="-342900">
              <a:lnSpc>
                <a:spcPts val="1750"/>
              </a:lnSpc>
              <a:buSzPct val="100000"/>
              <a:buChar char="•"/>
            </a:pPr>
            <a:r>
              <a:rPr lang="en-US" sz="1100" b="1" dirty="0">
                <a:solidFill>
                  <a:srgbClr val="405449"/>
                </a:solidFill>
                <a:latin typeface="Nobile" pitchFamily="34" charset="0"/>
                <a:ea typeface="Nobile" pitchFamily="34" charset="-122"/>
                <a:cs typeface="Nobile" pitchFamily="34" charset="-120"/>
              </a:rPr>
              <a:t>Contrôle des Participants:</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Exclure un joueur d'un match (kick) si nécessaire, avec des implications sur son accès au chat et sa capacité à rejoindre.</a:t>
            </a:r>
            <a:endParaRPr lang="en-US" sz="1100" dirty="0"/>
          </a:p>
        </p:txBody>
      </p:sp>
      <p:sp>
        <p:nvSpPr>
          <p:cNvPr id="16" name="Text 12"/>
          <p:cNvSpPr/>
          <p:nvPr/>
        </p:nvSpPr>
        <p:spPr>
          <a:xfrm>
            <a:off x="7495580" y="6751439"/>
            <a:ext cx="6575822" cy="453390"/>
          </a:xfrm>
          <a:prstGeom prst="rect">
            <a:avLst/>
          </a:prstGeom>
          <a:noFill/>
          <a:ln/>
        </p:spPr>
        <p:txBody>
          <a:bodyPr wrap="square" lIns="0" tIns="0" rIns="0" bIns="0" rtlCol="0" anchor="t"/>
          <a:lstStyle/>
          <a:p>
            <a:pPr algn="l" marL="342900" indent="-342900">
              <a:lnSpc>
                <a:spcPts val="1750"/>
              </a:lnSpc>
              <a:buSzPct val="100000"/>
              <a:buChar char="•"/>
            </a:pPr>
            <a:r>
              <a:rPr lang="en-US" sz="1100" b="1" dirty="0">
                <a:solidFill>
                  <a:srgbClr val="405449"/>
                </a:solidFill>
                <a:latin typeface="Nobile" pitchFamily="34" charset="0"/>
                <a:ea typeface="Nobile" pitchFamily="34" charset="-122"/>
                <a:cs typeface="Nobile" pitchFamily="34" charset="-120"/>
              </a:rPr>
              <a:t>Communication Facilitée:</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Utiliser le chat pour transmettre des informations importantes à tous les participants du match.</a:t>
            </a:r>
            <a:endParaRPr lang="en-US" sz="1100" dirty="0"/>
          </a:p>
        </p:txBody>
      </p:sp>
      <p:sp>
        <p:nvSpPr>
          <p:cNvPr id="17" name="Text 13"/>
          <p:cNvSpPr/>
          <p:nvPr/>
        </p:nvSpPr>
        <p:spPr>
          <a:xfrm>
            <a:off x="7495580" y="7254359"/>
            <a:ext cx="6575822" cy="453390"/>
          </a:xfrm>
          <a:prstGeom prst="rect">
            <a:avLst/>
          </a:prstGeom>
          <a:noFill/>
          <a:ln/>
        </p:spPr>
        <p:txBody>
          <a:bodyPr wrap="square" lIns="0" tIns="0" rIns="0" bIns="0" rtlCol="0" anchor="t"/>
          <a:lstStyle/>
          <a:p>
            <a:pPr algn="l" marL="342900" indent="-342900">
              <a:lnSpc>
                <a:spcPts val="1750"/>
              </a:lnSpc>
              <a:buSzPct val="100000"/>
              <a:buChar char="•"/>
            </a:pPr>
            <a:r>
              <a:rPr lang="en-US" sz="1100" b="1" dirty="0">
                <a:solidFill>
                  <a:srgbClr val="405449"/>
                </a:solidFill>
                <a:latin typeface="Nobile" pitchFamily="34" charset="0"/>
                <a:ea typeface="Nobile" pitchFamily="34" charset="-122"/>
                <a:cs typeface="Nobile" pitchFamily="34" charset="-120"/>
              </a:rPr>
              <a:t>Suivi en Temps Réel:</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Avoir une vue d'ensemble des matchs qu'il organise, du nombre de places restantes et du statut des inscrits.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5914" y="687824"/>
            <a:ext cx="7384494" cy="504587"/>
          </a:xfrm>
          <a:prstGeom prst="rect">
            <a:avLst/>
          </a:prstGeom>
          <a:noFill/>
          <a:ln/>
        </p:spPr>
        <p:txBody>
          <a:bodyPr wrap="none" lIns="0" tIns="0" rIns="0" bIns="0" rtlCol="0" anchor="t"/>
          <a:lstStyle/>
          <a:p>
            <a:pPr algn="l" indent="0" marL="0">
              <a:lnSpc>
                <a:spcPts val="3950"/>
              </a:lnSpc>
              <a:buNone/>
            </a:pPr>
            <a:r>
              <a:rPr lang="en-US" sz="3150" b="1" dirty="0">
                <a:solidFill>
                  <a:srgbClr val="3B4540"/>
                </a:solidFill>
                <a:latin typeface="Fraunces Extra Bold" pitchFamily="34" charset="0"/>
                <a:ea typeface="Fraunces Extra Bold" pitchFamily="34" charset="-122"/>
                <a:cs typeface="Fraunces Extra Bold" pitchFamily="34" charset="-120"/>
              </a:rPr>
              <a:t>Architecture Technique de MatchUp</a:t>
            </a:r>
            <a:endParaRPr lang="en-US" sz="3150" dirty="0"/>
          </a:p>
        </p:txBody>
      </p:sp>
      <p:sp>
        <p:nvSpPr>
          <p:cNvPr id="3" name="Text 1"/>
          <p:cNvSpPr/>
          <p:nvPr/>
        </p:nvSpPr>
        <p:spPr>
          <a:xfrm>
            <a:off x="645914" y="1515308"/>
            <a:ext cx="13338572" cy="258247"/>
          </a:xfrm>
          <a:prstGeom prst="rect">
            <a:avLst/>
          </a:prstGeom>
          <a:noFill/>
          <a:ln/>
        </p:spPr>
        <p:txBody>
          <a:bodyPr wrap="none" lIns="0" tIns="0" rIns="0" bIns="0" rtlCol="0" anchor="t"/>
          <a:lstStyle/>
          <a:p>
            <a:pPr algn="l" indent="0" marL="0">
              <a:lnSpc>
                <a:spcPts val="2000"/>
              </a:lnSpc>
              <a:buNone/>
            </a:pPr>
            <a:r>
              <a:rPr lang="en-US" sz="1250" dirty="0">
                <a:solidFill>
                  <a:srgbClr val="405449"/>
                </a:solidFill>
                <a:latin typeface="Nobile" pitchFamily="34" charset="0"/>
                <a:ea typeface="Nobile" pitchFamily="34" charset="-122"/>
                <a:cs typeface="Nobile" pitchFamily="34" charset="-120"/>
              </a:rPr>
              <a:t>L'architecture de MatchUp est conçue pour la robustesse, la scalabilité et une excellente expérience développeur, tirant parti de technologies modernes et éprouvées.</a:t>
            </a:r>
            <a:endParaRPr lang="en-US" sz="1250" dirty="0"/>
          </a:p>
        </p:txBody>
      </p:sp>
      <p:sp>
        <p:nvSpPr>
          <p:cNvPr id="4" name="Text 2"/>
          <p:cNvSpPr/>
          <p:nvPr/>
        </p:nvSpPr>
        <p:spPr>
          <a:xfrm>
            <a:off x="2800945" y="1955125"/>
            <a:ext cx="2018586" cy="252174"/>
          </a:xfrm>
          <a:prstGeom prst="rect">
            <a:avLst/>
          </a:prstGeom>
          <a:noFill/>
          <a:ln/>
        </p:spPr>
        <p:txBody>
          <a:bodyPr wrap="none" lIns="0" tIns="0" rIns="0" bIns="0" rtlCol="0" anchor="t"/>
          <a:lstStyle/>
          <a:p>
            <a:pPr algn="r" indent="0" marL="0">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UI/UX Flutter</a:t>
            </a:r>
            <a:endParaRPr lang="en-US" sz="1550" dirty="0"/>
          </a:p>
        </p:txBody>
      </p:sp>
      <p:sp>
        <p:nvSpPr>
          <p:cNvPr id="5" name="Text 3"/>
          <p:cNvSpPr/>
          <p:nvPr/>
        </p:nvSpPr>
        <p:spPr>
          <a:xfrm>
            <a:off x="645914" y="2304098"/>
            <a:ext cx="4173617" cy="1291233"/>
          </a:xfrm>
          <a:prstGeom prst="rect">
            <a:avLst/>
          </a:prstGeom>
          <a:noFill/>
          <a:ln/>
        </p:spPr>
        <p:txBody>
          <a:bodyPr wrap="square" lIns="0" tIns="0" rIns="0" bIns="0" rtlCol="0" anchor="t"/>
          <a:lstStyle/>
          <a:p>
            <a:pPr algn="r" indent="0" marL="0">
              <a:lnSpc>
                <a:spcPts val="2000"/>
              </a:lnSpc>
              <a:buNone/>
            </a:pPr>
            <a:r>
              <a:rPr lang="en-US" sz="1250" dirty="0">
                <a:solidFill>
                  <a:srgbClr val="405449"/>
                </a:solidFill>
                <a:latin typeface="Nobile" pitchFamily="34" charset="0"/>
                <a:ea typeface="Nobile" pitchFamily="34" charset="-122"/>
                <a:cs typeface="Nobile" pitchFamily="34" charset="-120"/>
              </a:rPr>
              <a:t>Framework UI cross-platforme permettant de construire des interfaces natives sur iOS, Android et Web à partir d'un seul code source. Utilisation de widgets déclaratifs pour des interfaces riches et performantes.</a:t>
            </a:r>
            <a:endParaRPr lang="en-US" sz="1250" dirty="0"/>
          </a:p>
        </p:txBody>
      </p:sp>
      <p:pic>
        <p:nvPicPr>
          <p:cNvPr id="6" name="Image 0" descr="preencoded.png">    </p:cNvPr>
          <p:cNvPicPr>
            <a:picLocks noChangeAspect="1"/>
          </p:cNvPicPr>
          <p:nvPr/>
        </p:nvPicPr>
        <p:blipFill>
          <a:blip r:embed="rId1"/>
          <a:stretch>
            <a:fillRect/>
          </a:stretch>
        </p:blipFill>
        <p:spPr>
          <a:xfrm>
            <a:off x="4980980" y="2194203"/>
            <a:ext cx="4668441" cy="4668441"/>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32734" y="2873097"/>
            <a:ext cx="241578" cy="241578"/>
          </a:xfrm>
          <a:prstGeom prst="rect">
            <a:avLst/>
          </a:prstGeom>
        </p:spPr>
      </p:pic>
      <p:sp>
        <p:nvSpPr>
          <p:cNvPr id="8" name="Text 4"/>
          <p:cNvSpPr/>
          <p:nvPr/>
        </p:nvSpPr>
        <p:spPr>
          <a:xfrm>
            <a:off x="9810869" y="2084189"/>
            <a:ext cx="2424470" cy="252174"/>
          </a:xfrm>
          <a:prstGeom prst="rect">
            <a:avLst/>
          </a:prstGeom>
          <a:noFill/>
          <a:ln/>
        </p:spPr>
        <p:txBody>
          <a:bodyPr wrap="none" lIns="0" tIns="0" rIns="0" bIns="0" rtlCol="0" anchor="t"/>
          <a:lstStyle/>
          <a:p>
            <a:pPr algn="l" indent="0" marL="0">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Gestion d'État Riverpod</a:t>
            </a:r>
            <a:endParaRPr lang="en-US" sz="1550" dirty="0"/>
          </a:p>
        </p:txBody>
      </p:sp>
      <p:sp>
        <p:nvSpPr>
          <p:cNvPr id="9" name="Text 5"/>
          <p:cNvSpPr/>
          <p:nvPr/>
        </p:nvSpPr>
        <p:spPr>
          <a:xfrm>
            <a:off x="9810869" y="2433161"/>
            <a:ext cx="4173617" cy="1032986"/>
          </a:xfrm>
          <a:prstGeom prst="rect">
            <a:avLst/>
          </a:prstGeom>
          <a:noFill/>
          <a:ln/>
        </p:spPr>
        <p:txBody>
          <a:bodyPr wrap="square" lIns="0" tIns="0" rIns="0" bIns="0" rtlCol="0" anchor="t"/>
          <a:lstStyle/>
          <a:p>
            <a:pPr algn="l" indent="0" marL="0">
              <a:lnSpc>
                <a:spcPts val="2000"/>
              </a:lnSpc>
              <a:buNone/>
            </a:pPr>
            <a:r>
              <a:rPr lang="en-US" sz="1250" dirty="0">
                <a:solidFill>
                  <a:srgbClr val="405449"/>
                </a:solidFill>
                <a:latin typeface="Nobile" pitchFamily="34" charset="0"/>
                <a:ea typeface="Nobile" pitchFamily="34" charset="-122"/>
                <a:cs typeface="Nobile" pitchFamily="34" charset="-120"/>
              </a:rPr>
              <a:t>Une solution de gestion d'état basée sur Provider, optimisée pour Flutter. Elle offre une approche sûre, testable et flexible pour gérer les données et la logique métier à travers l'application.</a:t>
            </a:r>
            <a:endParaRPr lang="en-US" sz="1250" dirty="0"/>
          </a:p>
        </p:txBody>
      </p:sp>
      <p:pic>
        <p:nvPicPr>
          <p:cNvPr id="10" name="Image 2" descr="preencoded.png">    </p:cNvPr>
          <p:cNvPicPr>
            <a:picLocks noChangeAspect="1"/>
          </p:cNvPicPr>
          <p:nvPr/>
        </p:nvPicPr>
        <p:blipFill>
          <a:blip r:embed="rId4"/>
          <a:stretch>
            <a:fillRect/>
          </a:stretch>
        </p:blipFill>
        <p:spPr>
          <a:xfrm>
            <a:off x="4980980" y="2194203"/>
            <a:ext cx="4668441" cy="4668441"/>
          </a:xfrm>
          <a:prstGeom prst="rect">
            <a:avLst/>
          </a:prstGeom>
        </p:spPr>
      </p:pic>
      <p:pic>
        <p:nvPicPr>
          <p:cNvPr id="11"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42340" y="3153966"/>
            <a:ext cx="241578" cy="241578"/>
          </a:xfrm>
          <a:prstGeom prst="rect">
            <a:avLst/>
          </a:prstGeom>
        </p:spPr>
      </p:pic>
      <p:sp>
        <p:nvSpPr>
          <p:cNvPr id="12" name="Text 6"/>
          <p:cNvSpPr/>
          <p:nvPr/>
        </p:nvSpPr>
        <p:spPr>
          <a:xfrm>
            <a:off x="9972318" y="3837503"/>
            <a:ext cx="2558058" cy="252174"/>
          </a:xfrm>
          <a:prstGeom prst="rect">
            <a:avLst/>
          </a:prstGeom>
          <a:noFill/>
          <a:ln/>
        </p:spPr>
        <p:txBody>
          <a:bodyPr wrap="none" lIns="0" tIns="0" rIns="0" bIns="0" rtlCol="0" anchor="t"/>
          <a:lstStyle/>
          <a:p>
            <a:pPr algn="l" indent="0" marL="0">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Services / Business Logic</a:t>
            </a:r>
            <a:endParaRPr lang="en-US" sz="1550" dirty="0"/>
          </a:p>
        </p:txBody>
      </p:sp>
      <p:sp>
        <p:nvSpPr>
          <p:cNvPr id="13" name="Text 7"/>
          <p:cNvSpPr/>
          <p:nvPr/>
        </p:nvSpPr>
        <p:spPr>
          <a:xfrm>
            <a:off x="9972318" y="4186476"/>
            <a:ext cx="4012168" cy="1032986"/>
          </a:xfrm>
          <a:prstGeom prst="rect">
            <a:avLst/>
          </a:prstGeom>
          <a:noFill/>
          <a:ln/>
        </p:spPr>
        <p:txBody>
          <a:bodyPr wrap="square" lIns="0" tIns="0" rIns="0" bIns="0" rtlCol="0" anchor="t"/>
          <a:lstStyle/>
          <a:p>
            <a:pPr algn="l" indent="0" marL="0">
              <a:lnSpc>
                <a:spcPts val="2000"/>
              </a:lnSpc>
              <a:buNone/>
            </a:pPr>
            <a:r>
              <a:rPr lang="en-US" sz="1250" dirty="0">
                <a:solidFill>
                  <a:srgbClr val="405449"/>
                </a:solidFill>
                <a:latin typeface="Nobile" pitchFamily="34" charset="0"/>
                <a:ea typeface="Nobile" pitchFamily="34" charset="-122"/>
                <a:cs typeface="Nobile" pitchFamily="34" charset="-120"/>
              </a:rPr>
              <a:t>Couche intermédiaire contenant la logique métier (e.g., création de match, gestion des participants) et interagissant avec le backend. Elle abstrait l'accès aux données pour la couche UI.</a:t>
            </a:r>
            <a:endParaRPr lang="en-US" sz="1250" dirty="0"/>
          </a:p>
        </p:txBody>
      </p:sp>
      <p:pic>
        <p:nvPicPr>
          <p:cNvPr id="14" name="Image 4" descr="preencoded.png">    </p:cNvPr>
          <p:cNvPicPr>
            <a:picLocks noChangeAspect="1"/>
          </p:cNvPicPr>
          <p:nvPr/>
        </p:nvPicPr>
        <p:blipFill>
          <a:blip r:embed="rId7"/>
          <a:stretch>
            <a:fillRect/>
          </a:stretch>
        </p:blipFill>
        <p:spPr>
          <a:xfrm>
            <a:off x="4980980" y="2194203"/>
            <a:ext cx="4668441" cy="4668441"/>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03958" y="4688443"/>
            <a:ext cx="241578" cy="241578"/>
          </a:xfrm>
          <a:prstGeom prst="rect">
            <a:avLst/>
          </a:prstGeom>
        </p:spPr>
      </p:pic>
      <p:sp>
        <p:nvSpPr>
          <p:cNvPr id="16" name="Text 8"/>
          <p:cNvSpPr/>
          <p:nvPr/>
        </p:nvSpPr>
        <p:spPr>
          <a:xfrm>
            <a:off x="9810869" y="5461635"/>
            <a:ext cx="2018586" cy="252174"/>
          </a:xfrm>
          <a:prstGeom prst="rect">
            <a:avLst/>
          </a:prstGeom>
          <a:noFill/>
          <a:ln/>
        </p:spPr>
        <p:txBody>
          <a:bodyPr wrap="none" lIns="0" tIns="0" rIns="0" bIns="0" rtlCol="0" anchor="t"/>
          <a:lstStyle/>
          <a:p>
            <a:pPr algn="l" indent="0" marL="0">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Firestore (NoSQL)</a:t>
            </a:r>
            <a:endParaRPr lang="en-US" sz="1550" dirty="0"/>
          </a:p>
        </p:txBody>
      </p:sp>
      <p:sp>
        <p:nvSpPr>
          <p:cNvPr id="17" name="Text 9"/>
          <p:cNvSpPr/>
          <p:nvPr/>
        </p:nvSpPr>
        <p:spPr>
          <a:xfrm>
            <a:off x="9810869" y="5810607"/>
            <a:ext cx="4173617" cy="1291233"/>
          </a:xfrm>
          <a:prstGeom prst="rect">
            <a:avLst/>
          </a:prstGeom>
          <a:noFill/>
          <a:ln/>
        </p:spPr>
        <p:txBody>
          <a:bodyPr wrap="square" lIns="0" tIns="0" rIns="0" bIns="0" rtlCol="0" anchor="t"/>
          <a:lstStyle/>
          <a:p>
            <a:pPr algn="l" indent="0" marL="0">
              <a:lnSpc>
                <a:spcPts val="2000"/>
              </a:lnSpc>
              <a:buNone/>
            </a:pPr>
            <a:r>
              <a:rPr lang="en-US" sz="1250" dirty="0">
                <a:solidFill>
                  <a:srgbClr val="405449"/>
                </a:solidFill>
                <a:latin typeface="Nobile" pitchFamily="34" charset="0"/>
                <a:ea typeface="Nobile" pitchFamily="34" charset="-122"/>
                <a:cs typeface="Nobile" pitchFamily="34" charset="-120"/>
              </a:rPr>
              <a:t>Base de données NoSQL flexible et scalable de Firebase, utilisée pour stocker toutes les données structurées de l'application (utilisateurs, matchs, messages). Offre des requêtes en temps réel et une synchronisation hors ligne.</a:t>
            </a:r>
            <a:endParaRPr lang="en-US" sz="1250" dirty="0"/>
          </a:p>
        </p:txBody>
      </p:sp>
      <p:pic>
        <p:nvPicPr>
          <p:cNvPr id="18" name="Image 6" descr="preencoded.png">    </p:cNvPr>
          <p:cNvPicPr>
            <a:picLocks noChangeAspect="1"/>
          </p:cNvPicPr>
          <p:nvPr/>
        </p:nvPicPr>
        <p:blipFill>
          <a:blip r:embed="rId10"/>
          <a:stretch>
            <a:fillRect/>
          </a:stretch>
        </p:blipFill>
        <p:spPr>
          <a:xfrm>
            <a:off x="4980980" y="2194203"/>
            <a:ext cx="4668441" cy="4668441"/>
          </a:xfrm>
          <a:prstGeom prst="rect">
            <a:avLst/>
          </a:prstGeom>
        </p:spPr>
      </p:pic>
      <p:pic>
        <p:nvPicPr>
          <p:cNvPr id="19"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55850" y="5941933"/>
            <a:ext cx="241578" cy="241578"/>
          </a:xfrm>
          <a:prstGeom prst="rect">
            <a:avLst/>
          </a:prstGeom>
        </p:spPr>
      </p:pic>
      <p:sp>
        <p:nvSpPr>
          <p:cNvPr id="20" name="Text 10"/>
          <p:cNvSpPr/>
          <p:nvPr/>
        </p:nvSpPr>
        <p:spPr>
          <a:xfrm>
            <a:off x="2342078" y="5590699"/>
            <a:ext cx="2477453" cy="252174"/>
          </a:xfrm>
          <a:prstGeom prst="rect">
            <a:avLst/>
          </a:prstGeom>
          <a:noFill/>
          <a:ln/>
        </p:spPr>
        <p:txBody>
          <a:bodyPr wrap="none" lIns="0" tIns="0" rIns="0" bIns="0" rtlCol="0" anchor="t"/>
          <a:lstStyle/>
          <a:p>
            <a:pPr algn="r" indent="0" marL="0">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Firebase Authentication</a:t>
            </a:r>
            <a:endParaRPr lang="en-US" sz="1550" dirty="0"/>
          </a:p>
        </p:txBody>
      </p:sp>
      <p:sp>
        <p:nvSpPr>
          <p:cNvPr id="21" name="Text 11"/>
          <p:cNvSpPr/>
          <p:nvPr/>
        </p:nvSpPr>
        <p:spPr>
          <a:xfrm>
            <a:off x="645914" y="5939671"/>
            <a:ext cx="4173617" cy="1032986"/>
          </a:xfrm>
          <a:prstGeom prst="rect">
            <a:avLst/>
          </a:prstGeom>
          <a:noFill/>
          <a:ln/>
        </p:spPr>
        <p:txBody>
          <a:bodyPr wrap="square" lIns="0" tIns="0" rIns="0" bIns="0" rtlCol="0" anchor="t"/>
          <a:lstStyle/>
          <a:p>
            <a:pPr algn="r" indent="0" marL="0">
              <a:lnSpc>
                <a:spcPts val="2000"/>
              </a:lnSpc>
              <a:buNone/>
            </a:pPr>
            <a:r>
              <a:rPr lang="en-US" sz="1250" dirty="0">
                <a:solidFill>
                  <a:srgbClr val="405449"/>
                </a:solidFill>
                <a:latin typeface="Nobile" pitchFamily="34" charset="0"/>
                <a:ea typeface="Nobile" pitchFamily="34" charset="-122"/>
                <a:cs typeface="Nobile" pitchFamily="34" charset="-120"/>
              </a:rPr>
              <a:t>Service d'authentification robuste et sécurisé, prenant en charge diverses méthodes (email/mot de passe, Google, etc.). Gère les sessions utilisateur et l'accès sécurisé aux ressources Firebase.</a:t>
            </a:r>
            <a:endParaRPr lang="en-US" sz="1250" dirty="0"/>
          </a:p>
        </p:txBody>
      </p:sp>
      <p:pic>
        <p:nvPicPr>
          <p:cNvPr id="22" name="Image 8" descr="preencoded.png">    </p:cNvPr>
          <p:cNvPicPr>
            <a:picLocks noChangeAspect="1"/>
          </p:cNvPicPr>
          <p:nvPr/>
        </p:nvPicPr>
        <p:blipFill>
          <a:blip r:embed="rId13"/>
          <a:stretch>
            <a:fillRect/>
          </a:stretch>
        </p:blipFill>
        <p:spPr>
          <a:xfrm>
            <a:off x="4980980" y="2194203"/>
            <a:ext cx="4668441" cy="4668441"/>
          </a:xfrm>
          <a:prstGeom prst="rect">
            <a:avLst/>
          </a:prstGeom>
        </p:spPr>
      </p:pic>
      <p:pic>
        <p:nvPicPr>
          <p:cNvPr id="23" name="Image 9"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146244" y="5661065"/>
            <a:ext cx="241578" cy="241578"/>
          </a:xfrm>
          <a:prstGeom prst="rect">
            <a:avLst/>
          </a:prstGeom>
        </p:spPr>
      </p:pic>
      <p:sp>
        <p:nvSpPr>
          <p:cNvPr id="24" name="Text 12"/>
          <p:cNvSpPr/>
          <p:nvPr/>
        </p:nvSpPr>
        <p:spPr>
          <a:xfrm>
            <a:off x="1359218" y="3837503"/>
            <a:ext cx="3298865" cy="252174"/>
          </a:xfrm>
          <a:prstGeom prst="rect">
            <a:avLst/>
          </a:prstGeom>
          <a:noFill/>
          <a:ln/>
        </p:spPr>
        <p:txBody>
          <a:bodyPr wrap="none" lIns="0" tIns="0" rIns="0" bIns="0" rtlCol="0" anchor="t"/>
          <a:lstStyle/>
          <a:p>
            <a:pPr algn="r" indent="0" marL="0">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Cloudinary (Gestion des Médias)</a:t>
            </a:r>
            <a:endParaRPr lang="en-US" sz="1550" dirty="0"/>
          </a:p>
        </p:txBody>
      </p:sp>
      <p:sp>
        <p:nvSpPr>
          <p:cNvPr id="25" name="Text 13"/>
          <p:cNvSpPr/>
          <p:nvPr/>
        </p:nvSpPr>
        <p:spPr>
          <a:xfrm>
            <a:off x="645914" y="4186476"/>
            <a:ext cx="4012168" cy="1032986"/>
          </a:xfrm>
          <a:prstGeom prst="rect">
            <a:avLst/>
          </a:prstGeom>
          <a:noFill/>
          <a:ln/>
        </p:spPr>
        <p:txBody>
          <a:bodyPr wrap="square" lIns="0" tIns="0" rIns="0" bIns="0" rtlCol="0" anchor="t"/>
          <a:lstStyle/>
          <a:p>
            <a:pPr algn="r" indent="0" marL="0">
              <a:lnSpc>
                <a:spcPts val="2000"/>
              </a:lnSpc>
              <a:buNone/>
            </a:pPr>
            <a:r>
              <a:rPr lang="en-US" sz="1250" dirty="0">
                <a:solidFill>
                  <a:srgbClr val="405449"/>
                </a:solidFill>
                <a:latin typeface="Nobile" pitchFamily="34" charset="0"/>
                <a:ea typeface="Nobile" pitchFamily="34" charset="-122"/>
                <a:cs typeface="Nobile" pitchFamily="34" charset="-120"/>
              </a:rPr>
              <a:t>Plateforme de gestion d'images et de vidéos dans le cloud. Utilisée pour stocker, optimiser et servir les photos de profil des utilisateurs et toute autre image liée aux matchs.</a:t>
            </a:r>
            <a:endParaRPr lang="en-US" sz="1250" dirty="0"/>
          </a:p>
        </p:txBody>
      </p:sp>
      <p:pic>
        <p:nvPicPr>
          <p:cNvPr id="26" name="Image 10" descr="preencoded.png">    </p:cNvPr>
          <p:cNvPicPr>
            <a:picLocks noChangeAspect="1"/>
          </p:cNvPicPr>
          <p:nvPr/>
        </p:nvPicPr>
        <p:blipFill>
          <a:blip r:embed="rId16"/>
          <a:stretch>
            <a:fillRect/>
          </a:stretch>
        </p:blipFill>
        <p:spPr>
          <a:xfrm>
            <a:off x="4980980" y="2194203"/>
            <a:ext cx="4668441" cy="4668441"/>
          </a:xfrm>
          <a:prstGeom prst="rect">
            <a:avLst/>
          </a:prstGeom>
        </p:spPr>
      </p:pic>
      <p:pic>
        <p:nvPicPr>
          <p:cNvPr id="27" name="Image 11"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584627" y="4126587"/>
            <a:ext cx="241578" cy="241578"/>
          </a:xfrm>
          <a:prstGeom prst="rect">
            <a:avLst/>
          </a:prstGeom>
        </p:spPr>
      </p:pic>
      <p:sp>
        <p:nvSpPr>
          <p:cNvPr id="28" name="Text 14"/>
          <p:cNvSpPr/>
          <p:nvPr/>
        </p:nvSpPr>
        <p:spPr>
          <a:xfrm>
            <a:off x="645914" y="7283410"/>
            <a:ext cx="13338572" cy="258247"/>
          </a:xfrm>
          <a:prstGeom prst="rect">
            <a:avLst/>
          </a:prstGeom>
          <a:noFill/>
          <a:ln/>
        </p:spPr>
        <p:txBody>
          <a:bodyPr wrap="none" lIns="0" tIns="0" rIns="0" bIns="0" rtlCol="0" anchor="t"/>
          <a:lstStyle/>
          <a:p>
            <a:pPr algn="l" indent="0" marL="0">
              <a:lnSpc>
                <a:spcPts val="2000"/>
              </a:lnSpc>
              <a:buNone/>
            </a:pPr>
            <a:r>
              <a:rPr lang="en-US" sz="1250" dirty="0">
                <a:solidFill>
                  <a:srgbClr val="405449"/>
                </a:solidFill>
                <a:latin typeface="Nobile" pitchFamily="34" charset="0"/>
                <a:ea typeface="Nobile" pitchFamily="34" charset="-122"/>
                <a:cs typeface="Nobile" pitchFamily="34" charset="-120"/>
              </a:rPr>
              <a:t>Cette architecture modulaire garantit une maintenance aisée, une extensibilité future et une séparation claire des préoccupations, essentielle pour une application complexe.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8285" y="390644"/>
            <a:ext cx="5181005" cy="443865"/>
          </a:xfrm>
          <a:prstGeom prst="rect">
            <a:avLst/>
          </a:prstGeom>
          <a:noFill/>
          <a:ln/>
        </p:spPr>
        <p:txBody>
          <a:bodyPr wrap="none" lIns="0" tIns="0" rIns="0" bIns="0" rtlCol="0" anchor="t"/>
          <a:lstStyle/>
          <a:p>
            <a:pPr algn="l" indent="0" marL="0">
              <a:lnSpc>
                <a:spcPts val="3450"/>
              </a:lnSpc>
              <a:buNone/>
            </a:pPr>
            <a:r>
              <a:rPr lang="en-US" sz="2750" b="1" dirty="0">
                <a:solidFill>
                  <a:srgbClr val="3B4540"/>
                </a:solidFill>
                <a:latin typeface="Fraunces Extra Bold" pitchFamily="34" charset="0"/>
                <a:ea typeface="Fraunces Extra Bold" pitchFamily="34" charset="-122"/>
                <a:cs typeface="Fraunces Extra Bold" pitchFamily="34" charset="-120"/>
              </a:rPr>
              <a:t>Modèle de Données Firestore</a:t>
            </a:r>
            <a:endParaRPr lang="en-US" sz="2750" dirty="0"/>
          </a:p>
        </p:txBody>
      </p:sp>
      <p:sp>
        <p:nvSpPr>
          <p:cNvPr id="3" name="Text 1"/>
          <p:cNvSpPr/>
          <p:nvPr/>
        </p:nvSpPr>
        <p:spPr>
          <a:xfrm>
            <a:off x="568285" y="1118592"/>
            <a:ext cx="13493829" cy="227171"/>
          </a:xfrm>
          <a:prstGeom prst="rect">
            <a:avLst/>
          </a:prstGeom>
          <a:noFill/>
          <a:ln/>
        </p:spPr>
        <p:txBody>
          <a:bodyPr wrap="none" lIns="0" tIns="0" rIns="0" bIns="0" rtlCol="0" anchor="t"/>
          <a:lstStyle/>
          <a:p>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Le modèle de données Firestore de MatchUp est structuré pour une efficacité maximale en termes de requêtes et une scalabilité, tirant parti de la nature orientée document de Firestore.</a:t>
            </a:r>
            <a:endParaRPr lang="en-US" sz="1100" dirty="0"/>
          </a:p>
        </p:txBody>
      </p:sp>
      <p:sp>
        <p:nvSpPr>
          <p:cNvPr id="4" name="Shape 2"/>
          <p:cNvSpPr/>
          <p:nvPr/>
        </p:nvSpPr>
        <p:spPr>
          <a:xfrm>
            <a:off x="7307580" y="1505545"/>
            <a:ext cx="15240" cy="6342221"/>
          </a:xfrm>
          <a:prstGeom prst="roundRect">
            <a:avLst>
              <a:gd name="adj" fmla="val 839070"/>
            </a:avLst>
          </a:prstGeom>
          <a:solidFill>
            <a:srgbClr val="CED9CE"/>
          </a:solidFill>
          <a:ln/>
        </p:spPr>
      </p:sp>
      <p:sp>
        <p:nvSpPr>
          <p:cNvPr id="5" name="Shape 3"/>
          <p:cNvSpPr/>
          <p:nvPr/>
        </p:nvSpPr>
        <p:spPr>
          <a:xfrm>
            <a:off x="6904196" y="2914769"/>
            <a:ext cx="426244" cy="15240"/>
          </a:xfrm>
          <a:prstGeom prst="roundRect">
            <a:avLst>
              <a:gd name="adj" fmla="val 839070"/>
            </a:avLst>
          </a:prstGeom>
          <a:solidFill>
            <a:srgbClr val="CED9CE"/>
          </a:solidFill>
          <a:ln/>
        </p:spPr>
      </p:sp>
      <p:sp>
        <p:nvSpPr>
          <p:cNvPr id="6" name="Shape 4"/>
          <p:cNvSpPr/>
          <p:nvPr/>
        </p:nvSpPr>
        <p:spPr>
          <a:xfrm>
            <a:off x="7261920" y="2869109"/>
            <a:ext cx="106561" cy="106561"/>
          </a:xfrm>
          <a:prstGeom prst="roundRect">
            <a:avLst>
              <a:gd name="adj" fmla="val 429050"/>
            </a:avLst>
          </a:prstGeom>
          <a:solidFill>
            <a:srgbClr val="438951"/>
          </a:solidFill>
          <a:ln/>
        </p:spPr>
      </p:sp>
      <p:sp>
        <p:nvSpPr>
          <p:cNvPr id="7" name="Shape 5"/>
          <p:cNvSpPr/>
          <p:nvPr/>
        </p:nvSpPr>
        <p:spPr>
          <a:xfrm>
            <a:off x="568285" y="1505545"/>
            <a:ext cx="6320671" cy="2833688"/>
          </a:xfrm>
          <a:prstGeom prst="roundRect">
            <a:avLst>
              <a:gd name="adj" fmla="val 4513"/>
            </a:avLst>
          </a:prstGeom>
          <a:solidFill>
            <a:srgbClr val="E8F3E8"/>
          </a:solidFill>
          <a:ln/>
        </p:spPr>
      </p:sp>
      <p:sp>
        <p:nvSpPr>
          <p:cNvPr id="8" name="Text 6"/>
          <p:cNvSpPr/>
          <p:nvPr/>
        </p:nvSpPr>
        <p:spPr>
          <a:xfrm>
            <a:off x="4761190" y="1647587"/>
            <a:ext cx="1985724" cy="222052"/>
          </a:xfrm>
          <a:prstGeom prst="rect">
            <a:avLst/>
          </a:prstGeom>
          <a:noFill/>
          <a:ln/>
        </p:spPr>
        <p:txBody>
          <a:bodyPr wrap="none" lIns="0" tIns="0" rIns="0" bIns="0" rtlCol="0" anchor="t"/>
          <a:lstStyle/>
          <a:p>
            <a:pPr algn="r" indent="0" marL="0">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Collection: </a:t>
            </a:r>
            <a:pPr algn="r" indent="0" marL="0">
              <a:lnSpc>
                <a:spcPts val="1700"/>
              </a:lnSpc>
              <a:buNone/>
            </a:pPr>
            <a:r>
              <a:rPr lang="en-US" sz="1350" b="1" dirty="0">
                <a:solidFill>
                  <a:srgbClr val="405449"/>
                </a:solidFill>
                <a:highlight>
                  <a:srgbClr val="EDF2ED"/>
                </a:highlight>
                <a:latin typeface="Consolas" pitchFamily="34" charset="0"/>
                <a:ea typeface="Consolas" pitchFamily="34" charset="-122"/>
                <a:cs typeface="Consolas" pitchFamily="34" charset="-120"/>
              </a:rPr>
              <a:t>users/{uid}</a:t>
            </a:r>
            <a:endParaRPr lang="en-US" sz="1350" dirty="0"/>
          </a:p>
        </p:txBody>
      </p:sp>
      <p:sp>
        <p:nvSpPr>
          <p:cNvPr id="9" name="Text 7"/>
          <p:cNvSpPr/>
          <p:nvPr/>
        </p:nvSpPr>
        <p:spPr>
          <a:xfrm>
            <a:off x="710327" y="1954887"/>
            <a:ext cx="6036588" cy="454343"/>
          </a:xfrm>
          <a:prstGeom prst="rect">
            <a:avLst/>
          </a:prstGeom>
          <a:noFill/>
          <a:ln/>
        </p:spPr>
        <p:txBody>
          <a:bodyPr wrap="square" lIns="0" tIns="0" rIns="0" bIns="0" rtlCol="0" anchor="t"/>
          <a:lstStyle/>
          <a:p>
            <a:pPr algn="r" indent="0" marL="0">
              <a:lnSpc>
                <a:spcPts val="1750"/>
              </a:lnSpc>
              <a:buNone/>
            </a:pPr>
            <a:r>
              <a:rPr lang="en-US" sz="1100" dirty="0">
                <a:solidFill>
                  <a:srgbClr val="405449"/>
                </a:solidFill>
                <a:latin typeface="Nobile" pitchFamily="34" charset="0"/>
                <a:ea typeface="Nobile" pitchFamily="34" charset="-122"/>
                <a:cs typeface="Nobile" pitchFamily="34" charset="-120"/>
              </a:rPr>
              <a:t>Chaque document représente un utilisateur unique. Il contient les informations de profil telles que:</a:t>
            </a:r>
            <a:endParaRPr lang="en-US" sz="1100" dirty="0"/>
          </a:p>
        </p:txBody>
      </p:sp>
      <p:sp>
        <p:nvSpPr>
          <p:cNvPr id="10" name="Text 8"/>
          <p:cNvSpPr/>
          <p:nvPr/>
        </p:nvSpPr>
        <p:spPr>
          <a:xfrm>
            <a:off x="710327" y="2494478"/>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displayName</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Nom affiché de l'utilisateur.</a:t>
            </a:r>
            <a:endParaRPr lang="en-US" sz="1100" dirty="0"/>
          </a:p>
        </p:txBody>
      </p:sp>
      <p:sp>
        <p:nvSpPr>
          <p:cNvPr id="11" name="Text 9"/>
          <p:cNvSpPr/>
          <p:nvPr/>
        </p:nvSpPr>
        <p:spPr>
          <a:xfrm>
            <a:off x="710327" y="2786539"/>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photoURL</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Lien vers la photo de profil (stockée sur Cloudinary).</a:t>
            </a:r>
            <a:endParaRPr lang="en-US" sz="1100" dirty="0"/>
          </a:p>
        </p:txBody>
      </p:sp>
      <p:sp>
        <p:nvSpPr>
          <p:cNvPr id="12" name="Text 10"/>
          <p:cNvSpPr/>
          <p:nvPr/>
        </p:nvSpPr>
        <p:spPr>
          <a:xfrm>
            <a:off x="710327" y="3078599"/>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birthDate</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Date de naissance pour calculer l'âge.</a:t>
            </a:r>
            <a:endParaRPr lang="en-US" sz="1100" dirty="0"/>
          </a:p>
        </p:txBody>
      </p:sp>
      <p:sp>
        <p:nvSpPr>
          <p:cNvPr id="13" name="Text 11"/>
          <p:cNvSpPr/>
          <p:nvPr/>
        </p:nvSpPr>
        <p:spPr>
          <a:xfrm>
            <a:off x="710327" y="3370659"/>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age</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Âge de l'utilisateur (peut être calculé ou stocké).</a:t>
            </a:r>
            <a:endParaRPr lang="en-US" sz="1100" dirty="0"/>
          </a:p>
        </p:txBody>
      </p:sp>
      <p:sp>
        <p:nvSpPr>
          <p:cNvPr id="14" name="Text 12"/>
          <p:cNvSpPr/>
          <p:nvPr/>
        </p:nvSpPr>
        <p:spPr>
          <a:xfrm>
            <a:off x="710327" y="3662720"/>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city</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Ville de résidence de l'utilisateur.</a:t>
            </a:r>
            <a:endParaRPr lang="en-US" sz="1100" dirty="0"/>
          </a:p>
        </p:txBody>
      </p:sp>
      <p:sp>
        <p:nvSpPr>
          <p:cNvPr id="15" name="Text 13"/>
          <p:cNvSpPr/>
          <p:nvPr/>
        </p:nvSpPr>
        <p:spPr>
          <a:xfrm>
            <a:off x="710327" y="3954780"/>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phoneNumber</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Numéro de téléphone de contact.</a:t>
            </a:r>
            <a:endParaRPr lang="en-US" sz="1100" dirty="0"/>
          </a:p>
        </p:txBody>
      </p:sp>
      <p:sp>
        <p:nvSpPr>
          <p:cNvPr id="16" name="Shape 14"/>
          <p:cNvSpPr/>
          <p:nvPr/>
        </p:nvSpPr>
        <p:spPr>
          <a:xfrm>
            <a:off x="7299960" y="3475077"/>
            <a:ext cx="426244" cy="15240"/>
          </a:xfrm>
          <a:prstGeom prst="roundRect">
            <a:avLst>
              <a:gd name="adj" fmla="val 839070"/>
            </a:avLst>
          </a:prstGeom>
          <a:solidFill>
            <a:srgbClr val="CED9CE"/>
          </a:solidFill>
          <a:ln/>
        </p:spPr>
      </p:sp>
      <p:sp>
        <p:nvSpPr>
          <p:cNvPr id="17" name="Shape 15"/>
          <p:cNvSpPr/>
          <p:nvPr/>
        </p:nvSpPr>
        <p:spPr>
          <a:xfrm>
            <a:off x="7261920" y="3429417"/>
            <a:ext cx="106561" cy="106561"/>
          </a:xfrm>
          <a:prstGeom prst="roundRect">
            <a:avLst>
              <a:gd name="adj" fmla="val 429050"/>
            </a:avLst>
          </a:prstGeom>
          <a:solidFill>
            <a:srgbClr val="438951"/>
          </a:solidFill>
          <a:ln/>
        </p:spPr>
      </p:sp>
      <p:sp>
        <p:nvSpPr>
          <p:cNvPr id="18" name="Shape 16"/>
          <p:cNvSpPr/>
          <p:nvPr/>
        </p:nvSpPr>
        <p:spPr>
          <a:xfrm>
            <a:off x="7741444" y="2357914"/>
            <a:ext cx="6320671" cy="2249567"/>
          </a:xfrm>
          <a:prstGeom prst="roundRect">
            <a:avLst>
              <a:gd name="adj" fmla="val 5684"/>
            </a:avLst>
          </a:prstGeom>
          <a:solidFill>
            <a:srgbClr val="E8F3E8"/>
          </a:solidFill>
          <a:ln/>
        </p:spPr>
      </p:sp>
      <p:sp>
        <p:nvSpPr>
          <p:cNvPr id="19" name="Text 17"/>
          <p:cNvSpPr/>
          <p:nvPr/>
        </p:nvSpPr>
        <p:spPr>
          <a:xfrm>
            <a:off x="7883485" y="2499955"/>
            <a:ext cx="2721173" cy="222052"/>
          </a:xfrm>
          <a:prstGeom prst="rect">
            <a:avLst/>
          </a:prstGeom>
          <a:noFill/>
          <a:ln/>
        </p:spPr>
        <p:txBody>
          <a:bodyPr wrap="none" lIns="0" tIns="0" rIns="0" bIns="0" rtlCol="0" anchor="t"/>
          <a:lstStyle/>
          <a:p>
            <a:pPr algn="l" indent="0" marL="0">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Collection: </a:t>
            </a:r>
            <a:pPr algn="l" indent="0" marL="0">
              <a:lnSpc>
                <a:spcPts val="1700"/>
              </a:lnSpc>
              <a:buNone/>
            </a:pPr>
            <a:r>
              <a:rPr lang="en-US" sz="1350" b="1" dirty="0">
                <a:solidFill>
                  <a:srgbClr val="405449"/>
                </a:solidFill>
                <a:highlight>
                  <a:srgbClr val="EDF2ED"/>
                </a:highlight>
                <a:latin typeface="Consolas" pitchFamily="34" charset="0"/>
                <a:ea typeface="Consolas" pitchFamily="34" charset="-122"/>
                <a:cs typeface="Consolas" pitchFamily="34" charset="-120"/>
              </a:rPr>
              <a:t>matches/{matchId}</a:t>
            </a:r>
            <a:endParaRPr lang="en-US" sz="1350" dirty="0"/>
          </a:p>
        </p:txBody>
      </p:sp>
      <p:sp>
        <p:nvSpPr>
          <p:cNvPr id="20" name="Text 18"/>
          <p:cNvSpPr/>
          <p:nvPr/>
        </p:nvSpPr>
        <p:spPr>
          <a:xfrm>
            <a:off x="7883485" y="2807256"/>
            <a:ext cx="6036588" cy="454343"/>
          </a:xfrm>
          <a:prstGeom prst="rect">
            <a:avLst/>
          </a:prstGeom>
          <a:noFill/>
          <a:ln/>
        </p:spPr>
        <p:txBody>
          <a:bodyPr wrap="square" lIns="0" tIns="0" rIns="0" bIns="0" rtlCol="0" anchor="t"/>
          <a:lstStyle/>
          <a:p>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Chaque document représente un match de football spécifique, contenant des détails comme:</a:t>
            </a:r>
            <a:endParaRPr lang="en-US" sz="1100" dirty="0"/>
          </a:p>
        </p:txBody>
      </p:sp>
      <p:sp>
        <p:nvSpPr>
          <p:cNvPr id="21" name="Text 19"/>
          <p:cNvSpPr/>
          <p:nvPr/>
        </p:nvSpPr>
        <p:spPr>
          <a:xfrm>
            <a:off x="7883485" y="3346847"/>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organizerId</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Référence à l'utilisateur qui a créé le match.</a:t>
            </a:r>
            <a:endParaRPr lang="en-US" sz="1100" dirty="0"/>
          </a:p>
        </p:txBody>
      </p:sp>
      <p:sp>
        <p:nvSpPr>
          <p:cNvPr id="22" name="Text 20"/>
          <p:cNvSpPr/>
          <p:nvPr/>
        </p:nvSpPr>
        <p:spPr>
          <a:xfrm>
            <a:off x="7883485" y="3638907"/>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date</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 </a:t>
            </a:r>
            <a:pPr algn="l" indent="0" marL="0">
              <a:lnSpc>
                <a:spcPts val="1750"/>
              </a:lnSpc>
              <a:buNone/>
            </a:pPr>
            <a:r>
              <a:rPr lang="en-US" sz="1100" dirty="0">
                <a:solidFill>
                  <a:srgbClr val="405449"/>
                </a:solidFill>
                <a:highlight>
                  <a:srgbClr val="EDF2ED"/>
                </a:highlight>
                <a:latin typeface="Consolas" pitchFamily="34" charset="0"/>
                <a:ea typeface="Consolas" pitchFamily="34" charset="-122"/>
                <a:cs typeface="Consolas" pitchFamily="34" charset="-120"/>
              </a:rPr>
              <a:t>time</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 </a:t>
            </a:r>
            <a:pPr algn="l" indent="0" marL="0">
              <a:lnSpc>
                <a:spcPts val="1750"/>
              </a:lnSpc>
              <a:buNone/>
            </a:pPr>
            <a:r>
              <a:rPr lang="en-US" sz="1100" dirty="0">
                <a:solidFill>
                  <a:srgbClr val="405449"/>
                </a:solidFill>
                <a:highlight>
                  <a:srgbClr val="EDF2ED"/>
                </a:highlight>
                <a:latin typeface="Consolas" pitchFamily="34" charset="0"/>
                <a:ea typeface="Consolas" pitchFamily="34" charset="-122"/>
                <a:cs typeface="Consolas" pitchFamily="34" charset="-120"/>
              </a:rPr>
              <a:t>location</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Détails du match.</a:t>
            </a:r>
            <a:endParaRPr lang="en-US" sz="1100" dirty="0"/>
          </a:p>
        </p:txBody>
      </p:sp>
      <p:sp>
        <p:nvSpPr>
          <p:cNvPr id="23" name="Text 21"/>
          <p:cNvSpPr/>
          <p:nvPr/>
        </p:nvSpPr>
        <p:spPr>
          <a:xfrm>
            <a:off x="7883485" y="3930968"/>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capacity</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Nombre maximal de joueurs.</a:t>
            </a:r>
            <a:endParaRPr lang="en-US" sz="1100" dirty="0"/>
          </a:p>
        </p:txBody>
      </p:sp>
      <p:sp>
        <p:nvSpPr>
          <p:cNvPr id="24" name="Text 22"/>
          <p:cNvSpPr/>
          <p:nvPr/>
        </p:nvSpPr>
        <p:spPr>
          <a:xfrm>
            <a:off x="7883485" y="4223028"/>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status</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État actuel du match (ex: 'planned', 'ongoing', 'completed').</a:t>
            </a:r>
            <a:endParaRPr lang="en-US" sz="1100" dirty="0"/>
          </a:p>
        </p:txBody>
      </p:sp>
      <p:sp>
        <p:nvSpPr>
          <p:cNvPr id="25" name="Shape 23"/>
          <p:cNvSpPr/>
          <p:nvPr/>
        </p:nvSpPr>
        <p:spPr>
          <a:xfrm>
            <a:off x="6904196" y="5594390"/>
            <a:ext cx="426244" cy="15240"/>
          </a:xfrm>
          <a:prstGeom prst="roundRect">
            <a:avLst>
              <a:gd name="adj" fmla="val 839070"/>
            </a:avLst>
          </a:prstGeom>
          <a:solidFill>
            <a:srgbClr val="CED9CE"/>
          </a:solidFill>
          <a:ln/>
        </p:spPr>
      </p:sp>
      <p:sp>
        <p:nvSpPr>
          <p:cNvPr id="26" name="Shape 24"/>
          <p:cNvSpPr/>
          <p:nvPr/>
        </p:nvSpPr>
        <p:spPr>
          <a:xfrm>
            <a:off x="7261920" y="5548729"/>
            <a:ext cx="106561" cy="106561"/>
          </a:xfrm>
          <a:prstGeom prst="roundRect">
            <a:avLst>
              <a:gd name="adj" fmla="val 429050"/>
            </a:avLst>
          </a:prstGeom>
          <a:solidFill>
            <a:srgbClr val="438951"/>
          </a:solidFill>
          <a:ln/>
        </p:spPr>
      </p:sp>
      <p:sp>
        <p:nvSpPr>
          <p:cNvPr id="27" name="Shape 25"/>
          <p:cNvSpPr/>
          <p:nvPr/>
        </p:nvSpPr>
        <p:spPr>
          <a:xfrm>
            <a:off x="568285" y="4623316"/>
            <a:ext cx="6320671" cy="1957507"/>
          </a:xfrm>
          <a:prstGeom prst="roundRect">
            <a:avLst>
              <a:gd name="adj" fmla="val 6533"/>
            </a:avLst>
          </a:prstGeom>
          <a:solidFill>
            <a:srgbClr val="E8F3E8"/>
          </a:solidFill>
          <a:ln/>
        </p:spPr>
      </p:sp>
      <p:sp>
        <p:nvSpPr>
          <p:cNvPr id="28" name="Text 26"/>
          <p:cNvSpPr/>
          <p:nvPr/>
        </p:nvSpPr>
        <p:spPr>
          <a:xfrm>
            <a:off x="2063829" y="4765358"/>
            <a:ext cx="4683085" cy="222052"/>
          </a:xfrm>
          <a:prstGeom prst="rect">
            <a:avLst/>
          </a:prstGeom>
          <a:noFill/>
          <a:ln/>
        </p:spPr>
        <p:txBody>
          <a:bodyPr wrap="none" lIns="0" tIns="0" rIns="0" bIns="0" rtlCol="0" anchor="t"/>
          <a:lstStyle/>
          <a:p>
            <a:pPr algn="r" indent="0" marL="0">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Subcollection: </a:t>
            </a:r>
            <a:pPr algn="r" indent="0" marL="0">
              <a:lnSpc>
                <a:spcPts val="1700"/>
              </a:lnSpc>
              <a:buNone/>
            </a:pPr>
            <a:r>
              <a:rPr lang="en-US" sz="1350" b="1" dirty="0">
                <a:solidFill>
                  <a:srgbClr val="405449"/>
                </a:solidFill>
                <a:highlight>
                  <a:srgbClr val="EDF2ED"/>
                </a:highlight>
                <a:latin typeface="Consolas" pitchFamily="34" charset="0"/>
                <a:ea typeface="Consolas" pitchFamily="34" charset="-122"/>
                <a:cs typeface="Consolas" pitchFamily="34" charset="-120"/>
              </a:rPr>
              <a:t>matches/{matchId}/participants/{uid}</a:t>
            </a:r>
            <a:endParaRPr lang="en-US" sz="1350" dirty="0"/>
          </a:p>
        </p:txBody>
      </p:sp>
      <p:sp>
        <p:nvSpPr>
          <p:cNvPr id="29" name="Text 27"/>
          <p:cNvSpPr/>
          <p:nvPr/>
        </p:nvSpPr>
        <p:spPr>
          <a:xfrm>
            <a:off x="710327" y="5072658"/>
            <a:ext cx="6036588" cy="454343"/>
          </a:xfrm>
          <a:prstGeom prst="rect">
            <a:avLst/>
          </a:prstGeom>
          <a:noFill/>
          <a:ln/>
        </p:spPr>
        <p:txBody>
          <a:bodyPr wrap="square" lIns="0" tIns="0" rIns="0" bIns="0" rtlCol="0" anchor="t"/>
          <a:lstStyle/>
          <a:p>
            <a:pPr algn="r" indent="0" marL="0">
              <a:lnSpc>
                <a:spcPts val="1750"/>
              </a:lnSpc>
              <a:buNone/>
            </a:pPr>
            <a:r>
              <a:rPr lang="en-US" sz="1100" dirty="0">
                <a:solidFill>
                  <a:srgbClr val="405449"/>
                </a:solidFill>
                <a:latin typeface="Nobile" pitchFamily="34" charset="0"/>
                <a:ea typeface="Nobile" pitchFamily="34" charset="-122"/>
                <a:cs typeface="Nobile" pitchFamily="34" charset="-120"/>
              </a:rPr>
              <a:t>Cette sous-collection stocke les participants pour chaque match. Chaque document contient:</a:t>
            </a:r>
            <a:endParaRPr lang="en-US" sz="1100" dirty="0"/>
          </a:p>
        </p:txBody>
      </p:sp>
      <p:sp>
        <p:nvSpPr>
          <p:cNvPr id="30" name="Text 28"/>
          <p:cNvSpPr/>
          <p:nvPr/>
        </p:nvSpPr>
        <p:spPr>
          <a:xfrm>
            <a:off x="710327" y="5612249"/>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userId</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Référence à l'utilisateur participant.</a:t>
            </a:r>
            <a:endParaRPr lang="en-US" sz="1100" dirty="0"/>
          </a:p>
        </p:txBody>
      </p:sp>
      <p:sp>
        <p:nvSpPr>
          <p:cNvPr id="31" name="Text 29"/>
          <p:cNvSpPr/>
          <p:nvPr/>
        </p:nvSpPr>
        <p:spPr>
          <a:xfrm>
            <a:off x="710327" y="5904309"/>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status</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Statut de participation (PENDING, ACCEPTED, REJECTED, KICKED).</a:t>
            </a:r>
            <a:endParaRPr lang="en-US" sz="1100" dirty="0"/>
          </a:p>
        </p:txBody>
      </p:sp>
      <p:sp>
        <p:nvSpPr>
          <p:cNvPr id="32" name="Text 30"/>
          <p:cNvSpPr/>
          <p:nvPr/>
        </p:nvSpPr>
        <p:spPr>
          <a:xfrm>
            <a:off x="710327" y="6196370"/>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joinedAt</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Horodatage de l'inscription.</a:t>
            </a:r>
            <a:endParaRPr lang="en-US" sz="1100" dirty="0"/>
          </a:p>
        </p:txBody>
      </p:sp>
      <p:sp>
        <p:nvSpPr>
          <p:cNvPr id="33" name="Shape 31"/>
          <p:cNvSpPr/>
          <p:nvPr/>
        </p:nvSpPr>
        <p:spPr>
          <a:xfrm>
            <a:off x="7299960" y="6861215"/>
            <a:ext cx="426244" cy="15240"/>
          </a:xfrm>
          <a:prstGeom prst="roundRect">
            <a:avLst>
              <a:gd name="adj" fmla="val 839070"/>
            </a:avLst>
          </a:prstGeom>
          <a:solidFill>
            <a:srgbClr val="CED9CE"/>
          </a:solidFill>
          <a:ln/>
        </p:spPr>
      </p:sp>
      <p:sp>
        <p:nvSpPr>
          <p:cNvPr id="34" name="Shape 32"/>
          <p:cNvSpPr/>
          <p:nvPr/>
        </p:nvSpPr>
        <p:spPr>
          <a:xfrm>
            <a:off x="7261920" y="6815554"/>
            <a:ext cx="106561" cy="106561"/>
          </a:xfrm>
          <a:prstGeom prst="roundRect">
            <a:avLst>
              <a:gd name="adj" fmla="val 429050"/>
            </a:avLst>
          </a:prstGeom>
          <a:solidFill>
            <a:srgbClr val="438951"/>
          </a:solidFill>
          <a:ln/>
        </p:spPr>
      </p:sp>
      <p:sp>
        <p:nvSpPr>
          <p:cNvPr id="35" name="Shape 33"/>
          <p:cNvSpPr/>
          <p:nvPr/>
        </p:nvSpPr>
        <p:spPr>
          <a:xfrm>
            <a:off x="7741444" y="5890141"/>
            <a:ext cx="6320671" cy="1957507"/>
          </a:xfrm>
          <a:prstGeom prst="roundRect">
            <a:avLst>
              <a:gd name="adj" fmla="val 6533"/>
            </a:avLst>
          </a:prstGeom>
          <a:solidFill>
            <a:srgbClr val="E8F3E8"/>
          </a:solidFill>
          <a:ln/>
        </p:spPr>
      </p:sp>
      <p:sp>
        <p:nvSpPr>
          <p:cNvPr id="36" name="Text 34"/>
          <p:cNvSpPr/>
          <p:nvPr/>
        </p:nvSpPr>
        <p:spPr>
          <a:xfrm>
            <a:off x="7883485" y="6032183"/>
            <a:ext cx="4711779" cy="222052"/>
          </a:xfrm>
          <a:prstGeom prst="rect">
            <a:avLst/>
          </a:prstGeom>
          <a:noFill/>
          <a:ln/>
        </p:spPr>
        <p:txBody>
          <a:bodyPr wrap="none" lIns="0" tIns="0" rIns="0" bIns="0" rtlCol="0" anchor="t"/>
          <a:lstStyle/>
          <a:p>
            <a:pPr algn="l" indent="0" marL="0">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Subcollection: </a:t>
            </a:r>
            <a:pPr algn="l" indent="0" marL="0">
              <a:lnSpc>
                <a:spcPts val="1700"/>
              </a:lnSpc>
              <a:buNone/>
            </a:pPr>
            <a:r>
              <a:rPr lang="en-US" sz="1350" b="1" dirty="0">
                <a:solidFill>
                  <a:srgbClr val="405449"/>
                </a:solidFill>
                <a:highlight>
                  <a:srgbClr val="EDF2ED"/>
                </a:highlight>
                <a:latin typeface="Consolas" pitchFamily="34" charset="0"/>
                <a:ea typeface="Consolas" pitchFamily="34" charset="-122"/>
                <a:cs typeface="Consolas" pitchFamily="34" charset="-120"/>
              </a:rPr>
              <a:t>matches/{matchId}/messages/{msgId}</a:t>
            </a:r>
            <a:endParaRPr lang="en-US" sz="1350" dirty="0"/>
          </a:p>
        </p:txBody>
      </p:sp>
      <p:sp>
        <p:nvSpPr>
          <p:cNvPr id="37" name="Text 35"/>
          <p:cNvSpPr/>
          <p:nvPr/>
        </p:nvSpPr>
        <p:spPr>
          <a:xfrm>
            <a:off x="7883485" y="6339483"/>
            <a:ext cx="6036588" cy="454343"/>
          </a:xfrm>
          <a:prstGeom prst="rect">
            <a:avLst/>
          </a:prstGeom>
          <a:noFill/>
          <a:ln/>
        </p:spPr>
        <p:txBody>
          <a:bodyPr wrap="square" lIns="0" tIns="0" rIns="0" bIns="0" rtlCol="0" anchor="t"/>
          <a:lstStyle/>
          <a:p>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Utilisée pour le chat spécifique à chaque match. Chaque document représente un message:</a:t>
            </a:r>
            <a:endParaRPr lang="en-US" sz="1100" dirty="0"/>
          </a:p>
        </p:txBody>
      </p:sp>
      <p:sp>
        <p:nvSpPr>
          <p:cNvPr id="38" name="Text 36"/>
          <p:cNvSpPr/>
          <p:nvPr/>
        </p:nvSpPr>
        <p:spPr>
          <a:xfrm>
            <a:off x="7883485" y="6879074"/>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senderId</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ID de l'expéditeur.</a:t>
            </a:r>
            <a:endParaRPr lang="en-US" sz="1100" dirty="0"/>
          </a:p>
        </p:txBody>
      </p:sp>
      <p:sp>
        <p:nvSpPr>
          <p:cNvPr id="39" name="Text 37"/>
          <p:cNvSpPr/>
          <p:nvPr/>
        </p:nvSpPr>
        <p:spPr>
          <a:xfrm>
            <a:off x="7883485" y="7171134"/>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content</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Texte du message.</a:t>
            </a:r>
            <a:endParaRPr lang="en-US" sz="1100" dirty="0"/>
          </a:p>
        </p:txBody>
      </p:sp>
      <p:sp>
        <p:nvSpPr>
          <p:cNvPr id="40" name="Text 38"/>
          <p:cNvSpPr/>
          <p:nvPr/>
        </p:nvSpPr>
        <p:spPr>
          <a:xfrm>
            <a:off x="7883485" y="7463195"/>
            <a:ext cx="6036588" cy="242411"/>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405449"/>
                </a:solidFill>
                <a:highlight>
                  <a:srgbClr val="EDF2ED"/>
                </a:highlight>
                <a:latin typeface="Consolas" pitchFamily="34" charset="0"/>
                <a:ea typeface="Consolas" pitchFamily="34" charset="-122"/>
                <a:cs typeface="Consolas" pitchFamily="34" charset="-120"/>
              </a:rPr>
              <a:t>timestamp</a:t>
            </a:r>
            <a:pPr algn="l" indent="0" marL="0">
              <a:lnSpc>
                <a:spcPts val="1750"/>
              </a:lnSpc>
              <a:buNone/>
            </a:pPr>
            <a:r>
              <a:rPr lang="en-US" sz="1100" b="1" dirty="0">
                <a:solidFill>
                  <a:srgbClr val="405449"/>
                </a:solidFill>
                <a:latin typeface="Nobile" pitchFamily="34" charset="0"/>
                <a:ea typeface="Nobile" pitchFamily="34" charset="-122"/>
                <a:cs typeface="Nobile" pitchFamily="34" charset="-120"/>
              </a:rPr>
              <a:t>:</a:t>
            </a:r>
            <a:pPr algn="l" indent="0" marL="0">
              <a:lnSpc>
                <a:spcPts val="1750"/>
              </a:lnSpc>
              <a:buNone/>
            </a:pPr>
            <a:r>
              <a:rPr lang="en-US" sz="1100" dirty="0">
                <a:solidFill>
                  <a:srgbClr val="405449"/>
                </a:solidFill>
                <a:latin typeface="Nobile" pitchFamily="34" charset="0"/>
                <a:ea typeface="Nobile" pitchFamily="34" charset="-122"/>
                <a:cs typeface="Nobile" pitchFamily="34" charset="-120"/>
              </a:rPr>
              <a:t> Horodatage de l'envoi.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023938"/>
            <a:ext cx="7556421" cy="1240155"/>
          </a:xfrm>
          <a:prstGeom prst="rect">
            <a:avLst/>
          </a:prstGeom>
          <a:noFill/>
          <a:ln/>
        </p:spPr>
        <p:txBody>
          <a:bodyPr wrap="squar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Diagramme de Cas d'Utilisation</a:t>
            </a:r>
            <a:endParaRPr lang="en-US" sz="3900" dirty="0"/>
          </a:p>
        </p:txBody>
      </p:sp>
      <p:sp>
        <p:nvSpPr>
          <p:cNvPr id="4" name="Text 1"/>
          <p:cNvSpPr/>
          <p:nvPr/>
        </p:nvSpPr>
        <p:spPr>
          <a:xfrm>
            <a:off x="6280190" y="2561749"/>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Ce diagramme de cas d'utilisation illustre les interactions principales entre les acteurs du système (Joueur et Organisateur) et les fonctionnalités offertes par MatchUp.</a:t>
            </a:r>
            <a:endParaRPr lang="en-US" sz="1550" dirty="0"/>
          </a:p>
        </p:txBody>
      </p:sp>
      <p:sp>
        <p:nvSpPr>
          <p:cNvPr id="5" name="Text 2"/>
          <p:cNvSpPr/>
          <p:nvPr/>
        </p:nvSpPr>
        <p:spPr>
          <a:xfrm>
            <a:off x="6280190" y="3737610"/>
            <a:ext cx="7556421" cy="95261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405449"/>
                </a:solidFill>
                <a:latin typeface="Nobile" pitchFamily="34" charset="0"/>
                <a:ea typeface="Nobile" pitchFamily="34" charset="-122"/>
                <a:cs typeface="Nobile" pitchFamily="34" charset="-120"/>
              </a:rPr>
              <a:t>Le Joueur</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peut s'authentifier, gérer son profil, rechercher et consulter des matchs, envoyer des demandes de participation, et chatter au sein des matchs acceptés.</a:t>
            </a:r>
            <a:endParaRPr lang="en-US" sz="1550" dirty="0"/>
          </a:p>
        </p:txBody>
      </p:sp>
      <p:sp>
        <p:nvSpPr>
          <p:cNvPr id="6" name="Text 3"/>
          <p:cNvSpPr/>
          <p:nvPr/>
        </p:nvSpPr>
        <p:spPr>
          <a:xfrm>
            <a:off x="6280190" y="4759643"/>
            <a:ext cx="7556421" cy="127015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405449"/>
                </a:solidFill>
                <a:latin typeface="Nobile" pitchFamily="34" charset="0"/>
                <a:ea typeface="Nobile" pitchFamily="34" charset="-122"/>
                <a:cs typeface="Nobile" pitchFamily="34" charset="-120"/>
              </a:rPr>
              <a:t>L'Organisateur</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en plus des fonctionnalités du joueur (implicitement), peut créer des matchs, gérer les demandes de participation (accepter/refuser), exclure des joueurs, et est également un acteur dans le chat des matchs qu'il organise.</a:t>
            </a:r>
            <a:endParaRPr lang="en-US" sz="1550" dirty="0"/>
          </a:p>
        </p:txBody>
      </p:sp>
      <p:sp>
        <p:nvSpPr>
          <p:cNvPr id="7" name="Text 4"/>
          <p:cNvSpPr/>
          <p:nvPr/>
        </p:nvSpPr>
        <p:spPr>
          <a:xfrm>
            <a:off x="6280190" y="6253043"/>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Les relations d'inclusion et d'extension montrent la granularité et la dépendance entre certains cas d'utilisation, garantissant une compréhension claire des parcours utilisateurs.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834753"/>
            <a:ext cx="5646301" cy="620078"/>
          </a:xfrm>
          <a:prstGeom prst="rect">
            <a:avLst/>
          </a:prstGeom>
          <a:noFill/>
          <a:ln/>
        </p:spPr>
        <p:txBody>
          <a:bodyPr wrap="non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Diagramme de Classes</a:t>
            </a:r>
            <a:endParaRPr lang="en-US" sz="3900" dirty="0"/>
          </a:p>
        </p:txBody>
      </p:sp>
      <p:sp>
        <p:nvSpPr>
          <p:cNvPr id="3" name="Text 1"/>
          <p:cNvSpPr/>
          <p:nvPr/>
        </p:nvSpPr>
        <p:spPr>
          <a:xfrm>
            <a:off x="793790" y="2851666"/>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Le diagramme de classes ci-dessus représente la structure statique des données au sein de MatchUp, détaillant les principales classes (entités) et leurs relations. Il sert de base pour la modélisation de notre base de données Firestore et la structuration de notre logique métier.</a:t>
            </a:r>
            <a:endParaRPr lang="en-US" sz="1550" dirty="0"/>
          </a:p>
        </p:txBody>
      </p:sp>
      <p:sp>
        <p:nvSpPr>
          <p:cNvPr id="4" name="Text 2"/>
          <p:cNvSpPr/>
          <p:nvPr/>
        </p:nvSpPr>
        <p:spPr>
          <a:xfrm>
            <a:off x="793790" y="4027527"/>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405449"/>
                </a:solidFill>
                <a:latin typeface="Nobile" pitchFamily="34" charset="0"/>
                <a:ea typeface="Nobile" pitchFamily="34" charset="-122"/>
                <a:cs typeface="Nobile" pitchFamily="34" charset="-120"/>
              </a:rPr>
              <a:t>User:</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Définit les attributs de base de chaque utilisateur, y compris les informations d'authentification et de profil.</a:t>
            </a:r>
            <a:endParaRPr lang="en-US" sz="1550" dirty="0"/>
          </a:p>
        </p:txBody>
      </p:sp>
      <p:sp>
        <p:nvSpPr>
          <p:cNvPr id="5" name="Text 3"/>
          <p:cNvSpPr/>
          <p:nvPr/>
        </p:nvSpPr>
        <p:spPr>
          <a:xfrm>
            <a:off x="793790" y="4414480"/>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405449"/>
                </a:solidFill>
                <a:latin typeface="Nobile" pitchFamily="34" charset="0"/>
                <a:ea typeface="Nobile" pitchFamily="34" charset="-122"/>
                <a:cs typeface="Nobile" pitchFamily="34" charset="-120"/>
              </a:rPr>
              <a:t>Match:</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Encapsule toutes les informations relatives à un match de football, avec une référence à l'organisateur.</a:t>
            </a:r>
            <a:endParaRPr lang="en-US" sz="1550" dirty="0"/>
          </a:p>
        </p:txBody>
      </p:sp>
      <p:sp>
        <p:nvSpPr>
          <p:cNvPr id="6" name="Text 4"/>
          <p:cNvSpPr/>
          <p:nvPr/>
        </p:nvSpPr>
        <p:spPr>
          <a:xfrm>
            <a:off x="793790" y="4801433"/>
            <a:ext cx="13042821" cy="33278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405449"/>
                </a:solidFill>
                <a:latin typeface="Nobile" pitchFamily="34" charset="0"/>
                <a:ea typeface="Nobile" pitchFamily="34" charset="-122"/>
                <a:cs typeface="Nobile" pitchFamily="34" charset="-120"/>
              </a:rPr>
              <a:t>Participant:</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Une classe d'association qui gère la relation entre un </a:t>
            </a:r>
            <a:pPr algn="l" indent="0" marL="0">
              <a:lnSpc>
                <a:spcPts val="2500"/>
              </a:lnSpc>
              <a:buNone/>
            </a:pPr>
            <a:r>
              <a:rPr lang="en-US" sz="1550" dirty="0">
                <a:solidFill>
                  <a:srgbClr val="405449"/>
                </a:solidFill>
                <a:highlight>
                  <a:srgbClr val="EDF2ED"/>
                </a:highlight>
                <a:latin typeface="Consolas" pitchFamily="34" charset="0"/>
                <a:ea typeface="Consolas" pitchFamily="34" charset="-122"/>
                <a:cs typeface="Consolas" pitchFamily="34" charset="-120"/>
              </a:rPr>
              <a:t>User</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et un </a:t>
            </a:r>
            <a:pPr algn="l" indent="0" marL="0">
              <a:lnSpc>
                <a:spcPts val="2500"/>
              </a:lnSpc>
              <a:buNone/>
            </a:pPr>
            <a:r>
              <a:rPr lang="en-US" sz="1550" dirty="0">
                <a:solidFill>
                  <a:srgbClr val="405449"/>
                </a:solidFill>
                <a:highlight>
                  <a:srgbClr val="EDF2ED"/>
                </a:highlight>
                <a:latin typeface="Consolas" pitchFamily="34" charset="0"/>
                <a:ea typeface="Consolas" pitchFamily="34" charset="-122"/>
                <a:cs typeface="Consolas" pitchFamily="34" charset="-120"/>
              </a:rPr>
              <a:t>Match</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y compris le statut de participation.</a:t>
            </a:r>
            <a:endParaRPr lang="en-US" sz="1550" dirty="0"/>
          </a:p>
        </p:txBody>
      </p:sp>
      <p:sp>
        <p:nvSpPr>
          <p:cNvPr id="7" name="Text 5"/>
          <p:cNvSpPr/>
          <p:nvPr/>
        </p:nvSpPr>
        <p:spPr>
          <a:xfrm>
            <a:off x="793790" y="5203627"/>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405449"/>
                </a:solidFill>
                <a:latin typeface="Nobile" pitchFamily="34" charset="0"/>
                <a:ea typeface="Nobile" pitchFamily="34" charset="-122"/>
                <a:cs typeface="Nobile" pitchFamily="34" charset="-120"/>
              </a:rPr>
              <a:t>Message:</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Représente un message dans le chat d'un match, lié à l'expéditeur et au match.</a:t>
            </a:r>
            <a:endParaRPr lang="en-US" sz="1550" dirty="0"/>
          </a:p>
        </p:txBody>
      </p:sp>
      <p:sp>
        <p:nvSpPr>
          <p:cNvPr id="8" name="Text 6"/>
          <p:cNvSpPr/>
          <p:nvPr/>
        </p:nvSpPr>
        <p:spPr>
          <a:xfrm>
            <a:off x="793790" y="5744408"/>
            <a:ext cx="13042821" cy="6503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Ces classes interagissent via des relations d'association (par exemple, un </a:t>
            </a:r>
            <a:pPr algn="l" indent="0" marL="0">
              <a:lnSpc>
                <a:spcPts val="2500"/>
              </a:lnSpc>
              <a:buNone/>
            </a:pPr>
            <a:r>
              <a:rPr lang="en-US" sz="1550" dirty="0">
                <a:solidFill>
                  <a:srgbClr val="405449"/>
                </a:solidFill>
                <a:highlight>
                  <a:srgbClr val="EDF2ED"/>
                </a:highlight>
                <a:latin typeface="Consolas" pitchFamily="34" charset="0"/>
                <a:ea typeface="Consolas" pitchFamily="34" charset="-122"/>
                <a:cs typeface="Consolas" pitchFamily="34" charset="-120"/>
              </a:rPr>
              <a:t>Match</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a plusieurs </a:t>
            </a:r>
            <a:pPr algn="l" indent="0" marL="0">
              <a:lnSpc>
                <a:spcPts val="2500"/>
              </a:lnSpc>
              <a:buNone/>
            </a:pPr>
            <a:r>
              <a:rPr lang="en-US" sz="1550" dirty="0">
                <a:solidFill>
                  <a:srgbClr val="405449"/>
                </a:solidFill>
                <a:highlight>
                  <a:srgbClr val="EDF2ED"/>
                </a:highlight>
                <a:latin typeface="Consolas" pitchFamily="34" charset="0"/>
                <a:ea typeface="Consolas" pitchFamily="34" charset="-122"/>
                <a:cs typeface="Consolas" pitchFamily="34" charset="-120"/>
              </a:rPr>
              <a:t>Participant</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s) et d'agrégation, reflétant la complexité du système de gestion de matchs.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2582" y="674489"/>
            <a:ext cx="12237958" cy="509826"/>
          </a:xfrm>
          <a:prstGeom prst="rect">
            <a:avLst/>
          </a:prstGeom>
          <a:noFill/>
          <a:ln/>
        </p:spPr>
        <p:txBody>
          <a:bodyPr wrap="none" lIns="0" tIns="0" rIns="0" bIns="0" rtlCol="0" anchor="t"/>
          <a:lstStyle/>
          <a:p>
            <a:pPr algn="l" indent="0" marL="0">
              <a:lnSpc>
                <a:spcPts val="4000"/>
              </a:lnSpc>
              <a:buNone/>
            </a:pPr>
            <a:r>
              <a:rPr lang="en-US" sz="3200" b="1" dirty="0">
                <a:solidFill>
                  <a:srgbClr val="3B4540"/>
                </a:solidFill>
                <a:latin typeface="Fraunces Extra Bold" pitchFamily="34" charset="0"/>
                <a:ea typeface="Fraunces Extra Bold" pitchFamily="34" charset="-122"/>
                <a:cs typeface="Fraunces Extra Bold" pitchFamily="34" charset="-120"/>
              </a:rPr>
              <a:t>Diagramme de Séquence: Demande de Participation et Chat</a:t>
            </a:r>
            <a:endParaRPr lang="en-US" sz="3200" dirty="0"/>
          </a:p>
        </p:txBody>
      </p:sp>
      <p:sp>
        <p:nvSpPr>
          <p:cNvPr id="3" name="Text 1"/>
          <p:cNvSpPr/>
          <p:nvPr/>
        </p:nvSpPr>
        <p:spPr>
          <a:xfrm>
            <a:off x="652582" y="1510546"/>
            <a:ext cx="13325237" cy="521970"/>
          </a:xfrm>
          <a:prstGeom prst="rect">
            <a:avLst/>
          </a:prstGeom>
          <a:noFill/>
          <a:ln/>
        </p:spPr>
        <p:txBody>
          <a:bodyPr wrap="square" lIns="0" tIns="0" rIns="0" bIns="0" rtlCol="0" anchor="t"/>
          <a:lstStyle/>
          <a:p>
            <a:pPr algn="l" indent="0" marL="0">
              <a:lnSpc>
                <a:spcPts val="2050"/>
              </a:lnSpc>
              <a:buNone/>
            </a:pPr>
            <a:r>
              <a:rPr lang="en-US" sz="1250" dirty="0">
                <a:solidFill>
                  <a:srgbClr val="405449"/>
                </a:solidFill>
                <a:latin typeface="Nobile" pitchFamily="34" charset="0"/>
                <a:ea typeface="Nobile" pitchFamily="34" charset="-122"/>
                <a:cs typeface="Nobile" pitchFamily="34" charset="-120"/>
              </a:rPr>
              <a:t>Ce diagramme de séquence illustre un scénario clé de l'application: la demande de participation d'un joueur, son acceptation par l'organisateur, et l'échange de messages dans le chat du match.</a:t>
            </a:r>
            <a:endParaRPr lang="en-US" sz="1250" dirty="0"/>
          </a:p>
        </p:txBody>
      </p:sp>
      <p:pic>
        <p:nvPicPr>
          <p:cNvPr id="4" name="Image 0" descr="preencoded.png">    </p:cNvPr>
          <p:cNvPicPr>
            <a:picLocks noChangeAspect="1"/>
          </p:cNvPicPr>
          <p:nvPr/>
        </p:nvPicPr>
        <p:blipFill>
          <a:blip r:embed="rId1"/>
          <a:stretch>
            <a:fillRect/>
          </a:stretch>
        </p:blipFill>
        <p:spPr>
          <a:xfrm>
            <a:off x="652582" y="2215991"/>
            <a:ext cx="815816" cy="978932"/>
          </a:xfrm>
          <a:prstGeom prst="rect">
            <a:avLst/>
          </a:prstGeom>
        </p:spPr>
      </p:pic>
      <p:sp>
        <p:nvSpPr>
          <p:cNvPr id="5" name="Text 2"/>
          <p:cNvSpPr/>
          <p:nvPr/>
        </p:nvSpPr>
        <p:spPr>
          <a:xfrm>
            <a:off x="1631513" y="2379107"/>
            <a:ext cx="3914418" cy="254913"/>
          </a:xfrm>
          <a:prstGeom prst="rect">
            <a:avLst/>
          </a:prstGeom>
          <a:noFill/>
          <a:ln/>
        </p:spPr>
        <p:txBody>
          <a:bodyPr wrap="none" lIns="0" tIns="0" rIns="0" bIns="0" rtlCol="0" anchor="t"/>
          <a:lstStyle/>
          <a:p>
            <a:pPr algn="l" indent="0" marL="0">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1. Demande d'Adhésion (Join Request)</a:t>
            </a:r>
            <a:endParaRPr lang="en-US" sz="1600" dirty="0"/>
          </a:p>
        </p:txBody>
      </p:sp>
      <p:sp>
        <p:nvSpPr>
          <p:cNvPr id="6" name="Text 3"/>
          <p:cNvSpPr/>
          <p:nvPr/>
        </p:nvSpPr>
        <p:spPr>
          <a:xfrm>
            <a:off x="1631513" y="2731889"/>
            <a:ext cx="12346305" cy="276225"/>
          </a:xfrm>
          <a:prstGeom prst="rect">
            <a:avLst/>
          </a:prstGeom>
          <a:noFill/>
          <a:ln/>
        </p:spPr>
        <p:txBody>
          <a:bodyPr wrap="none" lIns="0" tIns="0" rIns="0" bIns="0" rtlCol="0" anchor="t"/>
          <a:lstStyle/>
          <a:p>
            <a:pPr algn="l" indent="0" marL="0">
              <a:lnSpc>
                <a:spcPts val="2050"/>
              </a:lnSpc>
              <a:buNone/>
            </a:pPr>
            <a:r>
              <a:rPr lang="en-US" sz="1250" dirty="0">
                <a:solidFill>
                  <a:srgbClr val="405449"/>
                </a:solidFill>
                <a:latin typeface="Nobile" pitchFamily="34" charset="0"/>
                <a:ea typeface="Nobile" pitchFamily="34" charset="-122"/>
                <a:cs typeface="Nobile" pitchFamily="34" charset="-120"/>
              </a:rPr>
              <a:t>Le Joueur envoie une demande pour rejoindre un match via l'Application, qui met à jour le statut du participant en </a:t>
            </a:r>
            <a:pPr algn="l" indent="0" marL="0">
              <a:lnSpc>
                <a:spcPts val="2050"/>
              </a:lnSpc>
              <a:buNone/>
            </a:pPr>
            <a:r>
              <a:rPr lang="en-US" sz="1250" dirty="0">
                <a:solidFill>
                  <a:srgbClr val="405449"/>
                </a:solidFill>
                <a:highlight>
                  <a:srgbClr val="EDF2ED"/>
                </a:highlight>
                <a:latin typeface="Consolas" pitchFamily="34" charset="0"/>
                <a:ea typeface="Consolas" pitchFamily="34" charset="-122"/>
                <a:cs typeface="Consolas" pitchFamily="34" charset="-120"/>
              </a:rPr>
              <a:t>PENDING</a:t>
            </a:r>
            <a:pPr algn="l" indent="0" marL="0">
              <a:lnSpc>
                <a:spcPts val="2050"/>
              </a:lnSpc>
              <a:buNone/>
            </a:pPr>
            <a:r>
              <a:rPr lang="en-US" sz="1250" dirty="0">
                <a:solidFill>
                  <a:srgbClr val="405449"/>
                </a:solidFill>
                <a:latin typeface="Nobile" pitchFamily="34" charset="0"/>
                <a:ea typeface="Nobile" pitchFamily="34" charset="-122"/>
                <a:cs typeface="Nobile" pitchFamily="34" charset="-120"/>
              </a:rPr>
              <a:t> dans Firestore.</a:t>
            </a:r>
            <a:endParaRPr lang="en-US" sz="1250" dirty="0"/>
          </a:p>
        </p:txBody>
      </p:sp>
      <p:pic>
        <p:nvPicPr>
          <p:cNvPr id="7" name="Image 1" descr="preencoded.png">    </p:cNvPr>
          <p:cNvPicPr>
            <a:picLocks noChangeAspect="1"/>
          </p:cNvPicPr>
          <p:nvPr/>
        </p:nvPicPr>
        <p:blipFill>
          <a:blip r:embed="rId2"/>
          <a:stretch>
            <a:fillRect/>
          </a:stretch>
        </p:blipFill>
        <p:spPr>
          <a:xfrm>
            <a:off x="652582" y="3194923"/>
            <a:ext cx="815816" cy="978932"/>
          </a:xfrm>
          <a:prstGeom prst="rect">
            <a:avLst/>
          </a:prstGeom>
        </p:spPr>
      </p:pic>
      <p:sp>
        <p:nvSpPr>
          <p:cNvPr id="8" name="Text 4"/>
          <p:cNvSpPr/>
          <p:nvPr/>
        </p:nvSpPr>
        <p:spPr>
          <a:xfrm>
            <a:off x="1631513" y="3358039"/>
            <a:ext cx="3430667" cy="254913"/>
          </a:xfrm>
          <a:prstGeom prst="rect">
            <a:avLst/>
          </a:prstGeom>
          <a:noFill/>
          <a:ln/>
        </p:spPr>
        <p:txBody>
          <a:bodyPr wrap="none" lIns="0" tIns="0" rIns="0" bIns="0" rtlCol="0" anchor="t"/>
          <a:lstStyle/>
          <a:p>
            <a:pPr algn="l" indent="0" marL="0">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2. Acceptation par l'Organisateur</a:t>
            </a:r>
            <a:endParaRPr lang="en-US" sz="1600" dirty="0"/>
          </a:p>
        </p:txBody>
      </p:sp>
      <p:sp>
        <p:nvSpPr>
          <p:cNvPr id="9" name="Text 5"/>
          <p:cNvSpPr/>
          <p:nvPr/>
        </p:nvSpPr>
        <p:spPr>
          <a:xfrm>
            <a:off x="1631513" y="3710821"/>
            <a:ext cx="12346305" cy="276225"/>
          </a:xfrm>
          <a:prstGeom prst="rect">
            <a:avLst/>
          </a:prstGeom>
          <a:noFill/>
          <a:ln/>
        </p:spPr>
        <p:txBody>
          <a:bodyPr wrap="none" lIns="0" tIns="0" rIns="0" bIns="0" rtlCol="0" anchor="t"/>
          <a:lstStyle/>
          <a:p>
            <a:pPr algn="l" indent="0" marL="0">
              <a:lnSpc>
                <a:spcPts val="2050"/>
              </a:lnSpc>
              <a:buNone/>
            </a:pPr>
            <a:r>
              <a:rPr lang="en-US" sz="1250" dirty="0">
                <a:solidFill>
                  <a:srgbClr val="405449"/>
                </a:solidFill>
                <a:latin typeface="Nobile" pitchFamily="34" charset="0"/>
                <a:ea typeface="Nobile" pitchFamily="34" charset="-122"/>
                <a:cs typeface="Nobile" pitchFamily="34" charset="-120"/>
              </a:rPr>
              <a:t>L'Organisateur, via l'Application, accepte la demande du Joueur. L'Application met à jour le statut du participant en </a:t>
            </a:r>
            <a:pPr algn="l" indent="0" marL="0">
              <a:lnSpc>
                <a:spcPts val="2050"/>
              </a:lnSpc>
              <a:buNone/>
            </a:pPr>
            <a:r>
              <a:rPr lang="en-US" sz="1250" dirty="0">
                <a:solidFill>
                  <a:srgbClr val="405449"/>
                </a:solidFill>
                <a:highlight>
                  <a:srgbClr val="EDF2ED"/>
                </a:highlight>
                <a:latin typeface="Consolas" pitchFamily="34" charset="0"/>
                <a:ea typeface="Consolas" pitchFamily="34" charset="-122"/>
                <a:cs typeface="Consolas" pitchFamily="34" charset="-120"/>
              </a:rPr>
              <a:t>ACCEPTED</a:t>
            </a:r>
            <a:pPr algn="l" indent="0" marL="0">
              <a:lnSpc>
                <a:spcPts val="2050"/>
              </a:lnSpc>
              <a:buNone/>
            </a:pPr>
            <a:r>
              <a:rPr lang="en-US" sz="1250" dirty="0">
                <a:solidFill>
                  <a:srgbClr val="405449"/>
                </a:solidFill>
                <a:latin typeface="Nobile" pitchFamily="34" charset="0"/>
                <a:ea typeface="Nobile" pitchFamily="34" charset="-122"/>
                <a:cs typeface="Nobile" pitchFamily="34" charset="-120"/>
              </a:rPr>
              <a:t> dans Firestore.</a:t>
            </a:r>
            <a:endParaRPr lang="en-US" sz="1250" dirty="0"/>
          </a:p>
        </p:txBody>
      </p:sp>
      <p:pic>
        <p:nvPicPr>
          <p:cNvPr id="10" name="Image 2" descr="preencoded.png">    </p:cNvPr>
          <p:cNvPicPr>
            <a:picLocks noChangeAspect="1"/>
          </p:cNvPicPr>
          <p:nvPr/>
        </p:nvPicPr>
        <p:blipFill>
          <a:blip r:embed="rId3"/>
          <a:stretch>
            <a:fillRect/>
          </a:stretch>
        </p:blipFill>
        <p:spPr>
          <a:xfrm>
            <a:off x="652582" y="4173855"/>
            <a:ext cx="815816" cy="978932"/>
          </a:xfrm>
          <a:prstGeom prst="rect">
            <a:avLst/>
          </a:prstGeom>
        </p:spPr>
      </p:pic>
      <p:sp>
        <p:nvSpPr>
          <p:cNvPr id="11" name="Text 6"/>
          <p:cNvSpPr/>
          <p:nvPr/>
        </p:nvSpPr>
        <p:spPr>
          <a:xfrm>
            <a:off x="1631513" y="4336971"/>
            <a:ext cx="2855357" cy="254913"/>
          </a:xfrm>
          <a:prstGeom prst="rect">
            <a:avLst/>
          </a:prstGeom>
          <a:noFill/>
          <a:ln/>
        </p:spPr>
        <p:txBody>
          <a:bodyPr wrap="none" lIns="0" tIns="0" rIns="0" bIns="0" rtlCol="0" anchor="t"/>
          <a:lstStyle/>
          <a:p>
            <a:pPr algn="l" indent="0" marL="0">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3. Le Joueur Accède au Chat</a:t>
            </a:r>
            <a:endParaRPr lang="en-US" sz="1600" dirty="0"/>
          </a:p>
        </p:txBody>
      </p:sp>
      <p:sp>
        <p:nvSpPr>
          <p:cNvPr id="12" name="Text 7"/>
          <p:cNvSpPr/>
          <p:nvPr/>
        </p:nvSpPr>
        <p:spPr>
          <a:xfrm>
            <a:off x="1631513" y="4689753"/>
            <a:ext cx="12346305" cy="260985"/>
          </a:xfrm>
          <a:prstGeom prst="rect">
            <a:avLst/>
          </a:prstGeom>
          <a:noFill/>
          <a:ln/>
        </p:spPr>
        <p:txBody>
          <a:bodyPr wrap="none" lIns="0" tIns="0" rIns="0" bIns="0" rtlCol="0" anchor="t"/>
          <a:lstStyle/>
          <a:p>
            <a:pPr algn="l" indent="0" marL="0">
              <a:lnSpc>
                <a:spcPts val="2050"/>
              </a:lnSpc>
              <a:buNone/>
            </a:pPr>
            <a:r>
              <a:rPr lang="en-US" sz="1250" dirty="0">
                <a:solidFill>
                  <a:srgbClr val="405449"/>
                </a:solidFill>
                <a:latin typeface="Nobile" pitchFamily="34" charset="0"/>
                <a:ea typeface="Nobile" pitchFamily="34" charset="-122"/>
                <a:cs typeface="Nobile" pitchFamily="34" charset="-120"/>
              </a:rPr>
              <a:t>Une fois accepté, le Joueur a accès au chat du match via l'Application, qui récupère les messages de Firestore.</a:t>
            </a:r>
            <a:endParaRPr lang="en-US" sz="1250" dirty="0"/>
          </a:p>
        </p:txBody>
      </p:sp>
      <p:pic>
        <p:nvPicPr>
          <p:cNvPr id="13" name="Image 3" descr="preencoded.png">    </p:cNvPr>
          <p:cNvPicPr>
            <a:picLocks noChangeAspect="1"/>
          </p:cNvPicPr>
          <p:nvPr/>
        </p:nvPicPr>
        <p:blipFill>
          <a:blip r:embed="rId4"/>
          <a:stretch>
            <a:fillRect/>
          </a:stretch>
        </p:blipFill>
        <p:spPr>
          <a:xfrm>
            <a:off x="652582" y="5152787"/>
            <a:ext cx="815816" cy="978932"/>
          </a:xfrm>
          <a:prstGeom prst="rect">
            <a:avLst/>
          </a:prstGeom>
        </p:spPr>
      </p:pic>
      <p:sp>
        <p:nvSpPr>
          <p:cNvPr id="14" name="Text 8"/>
          <p:cNvSpPr/>
          <p:nvPr/>
        </p:nvSpPr>
        <p:spPr>
          <a:xfrm>
            <a:off x="1631513" y="5315903"/>
            <a:ext cx="3333155" cy="254913"/>
          </a:xfrm>
          <a:prstGeom prst="rect">
            <a:avLst/>
          </a:prstGeom>
          <a:noFill/>
          <a:ln/>
        </p:spPr>
        <p:txBody>
          <a:bodyPr wrap="none" lIns="0" tIns="0" rIns="0" bIns="0" rtlCol="0" anchor="t"/>
          <a:lstStyle/>
          <a:p>
            <a:pPr algn="l" indent="0" marL="0">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4. Envoi de Message dans le Chat</a:t>
            </a:r>
            <a:endParaRPr lang="en-US" sz="1600" dirty="0"/>
          </a:p>
        </p:txBody>
      </p:sp>
      <p:sp>
        <p:nvSpPr>
          <p:cNvPr id="15" name="Text 9"/>
          <p:cNvSpPr/>
          <p:nvPr/>
        </p:nvSpPr>
        <p:spPr>
          <a:xfrm>
            <a:off x="1631513" y="5668685"/>
            <a:ext cx="12346305" cy="276225"/>
          </a:xfrm>
          <a:prstGeom prst="rect">
            <a:avLst/>
          </a:prstGeom>
          <a:noFill/>
          <a:ln/>
        </p:spPr>
        <p:txBody>
          <a:bodyPr wrap="none" lIns="0" tIns="0" rIns="0" bIns="0" rtlCol="0" anchor="t"/>
          <a:lstStyle/>
          <a:p>
            <a:pPr algn="l" indent="0" marL="0">
              <a:lnSpc>
                <a:spcPts val="2050"/>
              </a:lnSpc>
              <a:buNone/>
            </a:pPr>
            <a:r>
              <a:rPr lang="en-US" sz="1250" dirty="0">
                <a:solidFill>
                  <a:srgbClr val="405449"/>
                </a:solidFill>
                <a:latin typeface="Nobile" pitchFamily="34" charset="0"/>
                <a:ea typeface="Nobile" pitchFamily="34" charset="-122"/>
                <a:cs typeface="Nobile" pitchFamily="34" charset="-120"/>
              </a:rPr>
              <a:t>Le Joueur peut envoyer un message dans le chat. L'Application stocke le message dans la sous-collection </a:t>
            </a:r>
            <a:pPr algn="l" indent="0" marL="0">
              <a:lnSpc>
                <a:spcPts val="2050"/>
              </a:lnSpc>
              <a:buNone/>
            </a:pPr>
            <a:r>
              <a:rPr lang="en-US" sz="1250" dirty="0">
                <a:solidFill>
                  <a:srgbClr val="405449"/>
                </a:solidFill>
                <a:highlight>
                  <a:srgbClr val="EDF2ED"/>
                </a:highlight>
                <a:latin typeface="Consolas" pitchFamily="34" charset="0"/>
                <a:ea typeface="Consolas" pitchFamily="34" charset="-122"/>
                <a:cs typeface="Consolas" pitchFamily="34" charset="-120"/>
              </a:rPr>
              <a:t>messages</a:t>
            </a:r>
            <a:pPr algn="l" indent="0" marL="0">
              <a:lnSpc>
                <a:spcPts val="2050"/>
              </a:lnSpc>
              <a:buNone/>
            </a:pPr>
            <a:r>
              <a:rPr lang="en-US" sz="1250" dirty="0">
                <a:solidFill>
                  <a:srgbClr val="405449"/>
                </a:solidFill>
                <a:latin typeface="Nobile" pitchFamily="34" charset="0"/>
                <a:ea typeface="Nobile" pitchFamily="34" charset="-122"/>
                <a:cs typeface="Nobile" pitchFamily="34" charset="-120"/>
              </a:rPr>
              <a:t> de Firestore.</a:t>
            </a:r>
            <a:endParaRPr lang="en-US" sz="1250" dirty="0"/>
          </a:p>
        </p:txBody>
      </p:sp>
      <p:pic>
        <p:nvPicPr>
          <p:cNvPr id="16" name="Image 4" descr="preencoded.png">    </p:cNvPr>
          <p:cNvPicPr>
            <a:picLocks noChangeAspect="1"/>
          </p:cNvPicPr>
          <p:nvPr/>
        </p:nvPicPr>
        <p:blipFill>
          <a:blip r:embed="rId5"/>
          <a:stretch>
            <a:fillRect/>
          </a:stretch>
        </p:blipFill>
        <p:spPr>
          <a:xfrm>
            <a:off x="652582" y="6131719"/>
            <a:ext cx="815816" cy="978932"/>
          </a:xfrm>
          <a:prstGeom prst="rect">
            <a:avLst/>
          </a:prstGeom>
        </p:spPr>
      </p:pic>
      <p:sp>
        <p:nvSpPr>
          <p:cNvPr id="17" name="Text 10"/>
          <p:cNvSpPr/>
          <p:nvPr/>
        </p:nvSpPr>
        <p:spPr>
          <a:xfrm>
            <a:off x="1631513" y="6294834"/>
            <a:ext cx="4432697" cy="254913"/>
          </a:xfrm>
          <a:prstGeom prst="rect">
            <a:avLst/>
          </a:prstGeom>
          <a:noFill/>
          <a:ln/>
        </p:spPr>
        <p:txBody>
          <a:bodyPr wrap="none" lIns="0" tIns="0" rIns="0" bIns="0" rtlCol="0" anchor="t"/>
          <a:lstStyle/>
          <a:p>
            <a:pPr algn="l" indent="0" marL="0">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5. Réception de Message par l'Organisateur</a:t>
            </a:r>
            <a:endParaRPr lang="en-US" sz="1600" dirty="0"/>
          </a:p>
        </p:txBody>
      </p:sp>
      <p:sp>
        <p:nvSpPr>
          <p:cNvPr id="18" name="Text 11"/>
          <p:cNvSpPr/>
          <p:nvPr/>
        </p:nvSpPr>
        <p:spPr>
          <a:xfrm>
            <a:off x="1631513" y="6647617"/>
            <a:ext cx="12346305" cy="276225"/>
          </a:xfrm>
          <a:prstGeom prst="rect">
            <a:avLst/>
          </a:prstGeom>
          <a:noFill/>
          <a:ln/>
        </p:spPr>
        <p:txBody>
          <a:bodyPr wrap="none" lIns="0" tIns="0" rIns="0" bIns="0" rtlCol="0" anchor="t"/>
          <a:lstStyle/>
          <a:p>
            <a:pPr algn="l" indent="0" marL="0">
              <a:lnSpc>
                <a:spcPts val="2050"/>
              </a:lnSpc>
              <a:buNone/>
            </a:pPr>
            <a:r>
              <a:rPr lang="en-US" sz="1250" dirty="0">
                <a:solidFill>
                  <a:srgbClr val="405449"/>
                </a:solidFill>
                <a:latin typeface="Nobile" pitchFamily="34" charset="0"/>
                <a:ea typeface="Nobile" pitchFamily="34" charset="-122"/>
                <a:cs typeface="Nobile" pitchFamily="34" charset="-120"/>
              </a:rPr>
              <a:t>L'Organisateur reçoit le message en temps réel via l'Application, qui est abonné aux mises à jour de la sous-collection </a:t>
            </a:r>
            <a:pPr algn="l" indent="0" marL="0">
              <a:lnSpc>
                <a:spcPts val="2050"/>
              </a:lnSpc>
              <a:buNone/>
            </a:pPr>
            <a:r>
              <a:rPr lang="en-US" sz="1250" dirty="0">
                <a:solidFill>
                  <a:srgbClr val="405449"/>
                </a:solidFill>
                <a:highlight>
                  <a:srgbClr val="EDF2ED"/>
                </a:highlight>
                <a:latin typeface="Consolas" pitchFamily="34" charset="0"/>
                <a:ea typeface="Consolas" pitchFamily="34" charset="-122"/>
                <a:cs typeface="Consolas" pitchFamily="34" charset="-120"/>
              </a:rPr>
              <a:t>messages</a:t>
            </a:r>
            <a:pPr algn="l" indent="0" marL="0">
              <a:lnSpc>
                <a:spcPts val="2050"/>
              </a:lnSpc>
              <a:buNone/>
            </a:pPr>
            <a:r>
              <a:rPr lang="en-US" sz="1250" dirty="0">
                <a:solidFill>
                  <a:srgbClr val="405449"/>
                </a:solidFill>
                <a:latin typeface="Nobile" pitchFamily="34" charset="0"/>
                <a:ea typeface="Nobile" pitchFamily="34" charset="-122"/>
                <a:cs typeface="Nobile" pitchFamily="34" charset="-120"/>
              </a:rPr>
              <a:t>.</a:t>
            </a:r>
            <a:endParaRPr lang="en-US" sz="1250" dirty="0"/>
          </a:p>
        </p:txBody>
      </p:sp>
      <p:sp>
        <p:nvSpPr>
          <p:cNvPr id="19" name="Text 12"/>
          <p:cNvSpPr/>
          <p:nvPr/>
        </p:nvSpPr>
        <p:spPr>
          <a:xfrm>
            <a:off x="652582" y="7294126"/>
            <a:ext cx="13325237" cy="260985"/>
          </a:xfrm>
          <a:prstGeom prst="rect">
            <a:avLst/>
          </a:prstGeom>
          <a:noFill/>
          <a:ln/>
        </p:spPr>
        <p:txBody>
          <a:bodyPr wrap="none" lIns="0" tIns="0" rIns="0" bIns="0" rtlCol="0" anchor="t"/>
          <a:lstStyle/>
          <a:p>
            <a:pPr algn="l" indent="0" marL="0">
              <a:lnSpc>
                <a:spcPts val="2050"/>
              </a:lnSpc>
              <a:buNone/>
            </a:pPr>
            <a:r>
              <a:rPr lang="en-US" sz="1250" dirty="0">
                <a:solidFill>
                  <a:srgbClr val="405449"/>
                </a:solidFill>
                <a:latin typeface="Nobile" pitchFamily="34" charset="0"/>
                <a:ea typeface="Nobile" pitchFamily="34" charset="-122"/>
                <a:cs typeface="Nobile" pitchFamily="34" charset="-120"/>
              </a:rPr>
              <a:t>Ce flux met en évidence l'interaction en temps réel avec Firestore et la logique de gestion des statuts des participants.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03540" y="763191"/>
            <a:ext cx="7941469" cy="549712"/>
          </a:xfrm>
          <a:prstGeom prst="rect">
            <a:avLst/>
          </a:prstGeom>
          <a:noFill/>
          <a:ln/>
        </p:spPr>
        <p:txBody>
          <a:bodyPr wrap="none" lIns="0" tIns="0" rIns="0" bIns="0" rtlCol="0" anchor="t"/>
          <a:lstStyle/>
          <a:p>
            <a:pPr algn="l" indent="0" marL="0">
              <a:lnSpc>
                <a:spcPts val="4300"/>
              </a:lnSpc>
              <a:buNone/>
            </a:pPr>
            <a:r>
              <a:rPr lang="en-US" sz="3450" b="1" dirty="0">
                <a:solidFill>
                  <a:srgbClr val="3B4540"/>
                </a:solidFill>
                <a:latin typeface="Fraunces Extra Bold" pitchFamily="34" charset="0"/>
                <a:ea typeface="Fraunces Extra Bold" pitchFamily="34" charset="-122"/>
                <a:cs typeface="Fraunces Extra Bold" pitchFamily="34" charset="-120"/>
              </a:rPr>
              <a:t>Règles Métier et Gestion des Statuts</a:t>
            </a:r>
            <a:endParaRPr lang="en-US" sz="3450" dirty="0"/>
          </a:p>
        </p:txBody>
      </p:sp>
      <p:sp>
        <p:nvSpPr>
          <p:cNvPr id="3" name="Text 1"/>
          <p:cNvSpPr/>
          <p:nvPr/>
        </p:nvSpPr>
        <p:spPr>
          <a:xfrm>
            <a:off x="703540" y="1664613"/>
            <a:ext cx="13223319" cy="562689"/>
          </a:xfrm>
          <a:prstGeom prst="rect">
            <a:avLst/>
          </a:prstGeom>
          <a:noFill/>
          <a:ln/>
        </p:spPr>
        <p:txBody>
          <a:bodyPr wrap="square" lIns="0" tIns="0" rIns="0" bIns="0" rtlCol="0" anchor="t"/>
          <a:lstStyle/>
          <a:p>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Pour assurer un fonctionnement juste et cohérent, MatchUp intègre des règles métier strictes, notamment autour de la gestion des statuts des participants et de la capacité des matchs.</a:t>
            </a:r>
            <a:endParaRPr lang="en-US" sz="1350" dirty="0"/>
          </a:p>
        </p:txBody>
      </p:sp>
      <p:sp>
        <p:nvSpPr>
          <p:cNvPr id="4" name="Shape 2"/>
          <p:cNvSpPr/>
          <p:nvPr/>
        </p:nvSpPr>
        <p:spPr>
          <a:xfrm>
            <a:off x="703540" y="2689027"/>
            <a:ext cx="4290536" cy="4016812"/>
          </a:xfrm>
          <a:prstGeom prst="roundRect">
            <a:avLst>
              <a:gd name="adj" fmla="val 2732"/>
            </a:avLst>
          </a:prstGeom>
          <a:solidFill>
            <a:srgbClr val="FAFFFA"/>
          </a:solidFill>
          <a:ln/>
        </p:spPr>
      </p:sp>
      <p:sp>
        <p:nvSpPr>
          <p:cNvPr id="5" name="Shape 3"/>
          <p:cNvSpPr/>
          <p:nvPr/>
        </p:nvSpPr>
        <p:spPr>
          <a:xfrm>
            <a:off x="703540" y="2666167"/>
            <a:ext cx="4290536" cy="91440"/>
          </a:xfrm>
          <a:prstGeom prst="roundRect">
            <a:avLst>
              <a:gd name="adj" fmla="val 173143"/>
            </a:avLst>
          </a:prstGeom>
          <a:solidFill>
            <a:srgbClr val="438951"/>
          </a:solidFill>
          <a:ln/>
        </p:spPr>
      </p:sp>
      <p:sp>
        <p:nvSpPr>
          <p:cNvPr id="6" name="Shape 4"/>
          <p:cNvSpPr/>
          <p:nvPr/>
        </p:nvSpPr>
        <p:spPr>
          <a:xfrm>
            <a:off x="2584966" y="2425184"/>
            <a:ext cx="527685" cy="527685"/>
          </a:xfrm>
          <a:prstGeom prst="roundRect">
            <a:avLst>
              <a:gd name="adj" fmla="val 173285"/>
            </a:avLst>
          </a:prstGeom>
          <a:solidFill>
            <a:srgbClr val="438951"/>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43319" y="2583537"/>
            <a:ext cx="210979" cy="210979"/>
          </a:xfrm>
          <a:prstGeom prst="rect">
            <a:avLst/>
          </a:prstGeom>
        </p:spPr>
      </p:pic>
      <p:sp>
        <p:nvSpPr>
          <p:cNvPr id="8" name="Text 5"/>
          <p:cNvSpPr/>
          <p:nvPr/>
        </p:nvSpPr>
        <p:spPr>
          <a:xfrm>
            <a:off x="902256" y="3128724"/>
            <a:ext cx="2680216" cy="274796"/>
          </a:xfrm>
          <a:prstGeom prst="rect">
            <a:avLst/>
          </a:prstGeom>
          <a:noFill/>
          <a:ln/>
        </p:spPr>
        <p:txBody>
          <a:bodyPr wrap="none" lIns="0" tIns="0" rIns="0" bIns="0" rtlCol="0" anchor="t"/>
          <a:lstStyle/>
          <a:p>
            <a:pPr algn="l" indent="0" marL="0">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Statuts des Participants</a:t>
            </a:r>
            <a:endParaRPr lang="en-US" sz="1700" dirty="0"/>
          </a:p>
        </p:txBody>
      </p:sp>
      <p:sp>
        <p:nvSpPr>
          <p:cNvPr id="9" name="Text 6"/>
          <p:cNvSpPr/>
          <p:nvPr/>
        </p:nvSpPr>
        <p:spPr>
          <a:xfrm>
            <a:off x="902256" y="3509010"/>
            <a:ext cx="3893106" cy="562689"/>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405449"/>
                </a:solidFill>
                <a:latin typeface="Nobile" pitchFamily="34" charset="0"/>
                <a:ea typeface="Nobile" pitchFamily="34" charset="-122"/>
                <a:cs typeface="Nobile" pitchFamily="34" charset="-120"/>
              </a:rPr>
              <a:t>PENDING:</a:t>
            </a:r>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 Demande de participation en attente de validation par l'organisateur.</a:t>
            </a:r>
            <a:endParaRPr lang="en-US" sz="1350" dirty="0"/>
          </a:p>
        </p:txBody>
      </p:sp>
      <p:sp>
        <p:nvSpPr>
          <p:cNvPr id="10" name="Text 7"/>
          <p:cNvSpPr/>
          <p:nvPr/>
        </p:nvSpPr>
        <p:spPr>
          <a:xfrm>
            <a:off x="902256" y="4133255"/>
            <a:ext cx="3893106" cy="562689"/>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405449"/>
                </a:solidFill>
                <a:latin typeface="Nobile" pitchFamily="34" charset="0"/>
                <a:ea typeface="Nobile" pitchFamily="34" charset="-122"/>
                <a:cs typeface="Nobile" pitchFamily="34" charset="-120"/>
              </a:rPr>
              <a:t>ACCEPTED:</a:t>
            </a:r>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 Le joueur est officiellement inscrit et a accès au chat du match.</a:t>
            </a:r>
            <a:endParaRPr lang="en-US" sz="1350" dirty="0"/>
          </a:p>
        </p:txBody>
      </p:sp>
      <p:sp>
        <p:nvSpPr>
          <p:cNvPr id="11" name="Text 8"/>
          <p:cNvSpPr/>
          <p:nvPr/>
        </p:nvSpPr>
        <p:spPr>
          <a:xfrm>
            <a:off x="902256" y="4757499"/>
            <a:ext cx="3893106" cy="844034"/>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405449"/>
                </a:solidFill>
                <a:latin typeface="Nobile" pitchFamily="34" charset="0"/>
                <a:ea typeface="Nobile" pitchFamily="34" charset="-122"/>
                <a:cs typeface="Nobile" pitchFamily="34" charset="-120"/>
              </a:rPr>
              <a:t>REJECTED:</a:t>
            </a:r>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 La demande du joueur a été refusée par l'organisateur. Le joueur ne peut pas rejoindre le match.</a:t>
            </a:r>
            <a:endParaRPr lang="en-US" sz="1350" dirty="0"/>
          </a:p>
        </p:txBody>
      </p:sp>
      <p:sp>
        <p:nvSpPr>
          <p:cNvPr id="12" name="Text 9"/>
          <p:cNvSpPr/>
          <p:nvPr/>
        </p:nvSpPr>
        <p:spPr>
          <a:xfrm>
            <a:off x="902256" y="5663089"/>
            <a:ext cx="3893106" cy="844034"/>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405449"/>
                </a:solidFill>
                <a:latin typeface="Nobile" pitchFamily="34" charset="0"/>
                <a:ea typeface="Nobile" pitchFamily="34" charset="-122"/>
                <a:cs typeface="Nobile" pitchFamily="34" charset="-120"/>
              </a:rPr>
              <a:t>KICKED:</a:t>
            </a:r>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 Le joueur a été exclu du match par l'organisateur. Il perd l'accès au chat et ne peut plus se réinscrire.</a:t>
            </a:r>
            <a:endParaRPr lang="en-US" sz="1350" dirty="0"/>
          </a:p>
        </p:txBody>
      </p:sp>
      <p:sp>
        <p:nvSpPr>
          <p:cNvPr id="13" name="Shape 10"/>
          <p:cNvSpPr/>
          <p:nvPr/>
        </p:nvSpPr>
        <p:spPr>
          <a:xfrm>
            <a:off x="5169932" y="2689027"/>
            <a:ext cx="4290536" cy="4016812"/>
          </a:xfrm>
          <a:prstGeom prst="roundRect">
            <a:avLst>
              <a:gd name="adj" fmla="val 2732"/>
            </a:avLst>
          </a:prstGeom>
          <a:solidFill>
            <a:srgbClr val="FAFFFA"/>
          </a:solidFill>
          <a:ln/>
        </p:spPr>
      </p:sp>
      <p:sp>
        <p:nvSpPr>
          <p:cNvPr id="14" name="Shape 11"/>
          <p:cNvSpPr/>
          <p:nvPr/>
        </p:nvSpPr>
        <p:spPr>
          <a:xfrm>
            <a:off x="5169932" y="2666167"/>
            <a:ext cx="4290536" cy="91440"/>
          </a:xfrm>
          <a:prstGeom prst="roundRect">
            <a:avLst>
              <a:gd name="adj" fmla="val 173143"/>
            </a:avLst>
          </a:prstGeom>
          <a:solidFill>
            <a:srgbClr val="438951"/>
          </a:solidFill>
          <a:ln/>
        </p:spPr>
      </p:sp>
      <p:sp>
        <p:nvSpPr>
          <p:cNvPr id="15" name="Shape 12"/>
          <p:cNvSpPr/>
          <p:nvPr/>
        </p:nvSpPr>
        <p:spPr>
          <a:xfrm>
            <a:off x="7051358" y="2425184"/>
            <a:ext cx="527685" cy="527685"/>
          </a:xfrm>
          <a:prstGeom prst="roundRect">
            <a:avLst>
              <a:gd name="adj" fmla="val 173285"/>
            </a:avLst>
          </a:prstGeom>
          <a:solidFill>
            <a:srgbClr val="438951"/>
          </a:solidFill>
          <a:ln/>
        </p:spPr>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9711" y="2583537"/>
            <a:ext cx="210979" cy="210979"/>
          </a:xfrm>
          <a:prstGeom prst="rect">
            <a:avLst/>
          </a:prstGeom>
        </p:spPr>
      </p:pic>
      <p:sp>
        <p:nvSpPr>
          <p:cNvPr id="17" name="Text 13"/>
          <p:cNvSpPr/>
          <p:nvPr/>
        </p:nvSpPr>
        <p:spPr>
          <a:xfrm>
            <a:off x="5368647" y="3128724"/>
            <a:ext cx="3248144" cy="274796"/>
          </a:xfrm>
          <a:prstGeom prst="rect">
            <a:avLst/>
          </a:prstGeom>
          <a:noFill/>
          <a:ln/>
        </p:spPr>
        <p:txBody>
          <a:bodyPr wrap="none" lIns="0" tIns="0" rIns="0" bIns="0" rtlCol="0" anchor="t"/>
          <a:lstStyle/>
          <a:p>
            <a:pPr algn="l" indent="0" marL="0">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Gestion de la Capacité (FULL)</a:t>
            </a:r>
            <a:endParaRPr lang="en-US" sz="1700" dirty="0"/>
          </a:p>
        </p:txBody>
      </p:sp>
      <p:sp>
        <p:nvSpPr>
          <p:cNvPr id="18" name="Text 14"/>
          <p:cNvSpPr/>
          <p:nvPr/>
        </p:nvSpPr>
        <p:spPr>
          <a:xfrm>
            <a:off x="5368647" y="3509010"/>
            <a:ext cx="3893106" cy="608409"/>
          </a:xfrm>
          <a:prstGeom prst="rect">
            <a:avLst/>
          </a:prstGeom>
          <a:noFill/>
          <a:ln/>
        </p:spPr>
        <p:txBody>
          <a:bodyPr wrap="square" lIns="0" tIns="0" rIns="0" bIns="0" rtlCol="0" anchor="t"/>
          <a:lstStyle/>
          <a:p>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Lorsque le nombre de participants </a:t>
            </a:r>
            <a:pPr algn="l" indent="0" marL="0">
              <a:lnSpc>
                <a:spcPts val="2200"/>
              </a:lnSpc>
              <a:buNone/>
            </a:pPr>
            <a:r>
              <a:rPr lang="en-US" sz="1350" dirty="0">
                <a:solidFill>
                  <a:srgbClr val="405449"/>
                </a:solidFill>
                <a:highlight>
                  <a:srgbClr val="EDF2ED"/>
                </a:highlight>
                <a:latin typeface="Consolas" pitchFamily="34" charset="0"/>
                <a:ea typeface="Consolas" pitchFamily="34" charset="-122"/>
                <a:cs typeface="Consolas" pitchFamily="34" charset="-120"/>
              </a:rPr>
              <a:t>ACCEPTED</a:t>
            </a:r>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 atteint la </a:t>
            </a:r>
            <a:pPr algn="l" indent="0" marL="0">
              <a:lnSpc>
                <a:spcPts val="2200"/>
              </a:lnSpc>
              <a:buNone/>
            </a:pPr>
            <a:r>
              <a:rPr lang="en-US" sz="1350" dirty="0">
                <a:solidFill>
                  <a:srgbClr val="405449"/>
                </a:solidFill>
                <a:highlight>
                  <a:srgbClr val="EDF2ED"/>
                </a:highlight>
                <a:latin typeface="Consolas" pitchFamily="34" charset="0"/>
                <a:ea typeface="Consolas" pitchFamily="34" charset="-122"/>
                <a:cs typeface="Consolas" pitchFamily="34" charset="-120"/>
              </a:rPr>
              <a:t>capacity</a:t>
            </a:r>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 maximale du match:</a:t>
            </a:r>
            <a:endParaRPr lang="en-US" sz="1350" dirty="0"/>
          </a:p>
        </p:txBody>
      </p:sp>
      <p:sp>
        <p:nvSpPr>
          <p:cNvPr id="19" name="Text 15"/>
          <p:cNvSpPr/>
          <p:nvPr/>
        </p:nvSpPr>
        <p:spPr>
          <a:xfrm>
            <a:off x="5368647" y="4222909"/>
            <a:ext cx="3893106" cy="1148239"/>
          </a:xfrm>
          <a:prstGeom prst="rect">
            <a:avLst/>
          </a:prstGeom>
          <a:noFill/>
          <a:ln/>
        </p:spPr>
        <p:txBody>
          <a:bodyPr wrap="square" lIns="0" tIns="0" rIns="0" bIns="0" rtlCol="0" anchor="t"/>
          <a:lstStyle/>
          <a:p>
            <a:pPr algn="l" marL="342900" indent="-342900">
              <a:lnSpc>
                <a:spcPts val="2200"/>
              </a:lnSpc>
              <a:buSzPct val="100000"/>
              <a:buChar char="•"/>
            </a:pPr>
            <a:r>
              <a:rPr lang="en-US" sz="1350" dirty="0">
                <a:solidFill>
                  <a:srgbClr val="405449"/>
                </a:solidFill>
                <a:latin typeface="Nobile" pitchFamily="34" charset="0"/>
                <a:ea typeface="Nobile" pitchFamily="34" charset="-122"/>
                <a:cs typeface="Nobile" pitchFamily="34" charset="-120"/>
              </a:rPr>
              <a:t>De nouvelles demandes passent automatiquement en </a:t>
            </a:r>
            <a:pPr algn="l" indent="0" marL="0">
              <a:lnSpc>
                <a:spcPts val="2200"/>
              </a:lnSpc>
              <a:buNone/>
            </a:pPr>
            <a:r>
              <a:rPr lang="en-US" sz="1350" dirty="0">
                <a:solidFill>
                  <a:srgbClr val="405449"/>
                </a:solidFill>
                <a:highlight>
                  <a:srgbClr val="EDF2ED"/>
                </a:highlight>
                <a:latin typeface="Consolas" pitchFamily="34" charset="0"/>
                <a:ea typeface="Consolas" pitchFamily="34" charset="-122"/>
                <a:cs typeface="Consolas" pitchFamily="34" charset="-120"/>
              </a:rPr>
              <a:t>PENDING</a:t>
            </a:r>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 ou sont refusées si une liste d'attente n'est pas gérée.</a:t>
            </a:r>
            <a:endParaRPr lang="en-US" sz="1350" dirty="0"/>
          </a:p>
        </p:txBody>
      </p:sp>
      <p:sp>
        <p:nvSpPr>
          <p:cNvPr id="20" name="Text 16"/>
          <p:cNvSpPr/>
          <p:nvPr/>
        </p:nvSpPr>
        <p:spPr>
          <a:xfrm>
            <a:off x="5368647" y="5432703"/>
            <a:ext cx="3893106" cy="562689"/>
          </a:xfrm>
          <a:prstGeom prst="rect">
            <a:avLst/>
          </a:prstGeom>
          <a:noFill/>
          <a:ln/>
        </p:spPr>
        <p:txBody>
          <a:bodyPr wrap="square" lIns="0" tIns="0" rIns="0" bIns="0" rtlCol="0" anchor="t"/>
          <a:lstStyle/>
          <a:p>
            <a:pPr algn="l" marL="342900" indent="-342900">
              <a:lnSpc>
                <a:spcPts val="2200"/>
              </a:lnSpc>
              <a:buSzPct val="100000"/>
              <a:buChar char="•"/>
            </a:pPr>
            <a:r>
              <a:rPr lang="en-US" sz="1350" dirty="0">
                <a:solidFill>
                  <a:srgbClr val="405449"/>
                </a:solidFill>
                <a:latin typeface="Nobile" pitchFamily="34" charset="0"/>
                <a:ea typeface="Nobile" pitchFamily="34" charset="-122"/>
                <a:cs typeface="Nobile" pitchFamily="34" charset="-120"/>
              </a:rPr>
              <a:t>L'organisateur reçoit une notification que le match est plein.</a:t>
            </a:r>
            <a:endParaRPr lang="en-US" sz="1350" dirty="0"/>
          </a:p>
        </p:txBody>
      </p:sp>
      <p:sp>
        <p:nvSpPr>
          <p:cNvPr id="21" name="Shape 17"/>
          <p:cNvSpPr/>
          <p:nvPr/>
        </p:nvSpPr>
        <p:spPr>
          <a:xfrm>
            <a:off x="9636323" y="2689027"/>
            <a:ext cx="4290536" cy="4016812"/>
          </a:xfrm>
          <a:prstGeom prst="roundRect">
            <a:avLst>
              <a:gd name="adj" fmla="val 2732"/>
            </a:avLst>
          </a:prstGeom>
          <a:solidFill>
            <a:srgbClr val="FAFFFA"/>
          </a:solidFill>
          <a:ln/>
        </p:spPr>
      </p:sp>
      <p:sp>
        <p:nvSpPr>
          <p:cNvPr id="22" name="Shape 18"/>
          <p:cNvSpPr/>
          <p:nvPr/>
        </p:nvSpPr>
        <p:spPr>
          <a:xfrm>
            <a:off x="9636323" y="2666167"/>
            <a:ext cx="4290536" cy="91440"/>
          </a:xfrm>
          <a:prstGeom prst="roundRect">
            <a:avLst>
              <a:gd name="adj" fmla="val 173143"/>
            </a:avLst>
          </a:prstGeom>
          <a:solidFill>
            <a:srgbClr val="438951"/>
          </a:solidFill>
          <a:ln/>
        </p:spPr>
      </p:sp>
      <p:sp>
        <p:nvSpPr>
          <p:cNvPr id="23" name="Shape 19"/>
          <p:cNvSpPr/>
          <p:nvPr/>
        </p:nvSpPr>
        <p:spPr>
          <a:xfrm>
            <a:off x="11517749" y="2425184"/>
            <a:ext cx="527685" cy="527685"/>
          </a:xfrm>
          <a:prstGeom prst="roundRect">
            <a:avLst>
              <a:gd name="adj" fmla="val 173285"/>
            </a:avLst>
          </a:prstGeom>
          <a:solidFill>
            <a:srgbClr val="438951"/>
          </a:solidFill>
          <a:ln/>
        </p:spPr>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76102" y="2583537"/>
            <a:ext cx="210979" cy="210979"/>
          </a:xfrm>
          <a:prstGeom prst="rect">
            <a:avLst/>
          </a:prstGeom>
        </p:spPr>
      </p:pic>
      <p:sp>
        <p:nvSpPr>
          <p:cNvPr id="25" name="Text 20"/>
          <p:cNvSpPr/>
          <p:nvPr/>
        </p:nvSpPr>
        <p:spPr>
          <a:xfrm>
            <a:off x="9835039" y="3128724"/>
            <a:ext cx="3893106" cy="549593"/>
          </a:xfrm>
          <a:prstGeom prst="rect">
            <a:avLst/>
          </a:prstGeom>
          <a:noFill/>
          <a:ln/>
        </p:spPr>
        <p:txBody>
          <a:bodyPr wrap="square" lIns="0" tIns="0" rIns="0" bIns="0" rtlCol="0" anchor="t"/>
          <a:lstStyle/>
          <a:p>
            <a:pPr algn="l" indent="0" marL="0">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Conséquences d'un Joueur Exclu (KICKED)</a:t>
            </a:r>
            <a:endParaRPr lang="en-US" sz="1700" dirty="0"/>
          </a:p>
        </p:txBody>
      </p:sp>
      <p:sp>
        <p:nvSpPr>
          <p:cNvPr id="26" name="Text 21"/>
          <p:cNvSpPr/>
          <p:nvPr/>
        </p:nvSpPr>
        <p:spPr>
          <a:xfrm>
            <a:off x="9835039" y="3783806"/>
            <a:ext cx="3893106" cy="866894"/>
          </a:xfrm>
          <a:prstGeom prst="rect">
            <a:avLst/>
          </a:prstGeom>
          <a:noFill/>
          <a:ln/>
        </p:spPr>
        <p:txBody>
          <a:bodyPr wrap="square" lIns="0" tIns="0" rIns="0" bIns="0" rtlCol="0" anchor="t"/>
          <a:lstStyle/>
          <a:p>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Un joueur ayant le statut </a:t>
            </a:r>
            <a:pPr algn="l" indent="0" marL="0">
              <a:lnSpc>
                <a:spcPts val="2200"/>
              </a:lnSpc>
              <a:buNone/>
            </a:pPr>
            <a:r>
              <a:rPr lang="en-US" sz="1350" dirty="0">
                <a:solidFill>
                  <a:srgbClr val="405449"/>
                </a:solidFill>
                <a:highlight>
                  <a:srgbClr val="EDF2ED"/>
                </a:highlight>
                <a:latin typeface="Consolas" pitchFamily="34" charset="0"/>
                <a:ea typeface="Consolas" pitchFamily="34" charset="-122"/>
                <a:cs typeface="Consolas" pitchFamily="34" charset="-120"/>
              </a:rPr>
              <a:t>KICKED</a:t>
            </a:r>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 pour un match spécifique est soumis à des restrictions:</a:t>
            </a:r>
            <a:endParaRPr lang="en-US" sz="1350" dirty="0"/>
          </a:p>
        </p:txBody>
      </p:sp>
      <p:sp>
        <p:nvSpPr>
          <p:cNvPr id="27" name="Text 22"/>
          <p:cNvSpPr/>
          <p:nvPr/>
        </p:nvSpPr>
        <p:spPr>
          <a:xfrm>
            <a:off x="9835039" y="4756190"/>
            <a:ext cx="3893106" cy="844034"/>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405449"/>
                </a:solidFill>
                <a:latin typeface="Nobile" pitchFamily="34" charset="0"/>
                <a:ea typeface="Nobile" pitchFamily="34" charset="-122"/>
                <a:cs typeface="Nobile" pitchFamily="34" charset="-120"/>
              </a:rPr>
              <a:t>Interdiction de Chat:</a:t>
            </a:r>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 Il perd l'accès au chat du match et ne peut plus envoyer ni recevoir de messages.</a:t>
            </a:r>
            <a:endParaRPr lang="en-US" sz="1350" dirty="0"/>
          </a:p>
        </p:txBody>
      </p:sp>
      <p:sp>
        <p:nvSpPr>
          <p:cNvPr id="28" name="Text 23"/>
          <p:cNvSpPr/>
          <p:nvPr/>
        </p:nvSpPr>
        <p:spPr>
          <a:xfrm>
            <a:off x="9835039" y="5661779"/>
            <a:ext cx="3893106" cy="844034"/>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405449"/>
                </a:solidFill>
                <a:latin typeface="Nobile" pitchFamily="34" charset="0"/>
                <a:ea typeface="Nobile" pitchFamily="34" charset="-122"/>
                <a:cs typeface="Nobile" pitchFamily="34" charset="-120"/>
              </a:rPr>
              <a:t>Interdiction de Réinscription:</a:t>
            </a:r>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 Il ne peut plus envoyer de nouvelle demande pour rejoindre le même match.</a:t>
            </a:r>
            <a:endParaRPr lang="en-US" sz="1350" dirty="0"/>
          </a:p>
        </p:txBody>
      </p:sp>
      <p:sp>
        <p:nvSpPr>
          <p:cNvPr id="29" name="Text 24"/>
          <p:cNvSpPr/>
          <p:nvPr/>
        </p:nvSpPr>
        <p:spPr>
          <a:xfrm>
            <a:off x="703540" y="6903720"/>
            <a:ext cx="13223319" cy="562689"/>
          </a:xfrm>
          <a:prstGeom prst="rect">
            <a:avLst/>
          </a:prstGeom>
          <a:noFill/>
          <a:ln/>
        </p:spPr>
        <p:txBody>
          <a:bodyPr wrap="square" lIns="0" tIns="0" rIns="0" bIns="0" rtlCol="0" anchor="t"/>
          <a:lstStyle/>
          <a:p>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Ces règles garantissent que l'organisateur a un contrôle complet sur la composition de son équipe et que les communications restent pertinentes pour les participants actifs.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2025-12-26T10:29:53Z</dcterms:created>
  <dcterms:modified xsi:type="dcterms:W3CDTF">2025-12-26T10:29:53Z</dcterms:modified>
</cp:coreProperties>
</file>